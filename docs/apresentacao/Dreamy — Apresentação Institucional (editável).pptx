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embeddedFontLst>
    <p:embeddedFont>
      <p:font typeface="Instrument Sans Medium" pitchFamily="2" charset="0"/>
      <p:regular r:id="rId15"/>
    </p:embeddedFont>
    <p:embeddedFont>
      <p:font typeface="Urbanist" panose="020B0A04040200000203" pitchFamily="34" charset="0"/>
      <p:bold r:id="rId16"/>
    </p:embeddedFont>
  </p:embeddedFontLst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ED2B35-3B30-481E-90CB-AEC01FDA4513}" type="datetimeFigureOut">
              <a:rPr lang="pt-BR" smtClean="0"/>
              <a:t>19/08/2026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38F200-F25E-4279-B90D-7528218E0D0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19867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Objetivo: quebrar o gelo e fazer a promessa da conversa. ≈ 40s
Obrigado pelo tempo de vocês. Eu sou [seu nome], da Dreamy.
Antes de qualquer slide bonito, uma promessa: nos próximos dez minutos eu não vou falar de tecnologia pela tecnologia. Eu vou falar do negócio de vocês — de onde ele trava hoje e de onde ele pode ganhar mais.
A Dreamy constrói software sob medida e agentes de IA. Mas o nosso ponto de partida é sempre o mesmo, e está aí embaixo no slide: começamos pelo problema. A tecnologia vem depois.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38F200-F25E-4279-B90D-7528218E0D07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423859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Objetivo: gerar identificação — a plateia precisa se reconhecer na cena. ≈ 60s
Deixa eu descrever uma empresa, e você me diz se soa familiar.
A empresa cresce. Os processos vão ficando cada vez mais específicos. Os sistemas param de conversar entre si. Alguma planilha — geralmente uma que só uma pessoa entende — passa a sustentar decisões importantes. E lá no comercial, leads esfriam sem ninguém perceber.
[pausa — deixe a cena assentar]
Nada disso é falta de competência. É que a empresa cresceu mais rápido do que a tecnologia dela. E software pronto, de prateleira, não foi feito para o SEU processo — foi feito para a média.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38F200-F25E-4279-B90D-7528218E0D07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1876173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Objetivo: a virada. Slide quase vazio de propósito — a força está na pausa. ≈ 15s
E é exatamente nesse ponto que a gente entra.
[pausa longa — não corra este slide]
Quando o software pronto acaba e o seu problema continua — esse é o nosso território.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38F200-F25E-4279-B90D-7528218E0D07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5388622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Objetivo: remover a maior objeção ('não sei o que pedir') e mostrar honestidade. ≈ 50s
Uma coisa importante: você não precisa chegar para a gente sabendo o que construir.
Nenhum cliente nosso chegou com uma especificação técnica. Eles chegam com uma dor: "isso aqui demora demais", "estou desperdiçando oportunidade comercial", "não consigo enxergar a minha operação".
O nosso trabalho começa aí — nessa régua do slide: entender a dor, medir o impacto, achar a oportunidade, desenhar a solução, e só então escolher a tecnologia. E às vezes a resposta honesta do diagnóstico é: não vale a pena construir nada. Essa honestidade faz parte do serviço — ninguém aqui quer vender software que não devolve resultado.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38F200-F25E-4279-B90D-7528218E0D07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3376660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Objetivo: dar o mapa da conversa e convidar a interrupção (engajamento). ≈ 40s
Na prática, o que a gente constrói se organiza em três frentes.
Um: receita nova — transformar o que a empresa já tem em um produto digital que os clientes dela pagariam para usar. Dois: operação — sistemas construídos em volta do seu processo, e não o contrário. Três: agentes de IA — colocar a IA para executar trabalho de verdade dentro da empresa.
Vou passar rápido pelas três. E pode me interromper na hora em que alguma fizer clique com algo que vocês vivem aí dentro — essa é a parte boa da conversa.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38F200-F25E-4279-B90D-7528218E0D07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2701874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Objetivo: plantar a pergunta que fica na cabeça depois da reunião. ≈ 60s
Primeira frente.
A sua empresa já conquistou o mais difícil: clientes, confiança, conhecimento, distribuição. Isso levou anos. A pergunta que a gente faz é: o que MAIS essas pessoas comprariam de você?
Pode ser um portal, uma assinatura, uma ferramenta que resolve uma dor do seu cliente. Cada produto nasce da base que já existe — por isso esse gráfico é conceitual, sem números: os números vêm do diagnóstico, do SEU caso, não de uma promessa genérica minha.
Mas leva essa pergunta para casa: se uma parte dos seus clientes pagasse por um novo produto digital seu... o que valeria a pena construir?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38F200-F25E-4279-B90D-7528218E0D07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974019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Objetivo: inverter a lógica 'empresa se adapta ao software' e reforçar a parceria. ≈ 50s
Segunda frente.
Hoje, a informação da sua operação mora em lugares demais — está aí no slide: planilha, ERP, e-mail, documento... e na cabeça de gente boa. Software genérico obriga a SUA empresa a se adaptar a ELE. A gente inverte isso: constrói o sistema em volta do seu processo.
O resultado é um lugar só, com a informação consolidada — e decisão com visibilidade, não no feeling.
E vale repetir: você não precisa trazer a solução pronta. Você conhece o seu negócio; nós conhecemos tecnologia. O desenho a gente faz junto.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38F200-F25E-4279-B90D-7528218E0D07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5842259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Objetivo: desfazer o mal-entendido 'agente = chatbot' e tranquilizar sobre controle. ≈ 50s
Terceira frente — e aqui eu preciso desfazer um mal-entendido.
Agente de IA não é chatbot. É software que executa etapas de um processo: interpreta informação, acessa as ferramentas que VOCÊ autorizar — CRM, ERP, WhatsApp, e-mail, documentos — e faz o trabalho.
Com escopo definido, com regras, com permissões. E quando o assunto precisa de gente, ele passa para gente — está aí na saída de baixo do diagrama.
Autonomia com controle. Sempre nessa ordem.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38F200-F25E-4279-B90D-7528218E0D07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6843314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Objetivo: tornar concreto — três cenas do dia a dia que a plateia reconhece. ≈ 50s
Três lugares onde isso fica concreto.
No atendimento: o agente responde, consulta as informações, registra tudo no CRM — e chama um humano quando a conversa pede um humano.
Em vendas: ele pesquisa o lead, qualifica, prepara o follow-up — o vendedor chega na conversa pronto, em vez de gastar a manhã pesquisando.
Na operação: ele lê sistemas e documentos, consolida, analisa e age.
Repara no padrão das três colunas: o agente fica com o trabalho repetitivo; as pessoas ficam com o que exige gente.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38F200-F25E-4279-B90D-7528218E0D07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036639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Objetivo: reduzir o risco percebido — processo claro, ciclos curtos, sem sumiço. ≈ 45s
E como é trabalhar com a gente? Cinco passos, sem mistério.
Entender: a gente senta junto e mapeia problema, impacto e contexto. Desenhar: solução, experiência, arquitetura. Construir: em ciclos curtos — você vê o software crescendo e valida no caminho; a gente não some seis meses para voltar com uma surpresa. Implantar: na operação real, com quem usa de verdade. E evoluir: porque software bom não termina — acompanha o negócio.
Em cada ciclo você sabe o que está sendo feito, por quê, e o que vem depois.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38F200-F25E-4279-B90D-7528218E0D07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8261098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Objetivo: qualificar com franqueza — quem tem fit se reconhece e se inclina. ≈ 40s
Sendo bem direto sobre para quem isso funciona: o nosso trabalho rende mais em empresa que já funciona.
Que já tem operação, clientes, time — e sente que a tecnologia virou o freio, e não o motor.
Se, enquanto eu falava, você lembrou de um processo que não escala, de sistemas que não conversam, de dados espalhados por aí... provavelmente existe algo que a gente pode construir juntos.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38F200-F25E-4279-B90D-7528218E0D07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452861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Objetivo: uma única pergunta + próximo passo simples. Termine e deixe a plateia falar. ≈ 40s
Então eu fecho com a única pergunta que importa hoje:
qual problema da SUA empresa valeria a pena resolver agora?
[pausa — deixe alguém responder; se ninguém responder, chame pelo nome quem demonstrou mais interesse]
Não precisa ser a resposta perfeita. Me conta o contexto, e a gente avalia junto se existe uma solução com impacto de verdade — inclusive se a resposta for "ainda não".
O próximo passo é simples: uma conversa. O WhatsApp está aí no slide. E como diz o nosso site: sem apresentação genérica — na próxima conversa, o assunto é o seu negócio.
Obrigado!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38F200-F25E-4279-B90D-7528218E0D07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971801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989FE1D-83B3-23F4-6086-DCD31C9A33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6EB34919-F056-AE1A-BB29-03969DE9C0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80575D1-02DF-1C1C-4DE5-3A367D9EEB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940624-BB9A-4F64-9034-800251E0A6B4}" type="datetimeFigureOut">
              <a:rPr lang="pt-BR" smtClean="0"/>
              <a:t>19/08/2026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3DB4C65-40B3-E8B6-1A0D-BBD1E6684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CB9DD6F-181B-E81D-36B1-F92138CA7A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4E298-800F-430B-B75D-DE368AAA8D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14844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64177F4-4662-0D70-A544-FDE8E5F72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05BA256-2EC9-1887-D35E-9F059732EB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807CEF5-85F0-8E8F-A908-274CA2B326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940624-BB9A-4F64-9034-800251E0A6B4}" type="datetimeFigureOut">
              <a:rPr lang="pt-BR" smtClean="0"/>
              <a:t>19/08/2026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C3668FE-E658-BA8C-A6DF-C2073E8B66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DF3A636-2CC0-CF64-72BF-5CC7CFD5D3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4E298-800F-430B-B75D-DE368AAA8D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378464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E100BFF-FD8A-83A0-1DE8-E2195E4A3B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2E04FDDF-F2E1-F2E2-7230-55B1A13698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5A5545D-C20B-1B91-15DC-297CC02311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940624-BB9A-4F64-9034-800251E0A6B4}" type="datetimeFigureOut">
              <a:rPr lang="pt-BR" smtClean="0"/>
              <a:t>19/08/2026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3FE2C6E-8164-43FB-59FF-EE3158417E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D012BC1-BBAA-EC2E-6C14-5CDE175A3B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4E298-800F-430B-B75D-DE368AAA8D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362951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551D1B2-39A3-BC76-2D7C-6344813D6E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A6BF66A-C751-DD08-1354-D149B511290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7228F6E2-82BD-FB7F-8CFC-5E8A612644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C0BF5A4-9050-D9F4-A74A-78510D65B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940624-BB9A-4F64-9034-800251E0A6B4}" type="datetimeFigureOut">
              <a:rPr lang="pt-BR" smtClean="0"/>
              <a:t>19/08/2026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EB97833-639C-E0B4-0CD8-BB1F37E7F7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DC20E567-54AB-9ADE-87A5-A553BDC073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4E298-800F-430B-B75D-DE368AAA8D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338051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0E4C41B-EDBA-557C-2FE3-38B10A53EF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D1D5AAA-3FFF-0F48-45E3-E9BCED7428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4FD81949-DED9-D755-EBF3-97DEB44073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8AB0A417-1901-7FA3-1659-F6FACE297E7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0D02D08D-73BD-ACA5-2CAC-6E7B3E7C0AC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BD806257-070E-1C73-EDD8-F77771C300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940624-BB9A-4F64-9034-800251E0A6B4}" type="datetimeFigureOut">
              <a:rPr lang="pt-BR" smtClean="0"/>
              <a:t>19/08/2026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F80BDA73-0129-5F94-FCD3-BC00AC3FCB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716ED4D9-82BC-1FDB-8C75-776B8894B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4E298-800F-430B-B75D-DE368AAA8D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309993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0DC6364-6E06-93BE-A778-1344CABCF0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A5FDDD78-1945-A972-5B79-DD72D44ED4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940624-BB9A-4F64-9034-800251E0A6B4}" type="datetimeFigureOut">
              <a:rPr lang="pt-BR" smtClean="0"/>
              <a:t>19/08/2026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2247932A-A8C6-6DBA-D50A-E331B6514E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CB6A0A59-7415-2E79-FE73-7E46614A5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4E298-800F-430B-B75D-DE368AAA8D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842803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1EC549AE-23AF-D2CF-B919-D71FB753B0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940624-BB9A-4F64-9034-800251E0A6B4}" type="datetimeFigureOut">
              <a:rPr lang="pt-BR" smtClean="0"/>
              <a:t>19/08/2026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485872E2-63D8-7819-E8AB-3300301BBB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FB70FFF-BF16-71FE-756B-20A4A4E70A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4E298-800F-430B-B75D-DE368AAA8D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948419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4C777AF-1827-874E-C09C-F5496D1CF4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D3DF6F9-9D0F-1C3A-A614-3F52E0803D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543D7E05-6537-F70E-F096-E753B363C0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53897F4D-2151-7010-8802-A92BC1DAD9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940624-BB9A-4F64-9034-800251E0A6B4}" type="datetimeFigureOut">
              <a:rPr lang="pt-BR" smtClean="0"/>
              <a:t>19/08/2026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C0EBC63-CA06-7BA8-CEA1-5203E59CE0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D32B787E-549E-3ABD-4E20-D663571B79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4E298-800F-430B-B75D-DE368AAA8D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954281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0E73A7B-C5ED-510D-C299-F557C3E6E1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B322142A-0A3E-D464-D86A-EFE8280EDE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9A2BFA24-D545-286F-6C04-D10983849E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F10B05D1-57BF-FEEF-3A00-6BD9C3AF91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940624-BB9A-4F64-9034-800251E0A6B4}" type="datetimeFigureOut">
              <a:rPr lang="pt-BR" smtClean="0"/>
              <a:t>19/08/2026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7CE9C2B7-A934-9F3D-B445-B4658A15B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8A55B064-5553-A50A-839C-36069142E7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4E298-800F-430B-B75D-DE368AAA8D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595724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100233-974F-E806-323D-7DA725EF8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DEDEDB6F-C675-89B8-D75B-D68C6B64985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1EB8D41-9B77-D4DF-B918-46E6CB255A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940624-BB9A-4F64-9034-800251E0A6B4}" type="datetimeFigureOut">
              <a:rPr lang="pt-BR" smtClean="0"/>
              <a:t>19/08/2026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6B564C7-B6FD-0DF7-75ED-62D726579E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FC0CE0C-7EAB-43EB-F74D-56BEBD052F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4E298-800F-430B-B75D-DE368AAA8D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451032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A433B3EE-A270-7D88-BCDE-E78A48D6CA9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CD940E14-B070-8ED9-3849-87A265D3A0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354B295A-C0FE-1D66-6E3B-523736F59D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940624-BB9A-4F64-9034-800251E0A6B4}" type="datetimeFigureOut">
              <a:rPr lang="pt-BR" smtClean="0"/>
              <a:t>19/08/2026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21D9F4E-AC4A-DF16-AD6C-C11DCA6EB7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56FC253-8D1E-1EDB-1A73-33B2555E9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4E298-800F-430B-B75D-DE368AAA8D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330742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7AC38162-F2BB-2921-66ED-983C4B30F4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78661A34-8CDE-8CBD-1EB6-C7D859506E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C8035E6-BB6D-78B1-DE9A-FA53858410E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3940624-BB9A-4F64-9034-800251E0A6B4}" type="datetimeFigureOut">
              <a:rPr lang="pt-BR" smtClean="0"/>
              <a:t>19/08/2026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974CB51-DD9B-B7A3-51BF-13C611FA5CF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E26C2C7-459A-679D-D34E-26F00D14C8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F74E298-800F-430B-B75D-DE368AAA8D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445929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ipse 1">
            <a:extLst>
              <a:ext uri="{FF2B5EF4-FFF2-40B4-BE49-F238E27FC236}">
                <a16:creationId xmlns:a16="http://schemas.microsoft.com/office/drawing/2014/main" id="{A38A50E1-5AFE-DEA1-9163-2205868E1D33}"/>
              </a:ext>
            </a:extLst>
          </p:cNvPr>
          <p:cNvSpPr/>
          <p:nvPr/>
        </p:nvSpPr>
        <p:spPr>
          <a:xfrm>
            <a:off x="8089900" y="-1435100"/>
            <a:ext cx="5715000" cy="5715000"/>
          </a:xfrm>
          <a:prstGeom prst="ellipse">
            <a:avLst/>
          </a:prstGeom>
          <a:solidFill>
            <a:srgbClr val="46EB7E">
              <a:alpha val="5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" name="Elipse 2">
            <a:extLst>
              <a:ext uri="{FF2B5EF4-FFF2-40B4-BE49-F238E27FC236}">
                <a16:creationId xmlns:a16="http://schemas.microsoft.com/office/drawing/2014/main" id="{67FC2821-C4AB-7186-8E64-D406B5C40049}"/>
              </a:ext>
            </a:extLst>
          </p:cNvPr>
          <p:cNvSpPr/>
          <p:nvPr/>
        </p:nvSpPr>
        <p:spPr>
          <a:xfrm>
            <a:off x="8953500" y="-571500"/>
            <a:ext cx="3987800" cy="3987800"/>
          </a:xfrm>
          <a:prstGeom prst="ellipse">
            <a:avLst/>
          </a:prstGeom>
          <a:solidFill>
            <a:srgbClr val="46EB7E">
              <a:alpha val="6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" name="Elipse 3">
            <a:extLst>
              <a:ext uri="{FF2B5EF4-FFF2-40B4-BE49-F238E27FC236}">
                <a16:creationId xmlns:a16="http://schemas.microsoft.com/office/drawing/2014/main" id="{F23BCE36-B213-D219-1AEA-951917364E7C}"/>
              </a:ext>
            </a:extLst>
          </p:cNvPr>
          <p:cNvSpPr/>
          <p:nvPr/>
        </p:nvSpPr>
        <p:spPr>
          <a:xfrm>
            <a:off x="9804400" y="279400"/>
            <a:ext cx="2286000" cy="2286000"/>
          </a:xfrm>
          <a:prstGeom prst="ellipse">
            <a:avLst/>
          </a:prstGeom>
          <a:solidFill>
            <a:srgbClr val="46EB7E">
              <a:alpha val="7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A0643283-A238-BDED-175F-A8D2E8034F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800" y="533400"/>
            <a:ext cx="1082566" cy="304800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0180A169-ACD8-25F0-B92D-7992184DD03E}"/>
              </a:ext>
            </a:extLst>
          </p:cNvPr>
          <p:cNvSpPr txBox="1"/>
          <p:nvPr/>
        </p:nvSpPr>
        <p:spPr>
          <a:xfrm>
            <a:off x="685800" y="1778000"/>
            <a:ext cx="508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04000"/>
              </a:lnSpc>
            </a:pPr>
            <a:r>
              <a:rPr lang="pt-BR" sz="1000" spc="170">
                <a:solidFill>
                  <a:srgbClr val="46EB7E"/>
                </a:solidFill>
                <a:latin typeface="Instrument Sans Medium" pitchFamily="2" charset="0"/>
              </a:rPr>
              <a:t>SOFTWARE + INTELIGÊNCIA ARTIFICIAL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CC717307-14CF-CCF4-B806-4CBFAFDC7976}"/>
              </a:ext>
            </a:extLst>
          </p:cNvPr>
          <p:cNvSpPr txBox="1"/>
          <p:nvPr/>
        </p:nvSpPr>
        <p:spPr>
          <a:xfrm>
            <a:off x="685800" y="1905000"/>
            <a:ext cx="5969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90000"/>
              </a:lnSpc>
            </a:pPr>
            <a:r>
              <a:rPr lang="pt-BR" sz="5200" b="1" spc="-150">
                <a:solidFill>
                  <a:srgbClr val="FFFFFF"/>
                </a:solidFill>
                <a:latin typeface="Urbanist" panose="020B0A04040200000203" pitchFamily="34" charset="0"/>
              </a:rPr>
              <a:t>Tecnologia sob</a:t>
            </a:r>
            <a:br>
              <a:rPr lang="pt-BR" sz="5200" b="1" spc="-150">
                <a:solidFill>
                  <a:srgbClr val="FFFFFF"/>
                </a:solidFill>
                <a:latin typeface="Urbanist" panose="020B0A04040200000203" pitchFamily="34" charset="0"/>
              </a:rPr>
            </a:br>
            <a:r>
              <a:rPr lang="pt-BR" sz="5200" b="1" spc="-150">
                <a:solidFill>
                  <a:srgbClr val="FFFFFF"/>
                </a:solidFill>
                <a:latin typeface="Urbanist" panose="020B0A04040200000203" pitchFamily="34" charset="0"/>
              </a:rPr>
              <a:t>medida para</a:t>
            </a:r>
            <a:br>
              <a:rPr lang="pt-BR" sz="5200" b="1" spc="-150">
                <a:solidFill>
                  <a:srgbClr val="FFFFFF"/>
                </a:solidFill>
                <a:latin typeface="Urbanist" panose="020B0A04040200000203" pitchFamily="34" charset="0"/>
              </a:rPr>
            </a:br>
            <a:r>
              <a:rPr lang="pt-BR" sz="5200" b="1" spc="-150">
                <a:solidFill>
                  <a:srgbClr val="46EB7E"/>
                </a:solidFill>
                <a:latin typeface="Urbanist" panose="020B0A04040200000203" pitchFamily="34" charset="0"/>
              </a:rPr>
              <a:t>ganhar mais</a:t>
            </a:r>
            <a:r>
              <a:rPr lang="pt-BR" sz="5200" b="1" spc="-150">
                <a:solidFill>
                  <a:srgbClr val="FFFFFF"/>
                </a:solidFill>
                <a:latin typeface="Urbanist" panose="020B0A04040200000203" pitchFamily="34" charset="0"/>
              </a:rPr>
              <a:t> e</a:t>
            </a:r>
            <a:br>
              <a:rPr lang="pt-BR" sz="5200" b="1" spc="-150">
                <a:solidFill>
                  <a:srgbClr val="FFFFFF"/>
                </a:solidFill>
                <a:latin typeface="Urbanist" panose="020B0A04040200000203" pitchFamily="34" charset="0"/>
              </a:rPr>
            </a:br>
            <a:r>
              <a:rPr lang="pt-BR" sz="5200" b="1" spc="-150">
                <a:solidFill>
                  <a:srgbClr val="FFFFFF"/>
                </a:solidFill>
                <a:latin typeface="Urbanist" panose="020B0A04040200000203" pitchFamily="34" charset="0"/>
              </a:rPr>
              <a:t>operar melhor.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79C5D9D3-EC15-5D89-A94D-7E2A8CC74629}"/>
              </a:ext>
            </a:extLst>
          </p:cNvPr>
          <p:cNvSpPr txBox="1"/>
          <p:nvPr/>
        </p:nvSpPr>
        <p:spPr>
          <a:xfrm>
            <a:off x="685800" y="5435600"/>
            <a:ext cx="508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04000"/>
              </a:lnSpc>
            </a:pPr>
            <a:r>
              <a:rPr lang="pt-BR" sz="1200">
                <a:solidFill>
                  <a:srgbClr val="9BA1A6"/>
                </a:solidFill>
                <a:latin typeface="Instrument Sans Medium" pitchFamily="2" charset="0"/>
              </a:rPr>
              <a:t>Começamos pelo problema. A tecnologia vem depois.</a:t>
            </a:r>
          </a:p>
        </p:txBody>
      </p:sp>
      <p:grpSp>
        <p:nvGrpSpPr>
          <p:cNvPr id="27" name="Agrupar 26">
            <a:extLst>
              <a:ext uri="{FF2B5EF4-FFF2-40B4-BE49-F238E27FC236}">
                <a16:creationId xmlns:a16="http://schemas.microsoft.com/office/drawing/2014/main" id="{F5407A56-BB02-61DB-B3C6-9582B5187BF0}"/>
              </a:ext>
            </a:extLst>
          </p:cNvPr>
          <p:cNvGrpSpPr/>
          <p:nvPr/>
        </p:nvGrpSpPr>
        <p:grpSpPr>
          <a:xfrm>
            <a:off x="7087822" y="1257300"/>
            <a:ext cx="4175856" cy="4140200"/>
            <a:chOff x="7087822" y="1257300"/>
            <a:chExt cx="4175856" cy="4140200"/>
          </a:xfrm>
        </p:grpSpPr>
        <p:sp>
          <p:nvSpPr>
            <p:cNvPr id="10" name="Elipse 9">
              <a:extLst>
                <a:ext uri="{FF2B5EF4-FFF2-40B4-BE49-F238E27FC236}">
                  <a16:creationId xmlns:a16="http://schemas.microsoft.com/office/drawing/2014/main" id="{83F50A53-98AA-5E84-0EB1-28F21E7F36A3}"/>
                </a:ext>
              </a:extLst>
            </p:cNvPr>
            <p:cNvSpPr/>
            <p:nvPr/>
          </p:nvSpPr>
          <p:spPr>
            <a:xfrm>
              <a:off x="7302500" y="1422400"/>
              <a:ext cx="3810000" cy="3810000"/>
            </a:xfrm>
            <a:prstGeom prst="ellipse">
              <a:avLst/>
            </a:prstGeom>
            <a:noFill/>
            <a:ln w="19050" cap="flat" cmpd="sng" algn="ctr">
              <a:solidFill>
                <a:srgbClr val="FFFFFF">
                  <a:alpha val="20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Elipse 10">
              <a:extLst>
                <a:ext uri="{FF2B5EF4-FFF2-40B4-BE49-F238E27FC236}">
                  <a16:creationId xmlns:a16="http://schemas.microsoft.com/office/drawing/2014/main" id="{5F144777-17A2-BC29-075A-C357A9D1DDC3}"/>
                </a:ext>
              </a:extLst>
            </p:cNvPr>
            <p:cNvSpPr/>
            <p:nvPr/>
          </p:nvSpPr>
          <p:spPr>
            <a:xfrm>
              <a:off x="7785100" y="1905000"/>
              <a:ext cx="2844800" cy="2844800"/>
            </a:xfrm>
            <a:prstGeom prst="ellipse">
              <a:avLst/>
            </a:prstGeom>
            <a:solidFill>
              <a:srgbClr val="46EB7E">
                <a:alpha val="5000"/>
              </a:srgbClr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Elipse 11">
              <a:extLst>
                <a:ext uri="{FF2B5EF4-FFF2-40B4-BE49-F238E27FC236}">
                  <a16:creationId xmlns:a16="http://schemas.microsoft.com/office/drawing/2014/main" id="{535B4BAF-3284-C957-BF7D-F7CF05A41878}"/>
                </a:ext>
              </a:extLst>
            </p:cNvPr>
            <p:cNvSpPr/>
            <p:nvPr/>
          </p:nvSpPr>
          <p:spPr>
            <a:xfrm>
              <a:off x="8216900" y="2336800"/>
              <a:ext cx="1981200" cy="1981200"/>
            </a:xfrm>
            <a:prstGeom prst="ellipse">
              <a:avLst/>
            </a:prstGeom>
            <a:solidFill>
              <a:srgbClr val="46EB7E">
                <a:alpha val="7000"/>
              </a:srgbClr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3" name="Conector reto 12">
              <a:extLst>
                <a:ext uri="{FF2B5EF4-FFF2-40B4-BE49-F238E27FC236}">
                  <a16:creationId xmlns:a16="http://schemas.microsoft.com/office/drawing/2014/main" id="{B33713B0-1CE1-C180-C74E-CC3CAE916509}"/>
                </a:ext>
              </a:extLst>
            </p:cNvPr>
            <p:cNvCxnSpPr/>
            <p:nvPr/>
          </p:nvCxnSpPr>
          <p:spPr>
            <a:xfrm flipV="1">
              <a:off x="9207500" y="1422400"/>
              <a:ext cx="0" cy="1905000"/>
            </a:xfrm>
            <a:prstGeom prst="line">
              <a:avLst/>
            </a:prstGeom>
            <a:ln w="17780" cap="flat" cmpd="sng" algn="ctr">
              <a:solidFill>
                <a:srgbClr val="FFFFFF">
                  <a:alpha val="28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reto 13">
              <a:extLst>
                <a:ext uri="{FF2B5EF4-FFF2-40B4-BE49-F238E27FC236}">
                  <a16:creationId xmlns:a16="http://schemas.microsoft.com/office/drawing/2014/main" id="{1B058F43-6119-23D6-C59C-8FE81CEB0ADD}"/>
                </a:ext>
              </a:extLst>
            </p:cNvPr>
            <p:cNvCxnSpPr/>
            <p:nvPr/>
          </p:nvCxnSpPr>
          <p:spPr>
            <a:xfrm flipV="1">
              <a:off x="9207500" y="2374900"/>
              <a:ext cx="1649778" cy="952500"/>
            </a:xfrm>
            <a:prstGeom prst="line">
              <a:avLst/>
            </a:prstGeom>
            <a:ln w="17780" cap="flat" cmpd="sng" algn="ctr">
              <a:solidFill>
                <a:srgbClr val="FFFFFF">
                  <a:alpha val="28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ector reto 14">
              <a:extLst>
                <a:ext uri="{FF2B5EF4-FFF2-40B4-BE49-F238E27FC236}">
                  <a16:creationId xmlns:a16="http://schemas.microsoft.com/office/drawing/2014/main" id="{8C17E2C1-254E-56AE-8377-A13008C72BA9}"/>
                </a:ext>
              </a:extLst>
            </p:cNvPr>
            <p:cNvCxnSpPr/>
            <p:nvPr/>
          </p:nvCxnSpPr>
          <p:spPr>
            <a:xfrm>
              <a:off x="9207500" y="3327400"/>
              <a:ext cx="1649778" cy="952500"/>
            </a:xfrm>
            <a:prstGeom prst="line">
              <a:avLst/>
            </a:prstGeom>
            <a:ln w="17780" cap="flat" cmpd="sng" algn="ctr">
              <a:solidFill>
                <a:srgbClr val="FFFFFF">
                  <a:alpha val="28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ector reto 15">
              <a:extLst>
                <a:ext uri="{FF2B5EF4-FFF2-40B4-BE49-F238E27FC236}">
                  <a16:creationId xmlns:a16="http://schemas.microsoft.com/office/drawing/2014/main" id="{29129DCE-3850-8F2F-269C-5291442F4CEA}"/>
                </a:ext>
              </a:extLst>
            </p:cNvPr>
            <p:cNvCxnSpPr/>
            <p:nvPr/>
          </p:nvCxnSpPr>
          <p:spPr>
            <a:xfrm>
              <a:off x="9207500" y="3327400"/>
              <a:ext cx="0" cy="1905000"/>
            </a:xfrm>
            <a:prstGeom prst="line">
              <a:avLst/>
            </a:prstGeom>
            <a:ln w="17780" cap="flat" cmpd="sng" algn="ctr">
              <a:solidFill>
                <a:srgbClr val="FFFFFF">
                  <a:alpha val="28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reto 16">
              <a:extLst>
                <a:ext uri="{FF2B5EF4-FFF2-40B4-BE49-F238E27FC236}">
                  <a16:creationId xmlns:a16="http://schemas.microsoft.com/office/drawing/2014/main" id="{A5028673-1297-1730-E9F9-BC3226B0ACD9}"/>
                </a:ext>
              </a:extLst>
            </p:cNvPr>
            <p:cNvCxnSpPr/>
            <p:nvPr/>
          </p:nvCxnSpPr>
          <p:spPr>
            <a:xfrm flipH="1" flipV="1">
              <a:off x="7557722" y="2374900"/>
              <a:ext cx="1649778" cy="952500"/>
            </a:xfrm>
            <a:prstGeom prst="line">
              <a:avLst/>
            </a:prstGeom>
            <a:ln w="17780" cap="flat" cmpd="sng" algn="ctr">
              <a:solidFill>
                <a:srgbClr val="FFFFFF">
                  <a:alpha val="28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reto 17">
              <a:extLst>
                <a:ext uri="{FF2B5EF4-FFF2-40B4-BE49-F238E27FC236}">
                  <a16:creationId xmlns:a16="http://schemas.microsoft.com/office/drawing/2014/main" id="{034E00EA-5BEE-2176-703E-0F25583F63C5}"/>
                </a:ext>
              </a:extLst>
            </p:cNvPr>
            <p:cNvCxnSpPr/>
            <p:nvPr/>
          </p:nvCxnSpPr>
          <p:spPr>
            <a:xfrm flipH="1">
              <a:off x="7557722" y="3327400"/>
              <a:ext cx="1649778" cy="952500"/>
            </a:xfrm>
            <a:prstGeom prst="line">
              <a:avLst/>
            </a:prstGeom>
            <a:ln w="17780" cap="flat" cmpd="sng" algn="ctr">
              <a:solidFill>
                <a:srgbClr val="FFFFFF">
                  <a:alpha val="28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Retângulo: Cantos Arredondados 18">
              <a:extLst>
                <a:ext uri="{FF2B5EF4-FFF2-40B4-BE49-F238E27FC236}">
                  <a16:creationId xmlns:a16="http://schemas.microsoft.com/office/drawing/2014/main" id="{602AE290-438D-68C9-3ECC-561DCB1B89A9}"/>
                </a:ext>
              </a:extLst>
            </p:cNvPr>
            <p:cNvSpPr/>
            <p:nvPr/>
          </p:nvSpPr>
          <p:spPr>
            <a:xfrm>
              <a:off x="8737600" y="1257300"/>
              <a:ext cx="939800" cy="330200"/>
            </a:xfrm>
            <a:prstGeom prst="roundRect">
              <a:avLst>
                <a:gd name="adj" fmla="val 50000"/>
              </a:avLst>
            </a:prstGeom>
            <a:solidFill>
              <a:srgbClr val="131316"/>
            </a:solidFill>
            <a:ln w="12700" cap="flat" cmpd="sng" algn="ctr">
              <a:solidFill>
                <a:srgbClr val="FFFFFF">
                  <a:alpha val="22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50800" tIns="0" rIns="50800" bIns="0" rtlCol="0" anchor="ctr">
              <a:noAutofit/>
            </a:bodyPr>
            <a:lstStyle/>
            <a:p>
              <a:pPr algn="ctr"/>
              <a:r>
                <a:rPr lang="pt-BR" sz="1000">
                  <a:solidFill>
                    <a:srgbClr val="E8EAEC"/>
                  </a:solidFill>
                  <a:latin typeface="Instrument Sans Medium" pitchFamily="2" charset="0"/>
                </a:rPr>
                <a:t>Clientes</a:t>
              </a:r>
            </a:p>
          </p:txBody>
        </p:sp>
        <p:sp>
          <p:nvSpPr>
            <p:cNvPr id="20" name="Retângulo: Cantos Arredondados 19">
              <a:extLst>
                <a:ext uri="{FF2B5EF4-FFF2-40B4-BE49-F238E27FC236}">
                  <a16:creationId xmlns:a16="http://schemas.microsoft.com/office/drawing/2014/main" id="{00457524-7D44-CB19-A2FF-C5679E71306F}"/>
                </a:ext>
              </a:extLst>
            </p:cNvPr>
            <p:cNvSpPr/>
            <p:nvPr/>
          </p:nvSpPr>
          <p:spPr>
            <a:xfrm>
              <a:off x="10450878" y="2209800"/>
              <a:ext cx="812800" cy="330200"/>
            </a:xfrm>
            <a:prstGeom prst="roundRect">
              <a:avLst>
                <a:gd name="adj" fmla="val 50000"/>
              </a:avLst>
            </a:prstGeom>
            <a:solidFill>
              <a:srgbClr val="131316"/>
            </a:solidFill>
            <a:ln w="12700" cap="flat" cmpd="sng" algn="ctr">
              <a:solidFill>
                <a:srgbClr val="FFFFFF">
                  <a:alpha val="22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50800" tIns="0" rIns="50800" bIns="0" rtlCol="0" anchor="ctr">
              <a:noAutofit/>
            </a:bodyPr>
            <a:lstStyle/>
            <a:p>
              <a:pPr algn="ctr"/>
              <a:r>
                <a:rPr lang="pt-BR" sz="1000">
                  <a:solidFill>
                    <a:srgbClr val="E8EAEC"/>
                  </a:solidFill>
                  <a:latin typeface="Instrument Sans Medium" pitchFamily="2" charset="0"/>
                </a:rPr>
                <a:t>Dados</a:t>
              </a:r>
            </a:p>
          </p:txBody>
        </p:sp>
        <p:sp>
          <p:nvSpPr>
            <p:cNvPr id="21" name="Retângulo: Cantos Arredondados 20">
              <a:extLst>
                <a:ext uri="{FF2B5EF4-FFF2-40B4-BE49-F238E27FC236}">
                  <a16:creationId xmlns:a16="http://schemas.microsoft.com/office/drawing/2014/main" id="{7B15523A-1792-BE66-2928-4869A855DDAA}"/>
                </a:ext>
              </a:extLst>
            </p:cNvPr>
            <p:cNvSpPr/>
            <p:nvPr/>
          </p:nvSpPr>
          <p:spPr>
            <a:xfrm>
              <a:off x="10450878" y="4114800"/>
              <a:ext cx="812800" cy="330200"/>
            </a:xfrm>
            <a:prstGeom prst="roundRect">
              <a:avLst>
                <a:gd name="adj" fmla="val 50000"/>
              </a:avLst>
            </a:prstGeom>
            <a:solidFill>
              <a:srgbClr val="46EB7E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50800" tIns="0" rIns="50800" bIns="0" rtlCol="0" anchor="ctr"/>
            <a:lstStyle/>
            <a:p>
              <a:pPr algn="ctr"/>
              <a:r>
                <a:rPr lang="pt-BR" sz="1000">
                  <a:solidFill>
                    <a:srgbClr val="0B0B0C"/>
                  </a:solidFill>
                  <a:latin typeface="Instrument Sans Medium" pitchFamily="2" charset="0"/>
                </a:rPr>
                <a:t>IA</a:t>
              </a:r>
            </a:p>
          </p:txBody>
        </p:sp>
        <p:sp>
          <p:nvSpPr>
            <p:cNvPr id="22" name="Retângulo: Cantos Arredondados 21">
              <a:extLst>
                <a:ext uri="{FF2B5EF4-FFF2-40B4-BE49-F238E27FC236}">
                  <a16:creationId xmlns:a16="http://schemas.microsoft.com/office/drawing/2014/main" id="{95CFE9DC-103F-9459-E619-B7881AC792C8}"/>
                </a:ext>
              </a:extLst>
            </p:cNvPr>
            <p:cNvSpPr/>
            <p:nvPr/>
          </p:nvSpPr>
          <p:spPr>
            <a:xfrm>
              <a:off x="8737600" y="5067300"/>
              <a:ext cx="939800" cy="330200"/>
            </a:xfrm>
            <a:prstGeom prst="roundRect">
              <a:avLst>
                <a:gd name="adj" fmla="val 50000"/>
              </a:avLst>
            </a:prstGeom>
            <a:solidFill>
              <a:srgbClr val="131316"/>
            </a:solidFill>
            <a:ln w="12700" cap="flat" cmpd="sng" algn="ctr">
              <a:solidFill>
                <a:srgbClr val="FFFFFF">
                  <a:alpha val="22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50800" tIns="0" rIns="50800" bIns="0" rtlCol="0" anchor="ctr">
              <a:noAutofit/>
            </a:bodyPr>
            <a:lstStyle/>
            <a:p>
              <a:pPr algn="ctr"/>
              <a:r>
                <a:rPr lang="pt-BR" sz="1000">
                  <a:solidFill>
                    <a:srgbClr val="E8EAEC"/>
                  </a:solidFill>
                  <a:latin typeface="Instrument Sans Medium" pitchFamily="2" charset="0"/>
                </a:rPr>
                <a:t>Operação</a:t>
              </a:r>
            </a:p>
          </p:txBody>
        </p:sp>
        <p:sp>
          <p:nvSpPr>
            <p:cNvPr id="23" name="Retângulo: Cantos Arredondados 22">
              <a:extLst>
                <a:ext uri="{FF2B5EF4-FFF2-40B4-BE49-F238E27FC236}">
                  <a16:creationId xmlns:a16="http://schemas.microsoft.com/office/drawing/2014/main" id="{0EB4417F-0BE3-6EC6-8C3F-72C1084B4476}"/>
                </a:ext>
              </a:extLst>
            </p:cNvPr>
            <p:cNvSpPr/>
            <p:nvPr/>
          </p:nvSpPr>
          <p:spPr>
            <a:xfrm>
              <a:off x="7087822" y="2209800"/>
              <a:ext cx="939800" cy="330200"/>
            </a:xfrm>
            <a:prstGeom prst="roundRect">
              <a:avLst>
                <a:gd name="adj" fmla="val 50000"/>
              </a:avLst>
            </a:prstGeom>
            <a:solidFill>
              <a:srgbClr val="46EB7E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50800" tIns="0" rIns="50800" bIns="0" rtlCol="0" anchor="ctr"/>
            <a:lstStyle/>
            <a:p>
              <a:pPr algn="ctr"/>
              <a:r>
                <a:rPr lang="pt-BR" sz="1000">
                  <a:solidFill>
                    <a:srgbClr val="0B0B0C"/>
                  </a:solidFill>
                  <a:latin typeface="Instrument Sans Medium" pitchFamily="2" charset="0"/>
                </a:rPr>
                <a:t>Receita</a:t>
              </a:r>
            </a:p>
          </p:txBody>
        </p:sp>
        <p:sp>
          <p:nvSpPr>
            <p:cNvPr id="24" name="Retângulo: Cantos Arredondados 23">
              <a:extLst>
                <a:ext uri="{FF2B5EF4-FFF2-40B4-BE49-F238E27FC236}">
                  <a16:creationId xmlns:a16="http://schemas.microsoft.com/office/drawing/2014/main" id="{D1F1CDF0-EADA-A97E-6F93-85F1CE7B10BC}"/>
                </a:ext>
              </a:extLst>
            </p:cNvPr>
            <p:cNvSpPr/>
            <p:nvPr/>
          </p:nvSpPr>
          <p:spPr>
            <a:xfrm>
              <a:off x="7087822" y="4114800"/>
              <a:ext cx="939800" cy="330200"/>
            </a:xfrm>
            <a:prstGeom prst="roundRect">
              <a:avLst>
                <a:gd name="adj" fmla="val 50000"/>
              </a:avLst>
            </a:prstGeom>
            <a:solidFill>
              <a:srgbClr val="131316"/>
            </a:solidFill>
            <a:ln w="12700" cap="flat" cmpd="sng" algn="ctr">
              <a:solidFill>
                <a:srgbClr val="FFFFFF">
                  <a:alpha val="22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50800" tIns="0" rIns="50800" bIns="0" rtlCol="0" anchor="ctr">
              <a:noAutofit/>
            </a:bodyPr>
            <a:lstStyle/>
            <a:p>
              <a:pPr algn="ctr"/>
              <a:r>
                <a:rPr lang="pt-BR" sz="1000">
                  <a:solidFill>
                    <a:srgbClr val="E8EAEC"/>
                  </a:solidFill>
                  <a:latin typeface="Instrument Sans Medium" pitchFamily="2" charset="0"/>
                </a:rPr>
                <a:t>Sistemas</a:t>
              </a:r>
            </a:p>
          </p:txBody>
        </p:sp>
        <p:sp>
          <p:nvSpPr>
            <p:cNvPr id="25" name="Elipse 24">
              <a:extLst>
                <a:ext uri="{FF2B5EF4-FFF2-40B4-BE49-F238E27FC236}">
                  <a16:creationId xmlns:a16="http://schemas.microsoft.com/office/drawing/2014/main" id="{283F910A-19DD-58AC-89DE-0AECF2B5B7C4}"/>
                </a:ext>
              </a:extLst>
            </p:cNvPr>
            <p:cNvSpPr/>
            <p:nvPr/>
          </p:nvSpPr>
          <p:spPr>
            <a:xfrm>
              <a:off x="8572500" y="2692400"/>
              <a:ext cx="1270000" cy="1270000"/>
            </a:xfrm>
            <a:prstGeom prst="ellipse">
              <a:avLst/>
            </a:prstGeom>
            <a:solidFill>
              <a:srgbClr val="0B0B0C"/>
            </a:solidFill>
            <a:ln w="19050" cap="flat" cmpd="sng" algn="ctr">
              <a:solidFill>
                <a:srgbClr val="46EB7E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" name="CaixaDeTexto 25">
              <a:extLst>
                <a:ext uri="{FF2B5EF4-FFF2-40B4-BE49-F238E27FC236}">
                  <a16:creationId xmlns:a16="http://schemas.microsoft.com/office/drawing/2014/main" id="{731C798A-0AF5-DE00-896F-0C8CBE3F86C6}"/>
                </a:ext>
              </a:extLst>
            </p:cNvPr>
            <p:cNvSpPr txBox="1"/>
            <p:nvPr/>
          </p:nvSpPr>
          <p:spPr>
            <a:xfrm>
              <a:off x="8699500" y="3149600"/>
              <a:ext cx="1016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lang="pt-BR" sz="1050">
                  <a:solidFill>
                    <a:srgbClr val="FFFFFF"/>
                  </a:solidFill>
                  <a:latin typeface="Instrument Sans Medium" pitchFamily="2" charset="0"/>
                </a:rPr>
                <a:t>Sua
empresa</a:t>
              </a:r>
            </a:p>
          </p:txBody>
        </p:sp>
      </p:grpSp>
      <p:cxnSp>
        <p:nvCxnSpPr>
          <p:cNvPr id="28" name="Conector reto 27">
            <a:extLst>
              <a:ext uri="{FF2B5EF4-FFF2-40B4-BE49-F238E27FC236}">
                <a16:creationId xmlns:a16="http://schemas.microsoft.com/office/drawing/2014/main" id="{6C5D9B24-1F00-9C32-7695-70CEB2C0F091}"/>
              </a:ext>
            </a:extLst>
          </p:cNvPr>
          <p:cNvCxnSpPr/>
          <p:nvPr/>
        </p:nvCxnSpPr>
        <p:spPr>
          <a:xfrm>
            <a:off x="685800" y="6578600"/>
            <a:ext cx="10147300" cy="0"/>
          </a:xfrm>
          <a:prstGeom prst="line">
            <a:avLst/>
          </a:prstGeom>
          <a:ln w="19050" cap="flat" cmpd="sng" algn="ctr">
            <a:solidFill>
              <a:srgbClr val="FFFFFF">
                <a:alpha val="14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ector reto 28">
            <a:extLst>
              <a:ext uri="{FF2B5EF4-FFF2-40B4-BE49-F238E27FC236}">
                <a16:creationId xmlns:a16="http://schemas.microsoft.com/office/drawing/2014/main" id="{CC0CDF1D-709D-955E-29FE-39E676392F67}"/>
              </a:ext>
            </a:extLst>
          </p:cNvPr>
          <p:cNvCxnSpPr/>
          <p:nvPr/>
        </p:nvCxnSpPr>
        <p:spPr>
          <a:xfrm>
            <a:off x="685800" y="6578600"/>
            <a:ext cx="845608" cy="0"/>
          </a:xfrm>
          <a:prstGeom prst="line">
            <a:avLst/>
          </a:prstGeom>
          <a:ln w="19050" cap="flat" cmpd="sng" algn="ctr">
            <a:solidFill>
              <a:srgbClr val="46EB7E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Elipse 29">
            <a:extLst>
              <a:ext uri="{FF2B5EF4-FFF2-40B4-BE49-F238E27FC236}">
                <a16:creationId xmlns:a16="http://schemas.microsoft.com/office/drawing/2014/main" id="{4AC99B0D-4968-496A-42FB-D43440C5B8F3}"/>
              </a:ext>
            </a:extLst>
          </p:cNvPr>
          <p:cNvSpPr/>
          <p:nvPr/>
        </p:nvSpPr>
        <p:spPr>
          <a:xfrm>
            <a:off x="1480608" y="6527800"/>
            <a:ext cx="101600" cy="101600"/>
          </a:xfrm>
          <a:prstGeom prst="ellipse">
            <a:avLst/>
          </a:prstGeom>
          <a:solidFill>
            <a:srgbClr val="46EB7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1" name="CaixaDeTexto 30">
            <a:extLst>
              <a:ext uri="{FF2B5EF4-FFF2-40B4-BE49-F238E27FC236}">
                <a16:creationId xmlns:a16="http://schemas.microsoft.com/office/drawing/2014/main" id="{6BF40666-A6F5-996C-320F-D2D4DD995A5F}"/>
              </a:ext>
            </a:extLst>
          </p:cNvPr>
          <p:cNvSpPr txBox="1"/>
          <p:nvPr/>
        </p:nvSpPr>
        <p:spPr>
          <a:xfrm>
            <a:off x="10947400" y="6502400"/>
            <a:ext cx="558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lnSpc>
                <a:spcPct val="104000"/>
              </a:lnSpc>
            </a:pPr>
            <a:r>
              <a:rPr lang="pt-BR" sz="850" spc="80">
                <a:solidFill>
                  <a:srgbClr val="9BA1A6"/>
                </a:solidFill>
                <a:latin typeface="Instrument Sans Medium" pitchFamily="2" charset="0"/>
              </a:rPr>
              <a:t>01 / 12</a:t>
            </a:r>
          </a:p>
        </p:txBody>
      </p:sp>
    </p:spTree>
    <p:extLst>
      <p:ext uri="{BB962C8B-B14F-4D97-AF65-F5344CB8AC3E}">
        <p14:creationId xmlns:p14="http://schemas.microsoft.com/office/powerpoint/2010/main" val="117744352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/>
    </mc:Choice>
    <mc:Fallback>
      <p:transition spd="med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62065727-8D88-A766-FFC3-22DFC402A1F3}"/>
              </a:ext>
            </a:extLst>
          </p:cNvPr>
          <p:cNvSpPr txBox="1"/>
          <p:nvPr/>
        </p:nvSpPr>
        <p:spPr>
          <a:xfrm>
            <a:off x="685800" y="571500"/>
            <a:ext cx="508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04000"/>
              </a:lnSpc>
            </a:pPr>
            <a:r>
              <a:rPr lang="pt-BR" sz="1000" spc="170">
                <a:solidFill>
                  <a:srgbClr val="46EB7E"/>
                </a:solidFill>
                <a:latin typeface="Instrument Sans Medium" pitchFamily="2" charset="0"/>
              </a:rPr>
              <a:t>O PROBLEMA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8E6ABE6B-1D1D-DD0E-A98C-A940DF22D566}"/>
              </a:ext>
            </a:extLst>
          </p:cNvPr>
          <p:cNvSpPr txBox="1"/>
          <p:nvPr/>
        </p:nvSpPr>
        <p:spPr>
          <a:xfrm>
            <a:off x="685800" y="1968500"/>
            <a:ext cx="5969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90000"/>
              </a:lnSpc>
            </a:pPr>
            <a:r>
              <a:rPr lang="pt-BR" sz="4800" b="1" spc="-140">
                <a:solidFill>
                  <a:srgbClr val="FFFFFF"/>
                </a:solidFill>
                <a:latin typeface="Urbanist" panose="020B0A04040200000203" pitchFamily="34" charset="0"/>
              </a:rPr>
              <a:t>Nem todo problema da sua empresa cabe em um </a:t>
            </a:r>
            <a:r>
              <a:rPr lang="pt-BR" sz="4800" b="1" spc="-140">
                <a:solidFill>
                  <a:srgbClr val="9BA1A6"/>
                </a:solidFill>
                <a:latin typeface="Urbanist" panose="020B0A04040200000203" pitchFamily="34" charset="0"/>
              </a:rPr>
              <a:t>software pronto.</a:t>
            </a:r>
          </a:p>
        </p:txBody>
      </p:sp>
      <p:grpSp>
        <p:nvGrpSpPr>
          <p:cNvPr id="21" name="Agrupar 20">
            <a:extLst>
              <a:ext uri="{FF2B5EF4-FFF2-40B4-BE49-F238E27FC236}">
                <a16:creationId xmlns:a16="http://schemas.microsoft.com/office/drawing/2014/main" id="{AB643DEF-5054-DDDB-3BB3-94DE8EC99ACA}"/>
              </a:ext>
            </a:extLst>
          </p:cNvPr>
          <p:cNvGrpSpPr/>
          <p:nvPr/>
        </p:nvGrpSpPr>
        <p:grpSpPr>
          <a:xfrm>
            <a:off x="6616700" y="1682750"/>
            <a:ext cx="4660900" cy="3987800"/>
            <a:chOff x="6616700" y="1682750"/>
            <a:chExt cx="4660900" cy="3987800"/>
          </a:xfrm>
        </p:grpSpPr>
        <p:cxnSp>
          <p:nvCxnSpPr>
            <p:cNvPr id="4" name="Conector reto 3">
              <a:extLst>
                <a:ext uri="{FF2B5EF4-FFF2-40B4-BE49-F238E27FC236}">
                  <a16:creationId xmlns:a16="http://schemas.microsoft.com/office/drawing/2014/main" id="{B4BC2852-EC64-7877-89EE-1B69FD6372AF}"/>
                </a:ext>
              </a:extLst>
            </p:cNvPr>
            <p:cNvCxnSpPr/>
            <p:nvPr/>
          </p:nvCxnSpPr>
          <p:spPr>
            <a:xfrm>
              <a:off x="7823200" y="2565400"/>
              <a:ext cx="1714500" cy="876300"/>
            </a:xfrm>
            <a:prstGeom prst="line">
              <a:avLst/>
            </a:prstGeom>
            <a:ln w="13970" cap="flat" cmpd="sng" algn="ctr">
              <a:solidFill>
                <a:srgbClr val="FFFFFF">
                  <a:alpha val="14000"/>
                </a:srgbClr>
              </a:solidFill>
              <a:prstDash val="dash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Conector reto 4">
              <a:extLst>
                <a:ext uri="{FF2B5EF4-FFF2-40B4-BE49-F238E27FC236}">
                  <a16:creationId xmlns:a16="http://schemas.microsoft.com/office/drawing/2014/main" id="{3A624EFE-E615-9435-1B23-E974E7BEF245}"/>
                </a:ext>
              </a:extLst>
            </p:cNvPr>
            <p:cNvCxnSpPr/>
            <p:nvPr/>
          </p:nvCxnSpPr>
          <p:spPr>
            <a:xfrm flipH="1">
              <a:off x="8204200" y="3441700"/>
              <a:ext cx="1333500" cy="1143000"/>
            </a:xfrm>
            <a:prstGeom prst="line">
              <a:avLst/>
            </a:prstGeom>
            <a:ln w="13970" cap="flat" cmpd="sng" algn="ctr">
              <a:solidFill>
                <a:srgbClr val="FFFFFF">
                  <a:alpha val="14000"/>
                </a:srgbClr>
              </a:solidFill>
              <a:prstDash val="dash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Conector reto 5">
              <a:extLst>
                <a:ext uri="{FF2B5EF4-FFF2-40B4-BE49-F238E27FC236}">
                  <a16:creationId xmlns:a16="http://schemas.microsoft.com/office/drawing/2014/main" id="{E97F3C60-2137-93D3-DF6C-D735A87CCE3E}"/>
                </a:ext>
              </a:extLst>
            </p:cNvPr>
            <p:cNvCxnSpPr/>
            <p:nvPr/>
          </p:nvCxnSpPr>
          <p:spPr>
            <a:xfrm>
              <a:off x="8204200" y="4584700"/>
              <a:ext cx="850900" cy="850900"/>
            </a:xfrm>
            <a:prstGeom prst="line">
              <a:avLst/>
            </a:prstGeom>
            <a:ln w="13970" cap="flat" cmpd="sng" algn="ctr">
              <a:solidFill>
                <a:srgbClr val="FFFFFF">
                  <a:alpha val="14000"/>
                </a:srgbClr>
              </a:solidFill>
              <a:prstDash val="dash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Conector reto 6">
              <a:extLst>
                <a:ext uri="{FF2B5EF4-FFF2-40B4-BE49-F238E27FC236}">
                  <a16:creationId xmlns:a16="http://schemas.microsoft.com/office/drawing/2014/main" id="{2FE17013-9D08-C16B-660F-3403858BCAC7}"/>
                </a:ext>
              </a:extLst>
            </p:cNvPr>
            <p:cNvCxnSpPr/>
            <p:nvPr/>
          </p:nvCxnSpPr>
          <p:spPr>
            <a:xfrm flipH="1">
              <a:off x="9537700" y="2565400"/>
              <a:ext cx="876300" cy="876300"/>
            </a:xfrm>
            <a:prstGeom prst="line">
              <a:avLst/>
            </a:prstGeom>
            <a:ln w="13970" cap="flat" cmpd="sng" algn="ctr">
              <a:solidFill>
                <a:srgbClr val="FFFFFF">
                  <a:alpha val="14000"/>
                </a:srgbClr>
              </a:solidFill>
              <a:prstDash val="dash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Conector reto 7">
              <a:extLst>
                <a:ext uri="{FF2B5EF4-FFF2-40B4-BE49-F238E27FC236}">
                  <a16:creationId xmlns:a16="http://schemas.microsoft.com/office/drawing/2014/main" id="{AB649A40-82AF-987B-E7C9-44FF160AD589}"/>
                </a:ext>
              </a:extLst>
            </p:cNvPr>
            <p:cNvCxnSpPr/>
            <p:nvPr/>
          </p:nvCxnSpPr>
          <p:spPr>
            <a:xfrm flipV="1">
              <a:off x="6985000" y="2565400"/>
              <a:ext cx="838200" cy="1117600"/>
            </a:xfrm>
            <a:prstGeom prst="line">
              <a:avLst/>
            </a:prstGeom>
            <a:ln w="13970" cap="flat" cmpd="sng" algn="ctr">
              <a:solidFill>
                <a:srgbClr val="FFFFFF">
                  <a:alpha val="14000"/>
                </a:srgbClr>
              </a:solidFill>
              <a:prstDash val="dash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Conector reto 8">
              <a:extLst>
                <a:ext uri="{FF2B5EF4-FFF2-40B4-BE49-F238E27FC236}">
                  <a16:creationId xmlns:a16="http://schemas.microsoft.com/office/drawing/2014/main" id="{112679BE-A913-0939-C786-B5D1341F3D60}"/>
                </a:ext>
              </a:extLst>
            </p:cNvPr>
            <p:cNvCxnSpPr/>
            <p:nvPr/>
          </p:nvCxnSpPr>
          <p:spPr>
            <a:xfrm>
              <a:off x="10414000" y="2565400"/>
              <a:ext cx="469900" cy="1727200"/>
            </a:xfrm>
            <a:prstGeom prst="line">
              <a:avLst/>
            </a:prstGeom>
            <a:ln w="13970" cap="flat" cmpd="sng" algn="ctr">
              <a:solidFill>
                <a:srgbClr val="FFFFFF">
                  <a:alpha val="14000"/>
                </a:srgbClr>
              </a:solidFill>
              <a:prstDash val="dash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ector reto 9">
              <a:extLst>
                <a:ext uri="{FF2B5EF4-FFF2-40B4-BE49-F238E27FC236}">
                  <a16:creationId xmlns:a16="http://schemas.microsoft.com/office/drawing/2014/main" id="{37D1CD16-B689-7620-FB22-3E24686BA7BA}"/>
                </a:ext>
              </a:extLst>
            </p:cNvPr>
            <p:cNvCxnSpPr/>
            <p:nvPr/>
          </p:nvCxnSpPr>
          <p:spPr>
            <a:xfrm flipV="1">
              <a:off x="9690100" y="4292600"/>
              <a:ext cx="1193800" cy="292100"/>
            </a:xfrm>
            <a:prstGeom prst="line">
              <a:avLst/>
            </a:prstGeom>
            <a:ln w="13970" cap="flat" cmpd="sng" algn="ctr">
              <a:solidFill>
                <a:srgbClr val="FFFFFF">
                  <a:alpha val="14000"/>
                </a:srgbClr>
              </a:solidFill>
              <a:prstDash val="dash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Retângulo: Cantos Arredondados 10">
              <a:extLst>
                <a:ext uri="{FF2B5EF4-FFF2-40B4-BE49-F238E27FC236}">
                  <a16:creationId xmlns:a16="http://schemas.microsoft.com/office/drawing/2014/main" id="{19F4A4C0-45E8-B462-56DD-B6E0469CEB3C}"/>
                </a:ext>
              </a:extLst>
            </p:cNvPr>
            <p:cNvSpPr/>
            <p:nvPr/>
          </p:nvSpPr>
          <p:spPr>
            <a:xfrm>
              <a:off x="6616700" y="2349500"/>
              <a:ext cx="2540000" cy="419100"/>
            </a:xfrm>
            <a:prstGeom prst="roundRect">
              <a:avLst>
                <a:gd name="adj" fmla="val 50000"/>
              </a:avLst>
            </a:prstGeom>
            <a:solidFill>
              <a:srgbClr val="131316"/>
            </a:solidFill>
            <a:ln w="12700" cap="flat" cmpd="sng" algn="ctr">
              <a:solidFill>
                <a:srgbClr val="FFFFFF">
                  <a:alpha val="20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50800" tIns="0" rIns="50800" bIns="0" rtlCol="0" anchor="ctr">
              <a:noAutofit/>
            </a:bodyPr>
            <a:lstStyle/>
            <a:p>
              <a:pPr algn="ctr"/>
              <a:r>
                <a:rPr lang="pt-BR" sz="1100">
                  <a:solidFill>
                    <a:srgbClr val="E8EAEC"/>
                  </a:solidFill>
                  <a:latin typeface="Instrument Sans Medium" pitchFamily="2" charset="0"/>
                </a:rPr>
                <a:t>Sistemas que não conversam</a:t>
              </a:r>
            </a:p>
          </p:txBody>
        </p:sp>
        <p:sp>
          <p:nvSpPr>
            <p:cNvPr id="12" name="Retângulo: Cantos Arredondados 11">
              <a:extLst>
                <a:ext uri="{FF2B5EF4-FFF2-40B4-BE49-F238E27FC236}">
                  <a16:creationId xmlns:a16="http://schemas.microsoft.com/office/drawing/2014/main" id="{414FCAB9-8639-61C6-81DB-A76AF54F9E4B}"/>
                </a:ext>
              </a:extLst>
            </p:cNvPr>
            <p:cNvSpPr/>
            <p:nvPr/>
          </p:nvSpPr>
          <p:spPr>
            <a:xfrm>
              <a:off x="9563100" y="3225800"/>
              <a:ext cx="1714500" cy="419100"/>
            </a:xfrm>
            <a:prstGeom prst="roundRect">
              <a:avLst>
                <a:gd name="adj" fmla="val 50000"/>
              </a:avLst>
            </a:prstGeom>
            <a:solidFill>
              <a:srgbClr val="131316"/>
            </a:solidFill>
            <a:ln w="12700" cap="flat" cmpd="sng" algn="ctr">
              <a:solidFill>
                <a:srgbClr val="FFFFFF">
                  <a:alpha val="20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50800" tIns="0" rIns="50800" bIns="0" rtlCol="0" anchor="ctr">
              <a:noAutofit/>
            </a:bodyPr>
            <a:lstStyle/>
            <a:p>
              <a:pPr algn="ctr"/>
              <a:r>
                <a:rPr lang="pt-BR" sz="1100">
                  <a:solidFill>
                    <a:srgbClr val="E8EAEC"/>
                  </a:solidFill>
                  <a:latin typeface="Instrument Sans Medium" pitchFamily="2" charset="0"/>
                </a:rPr>
                <a:t>Trabalho manual</a:t>
              </a:r>
            </a:p>
          </p:txBody>
        </p:sp>
        <p:sp>
          <p:nvSpPr>
            <p:cNvPr id="13" name="Retângulo: Cantos Arredondados 12">
              <a:extLst>
                <a:ext uri="{FF2B5EF4-FFF2-40B4-BE49-F238E27FC236}">
                  <a16:creationId xmlns:a16="http://schemas.microsoft.com/office/drawing/2014/main" id="{A2E6C1E8-A563-1CA1-45DA-A702415E2E3D}"/>
                </a:ext>
              </a:extLst>
            </p:cNvPr>
            <p:cNvSpPr/>
            <p:nvPr/>
          </p:nvSpPr>
          <p:spPr>
            <a:xfrm>
              <a:off x="8839200" y="4368800"/>
              <a:ext cx="1727200" cy="419100"/>
            </a:xfrm>
            <a:prstGeom prst="roundRect">
              <a:avLst>
                <a:gd name="adj" fmla="val 50000"/>
              </a:avLst>
            </a:prstGeom>
            <a:solidFill>
              <a:srgbClr val="131316"/>
            </a:solidFill>
            <a:ln w="12700" cap="flat" cmpd="sng" algn="ctr">
              <a:solidFill>
                <a:srgbClr val="FFFFFF">
                  <a:alpha val="20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50800" tIns="0" rIns="50800" bIns="0" rtlCol="0" anchor="ctr">
              <a:noAutofit/>
            </a:bodyPr>
            <a:lstStyle/>
            <a:p>
              <a:pPr algn="ctr"/>
              <a:r>
                <a:rPr lang="pt-BR" sz="1100">
                  <a:solidFill>
                    <a:srgbClr val="E8EAEC"/>
                  </a:solidFill>
                  <a:latin typeface="Instrument Sans Medium" pitchFamily="2" charset="0"/>
                </a:rPr>
                <a:t>Planilhas críticas</a:t>
              </a:r>
            </a:p>
          </p:txBody>
        </p:sp>
        <p:sp>
          <p:nvSpPr>
            <p:cNvPr id="14" name="Retângulo: Cantos Arredondados 13">
              <a:extLst>
                <a:ext uri="{FF2B5EF4-FFF2-40B4-BE49-F238E27FC236}">
                  <a16:creationId xmlns:a16="http://schemas.microsoft.com/office/drawing/2014/main" id="{D7E58514-A378-0043-B717-6F772DC569FD}"/>
                </a:ext>
              </a:extLst>
            </p:cNvPr>
            <p:cNvSpPr/>
            <p:nvPr/>
          </p:nvSpPr>
          <p:spPr>
            <a:xfrm>
              <a:off x="7823200" y="5232400"/>
              <a:ext cx="2438400" cy="419100"/>
            </a:xfrm>
            <a:prstGeom prst="roundRect">
              <a:avLst>
                <a:gd name="adj" fmla="val 50000"/>
              </a:avLst>
            </a:prstGeom>
            <a:solidFill>
              <a:srgbClr val="131316"/>
            </a:solidFill>
            <a:ln w="12700" cap="flat" cmpd="sng" algn="ctr">
              <a:solidFill>
                <a:srgbClr val="FFFFFF">
                  <a:alpha val="20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50800" tIns="0" rIns="50800" bIns="0" rtlCol="0" anchor="ctr">
              <a:noAutofit/>
            </a:bodyPr>
            <a:lstStyle/>
            <a:p>
              <a:pPr algn="ctr"/>
              <a:r>
                <a:rPr lang="pt-BR" sz="1100">
                  <a:solidFill>
                    <a:srgbClr val="E8EAEC"/>
                  </a:solidFill>
                  <a:latin typeface="Instrument Sans Medium" pitchFamily="2" charset="0"/>
                </a:rPr>
                <a:t>Leads sem acompanhamento</a:t>
              </a:r>
            </a:p>
          </p:txBody>
        </p:sp>
        <p:sp>
          <p:nvSpPr>
            <p:cNvPr id="15" name="Elipse 14">
              <a:extLst>
                <a:ext uri="{FF2B5EF4-FFF2-40B4-BE49-F238E27FC236}">
                  <a16:creationId xmlns:a16="http://schemas.microsoft.com/office/drawing/2014/main" id="{F38F4A87-BC2D-4BE2-F897-C700EDAB06FB}"/>
                </a:ext>
              </a:extLst>
            </p:cNvPr>
            <p:cNvSpPr/>
            <p:nvPr/>
          </p:nvSpPr>
          <p:spPr>
            <a:xfrm>
              <a:off x="6940550" y="3638550"/>
              <a:ext cx="88900" cy="88900"/>
            </a:xfrm>
            <a:prstGeom prst="ellipse">
              <a:avLst/>
            </a:prstGeom>
            <a:solidFill>
              <a:srgbClr val="FFFFFF">
                <a:alpha val="32000"/>
              </a:srgbClr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Elipse 15">
              <a:extLst>
                <a:ext uri="{FF2B5EF4-FFF2-40B4-BE49-F238E27FC236}">
                  <a16:creationId xmlns:a16="http://schemas.microsoft.com/office/drawing/2014/main" id="{F0205676-C286-4507-9C74-7003213E2978}"/>
                </a:ext>
              </a:extLst>
            </p:cNvPr>
            <p:cNvSpPr/>
            <p:nvPr/>
          </p:nvSpPr>
          <p:spPr>
            <a:xfrm>
              <a:off x="10839450" y="4248150"/>
              <a:ext cx="88900" cy="88900"/>
            </a:xfrm>
            <a:prstGeom prst="ellipse">
              <a:avLst/>
            </a:prstGeom>
            <a:solidFill>
              <a:srgbClr val="FFFFFF">
                <a:alpha val="32000"/>
              </a:srgbClr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Elipse 16">
              <a:extLst>
                <a:ext uri="{FF2B5EF4-FFF2-40B4-BE49-F238E27FC236}">
                  <a16:creationId xmlns:a16="http://schemas.microsoft.com/office/drawing/2014/main" id="{6CF7D3FA-A5C0-6F68-8131-7EBB8C8FE1A0}"/>
                </a:ext>
              </a:extLst>
            </p:cNvPr>
            <p:cNvSpPr/>
            <p:nvPr/>
          </p:nvSpPr>
          <p:spPr>
            <a:xfrm>
              <a:off x="7600950" y="1682750"/>
              <a:ext cx="88900" cy="88900"/>
            </a:xfrm>
            <a:prstGeom prst="ellipse">
              <a:avLst/>
            </a:prstGeom>
            <a:solidFill>
              <a:srgbClr val="FFFFFF">
                <a:alpha val="32000"/>
              </a:srgbClr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Elipse 17">
              <a:extLst>
                <a:ext uri="{FF2B5EF4-FFF2-40B4-BE49-F238E27FC236}">
                  <a16:creationId xmlns:a16="http://schemas.microsoft.com/office/drawing/2014/main" id="{6DD19419-8CC5-A7E0-C712-8ABD9A82BBF8}"/>
                </a:ext>
              </a:extLst>
            </p:cNvPr>
            <p:cNvSpPr/>
            <p:nvPr/>
          </p:nvSpPr>
          <p:spPr>
            <a:xfrm>
              <a:off x="10458450" y="1682750"/>
              <a:ext cx="88900" cy="88900"/>
            </a:xfrm>
            <a:prstGeom prst="ellipse">
              <a:avLst/>
            </a:prstGeom>
            <a:solidFill>
              <a:srgbClr val="FFFFFF">
                <a:alpha val="32000"/>
              </a:srgbClr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Elipse 18">
              <a:extLst>
                <a:ext uri="{FF2B5EF4-FFF2-40B4-BE49-F238E27FC236}">
                  <a16:creationId xmlns:a16="http://schemas.microsoft.com/office/drawing/2014/main" id="{9D739C84-787A-16E3-D65E-37A4B74112C8}"/>
                </a:ext>
              </a:extLst>
            </p:cNvPr>
            <p:cNvSpPr/>
            <p:nvPr/>
          </p:nvSpPr>
          <p:spPr>
            <a:xfrm>
              <a:off x="11131550" y="5581650"/>
              <a:ext cx="88900" cy="88900"/>
            </a:xfrm>
            <a:prstGeom prst="ellipse">
              <a:avLst/>
            </a:prstGeom>
            <a:solidFill>
              <a:srgbClr val="FFFFFF">
                <a:alpha val="32000"/>
              </a:srgbClr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Elipse 19">
              <a:extLst>
                <a:ext uri="{FF2B5EF4-FFF2-40B4-BE49-F238E27FC236}">
                  <a16:creationId xmlns:a16="http://schemas.microsoft.com/office/drawing/2014/main" id="{7ED610A8-5368-6F7A-5984-F79B69200C8A}"/>
                </a:ext>
              </a:extLst>
            </p:cNvPr>
            <p:cNvSpPr/>
            <p:nvPr/>
          </p:nvSpPr>
          <p:spPr>
            <a:xfrm>
              <a:off x="6711950" y="4730750"/>
              <a:ext cx="88900" cy="88900"/>
            </a:xfrm>
            <a:prstGeom prst="ellipse">
              <a:avLst/>
            </a:prstGeom>
            <a:solidFill>
              <a:srgbClr val="FFFFFF">
                <a:alpha val="32000"/>
              </a:srgbClr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cxnSp>
        <p:nvCxnSpPr>
          <p:cNvPr id="22" name="Conector reto 21">
            <a:extLst>
              <a:ext uri="{FF2B5EF4-FFF2-40B4-BE49-F238E27FC236}">
                <a16:creationId xmlns:a16="http://schemas.microsoft.com/office/drawing/2014/main" id="{97CF611F-5217-F381-7F61-9619A793620D}"/>
              </a:ext>
            </a:extLst>
          </p:cNvPr>
          <p:cNvCxnSpPr/>
          <p:nvPr/>
        </p:nvCxnSpPr>
        <p:spPr>
          <a:xfrm>
            <a:off x="685800" y="6578600"/>
            <a:ext cx="10147300" cy="0"/>
          </a:xfrm>
          <a:prstGeom prst="line">
            <a:avLst/>
          </a:prstGeom>
          <a:ln w="19050" cap="flat" cmpd="sng" algn="ctr">
            <a:solidFill>
              <a:srgbClr val="FFFFFF">
                <a:alpha val="14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ector reto 22">
            <a:extLst>
              <a:ext uri="{FF2B5EF4-FFF2-40B4-BE49-F238E27FC236}">
                <a16:creationId xmlns:a16="http://schemas.microsoft.com/office/drawing/2014/main" id="{4E0CD49F-40F8-8C45-ACC4-61D642F40930}"/>
              </a:ext>
            </a:extLst>
          </p:cNvPr>
          <p:cNvCxnSpPr/>
          <p:nvPr/>
        </p:nvCxnSpPr>
        <p:spPr>
          <a:xfrm>
            <a:off x="685800" y="6578600"/>
            <a:ext cx="1691217" cy="0"/>
          </a:xfrm>
          <a:prstGeom prst="line">
            <a:avLst/>
          </a:prstGeom>
          <a:ln w="19050" cap="flat" cmpd="sng" algn="ctr">
            <a:solidFill>
              <a:srgbClr val="46EB7E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Elipse 23">
            <a:extLst>
              <a:ext uri="{FF2B5EF4-FFF2-40B4-BE49-F238E27FC236}">
                <a16:creationId xmlns:a16="http://schemas.microsoft.com/office/drawing/2014/main" id="{09BF7F6F-1A61-A121-6F53-0B55D7B8885C}"/>
              </a:ext>
            </a:extLst>
          </p:cNvPr>
          <p:cNvSpPr/>
          <p:nvPr/>
        </p:nvSpPr>
        <p:spPr>
          <a:xfrm>
            <a:off x="2326217" y="6527800"/>
            <a:ext cx="101600" cy="101600"/>
          </a:xfrm>
          <a:prstGeom prst="ellipse">
            <a:avLst/>
          </a:prstGeom>
          <a:solidFill>
            <a:srgbClr val="46EB7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06C21FA1-9E2B-68FA-DFA0-7CE852A39322}"/>
              </a:ext>
            </a:extLst>
          </p:cNvPr>
          <p:cNvSpPr txBox="1"/>
          <p:nvPr/>
        </p:nvSpPr>
        <p:spPr>
          <a:xfrm>
            <a:off x="10947400" y="6502400"/>
            <a:ext cx="558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lnSpc>
                <a:spcPct val="104000"/>
              </a:lnSpc>
            </a:pPr>
            <a:r>
              <a:rPr lang="pt-BR" sz="850" spc="80">
                <a:solidFill>
                  <a:srgbClr val="9BA1A6"/>
                </a:solidFill>
                <a:latin typeface="Instrument Sans Medium" pitchFamily="2" charset="0"/>
              </a:rPr>
              <a:t>02 / 12</a:t>
            </a:r>
          </a:p>
        </p:txBody>
      </p:sp>
    </p:spTree>
    <p:extLst>
      <p:ext uri="{BB962C8B-B14F-4D97-AF65-F5344CB8AC3E}">
        <p14:creationId xmlns:p14="http://schemas.microsoft.com/office/powerpoint/2010/main" val="28795852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ipse 1">
            <a:extLst>
              <a:ext uri="{FF2B5EF4-FFF2-40B4-BE49-F238E27FC236}">
                <a16:creationId xmlns:a16="http://schemas.microsoft.com/office/drawing/2014/main" id="{04B6B93C-9F49-D296-1202-D7CF4F909EE2}"/>
              </a:ext>
            </a:extLst>
          </p:cNvPr>
          <p:cNvSpPr/>
          <p:nvPr/>
        </p:nvSpPr>
        <p:spPr>
          <a:xfrm>
            <a:off x="-1993900" y="2578100"/>
            <a:ext cx="6654800" cy="6654800"/>
          </a:xfrm>
          <a:prstGeom prst="ellipse">
            <a:avLst/>
          </a:prstGeom>
          <a:solidFill>
            <a:srgbClr val="46EB7E">
              <a:alpha val="6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" name="Elipse 2">
            <a:extLst>
              <a:ext uri="{FF2B5EF4-FFF2-40B4-BE49-F238E27FC236}">
                <a16:creationId xmlns:a16="http://schemas.microsoft.com/office/drawing/2014/main" id="{D564C901-4C97-5CB8-6795-105834956DCF}"/>
              </a:ext>
            </a:extLst>
          </p:cNvPr>
          <p:cNvSpPr/>
          <p:nvPr/>
        </p:nvSpPr>
        <p:spPr>
          <a:xfrm>
            <a:off x="-952500" y="3619500"/>
            <a:ext cx="4572000" cy="4572000"/>
          </a:xfrm>
          <a:prstGeom prst="ellipse">
            <a:avLst/>
          </a:prstGeom>
          <a:solidFill>
            <a:srgbClr val="46EB7E">
              <a:alpha val="7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" name="Elipse 3">
            <a:extLst>
              <a:ext uri="{FF2B5EF4-FFF2-40B4-BE49-F238E27FC236}">
                <a16:creationId xmlns:a16="http://schemas.microsoft.com/office/drawing/2014/main" id="{76408B34-905B-7BDD-E731-C99D50360506}"/>
              </a:ext>
            </a:extLst>
          </p:cNvPr>
          <p:cNvSpPr/>
          <p:nvPr/>
        </p:nvSpPr>
        <p:spPr>
          <a:xfrm>
            <a:off x="0" y="4572000"/>
            <a:ext cx="2667000" cy="2667000"/>
          </a:xfrm>
          <a:prstGeom prst="ellipse">
            <a:avLst/>
          </a:prstGeom>
          <a:solidFill>
            <a:srgbClr val="46EB7E">
              <a:alpha val="8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51FAC682-1355-5F54-6B5D-1CE9E6BF32DD}"/>
              </a:ext>
            </a:extLst>
          </p:cNvPr>
          <p:cNvSpPr txBox="1"/>
          <p:nvPr/>
        </p:nvSpPr>
        <p:spPr>
          <a:xfrm>
            <a:off x="685800" y="2540000"/>
            <a:ext cx="1028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90000"/>
              </a:lnSpc>
            </a:pPr>
            <a:r>
              <a:rPr lang="pt-BR" sz="9200" b="1" spc="-270">
                <a:solidFill>
                  <a:srgbClr val="FFFFFF"/>
                </a:solidFill>
                <a:latin typeface="Urbanist" panose="020B0A04040200000203" pitchFamily="34" charset="0"/>
              </a:rPr>
              <a:t>É nesse ponto que </a:t>
            </a:r>
            <a:r>
              <a:rPr lang="pt-BR" sz="9200" b="1" spc="-270">
                <a:solidFill>
                  <a:srgbClr val="46EB7E"/>
                </a:solidFill>
                <a:latin typeface="Urbanist" panose="020B0A04040200000203" pitchFamily="34" charset="0"/>
              </a:rPr>
              <a:t>entramos.</a:t>
            </a:r>
          </a:p>
        </p:txBody>
      </p:sp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11DD4EEF-61DB-8035-3367-BF7BD3AAF5E5}"/>
              </a:ext>
            </a:extLst>
          </p:cNvPr>
          <p:cNvCxnSpPr/>
          <p:nvPr/>
        </p:nvCxnSpPr>
        <p:spPr>
          <a:xfrm>
            <a:off x="685800" y="6578600"/>
            <a:ext cx="10147300" cy="0"/>
          </a:xfrm>
          <a:prstGeom prst="line">
            <a:avLst/>
          </a:prstGeom>
          <a:ln w="19050" cap="flat" cmpd="sng" algn="ctr">
            <a:solidFill>
              <a:srgbClr val="FFFFFF">
                <a:alpha val="14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8B4B2421-D5B2-352F-BFD0-B6B37B38BA68}"/>
              </a:ext>
            </a:extLst>
          </p:cNvPr>
          <p:cNvCxnSpPr/>
          <p:nvPr/>
        </p:nvCxnSpPr>
        <p:spPr>
          <a:xfrm>
            <a:off x="685800" y="6578600"/>
            <a:ext cx="2536825" cy="0"/>
          </a:xfrm>
          <a:prstGeom prst="line">
            <a:avLst/>
          </a:prstGeom>
          <a:ln w="19050" cap="flat" cmpd="sng" algn="ctr">
            <a:solidFill>
              <a:srgbClr val="46EB7E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Elipse 7">
            <a:extLst>
              <a:ext uri="{FF2B5EF4-FFF2-40B4-BE49-F238E27FC236}">
                <a16:creationId xmlns:a16="http://schemas.microsoft.com/office/drawing/2014/main" id="{9FA447A8-1A6D-E8DB-A6C6-CB44A44238A7}"/>
              </a:ext>
            </a:extLst>
          </p:cNvPr>
          <p:cNvSpPr/>
          <p:nvPr/>
        </p:nvSpPr>
        <p:spPr>
          <a:xfrm>
            <a:off x="3171825" y="6527800"/>
            <a:ext cx="101600" cy="101600"/>
          </a:xfrm>
          <a:prstGeom prst="ellipse">
            <a:avLst/>
          </a:prstGeom>
          <a:solidFill>
            <a:srgbClr val="46EB7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6EE28018-4959-AC01-9BC4-645EBC9C8967}"/>
              </a:ext>
            </a:extLst>
          </p:cNvPr>
          <p:cNvSpPr txBox="1"/>
          <p:nvPr/>
        </p:nvSpPr>
        <p:spPr>
          <a:xfrm>
            <a:off x="10947400" y="6502400"/>
            <a:ext cx="558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lnSpc>
                <a:spcPct val="104000"/>
              </a:lnSpc>
            </a:pPr>
            <a:r>
              <a:rPr lang="pt-BR" sz="850" spc="80">
                <a:solidFill>
                  <a:srgbClr val="9BA1A6"/>
                </a:solidFill>
                <a:latin typeface="Instrument Sans Medium" pitchFamily="2" charset="0"/>
              </a:rPr>
              <a:t>03 / 12</a:t>
            </a:r>
          </a:p>
        </p:txBody>
      </p:sp>
    </p:spTree>
    <p:extLst>
      <p:ext uri="{BB962C8B-B14F-4D97-AF65-F5344CB8AC3E}">
        <p14:creationId xmlns:p14="http://schemas.microsoft.com/office/powerpoint/2010/main" val="71138840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8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55A61762-A538-0088-F07B-3EF0B99C9314}"/>
              </a:ext>
            </a:extLst>
          </p:cNvPr>
          <p:cNvSpPr txBox="1"/>
          <p:nvPr/>
        </p:nvSpPr>
        <p:spPr>
          <a:xfrm>
            <a:off x="685800" y="571500"/>
            <a:ext cx="508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04000"/>
              </a:lnSpc>
            </a:pPr>
            <a:r>
              <a:rPr lang="pt-BR" sz="1000" spc="170">
                <a:solidFill>
                  <a:srgbClr val="0F7C47"/>
                </a:solidFill>
                <a:latin typeface="Instrument Sans Medium" pitchFamily="2" charset="0"/>
              </a:rPr>
              <a:t>DIAGNÓSTICO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9E8F96FB-79E9-B8A4-8BE5-5A08008BE58A}"/>
              </a:ext>
            </a:extLst>
          </p:cNvPr>
          <p:cNvSpPr txBox="1"/>
          <p:nvPr/>
        </p:nvSpPr>
        <p:spPr>
          <a:xfrm>
            <a:off x="685800" y="965200"/>
            <a:ext cx="876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90000"/>
              </a:lnSpc>
            </a:pPr>
            <a:r>
              <a:rPr lang="pt-BR" sz="4800" b="1" spc="-140">
                <a:solidFill>
                  <a:srgbClr val="0B0B0C"/>
                </a:solidFill>
                <a:latin typeface="Urbanist" panose="020B0A04040200000203" pitchFamily="34" charset="0"/>
              </a:rPr>
              <a:t>Você não precisa saber </a:t>
            </a:r>
            <a:r>
              <a:rPr lang="pt-BR" sz="4800" b="1" spc="-140">
                <a:solidFill>
                  <a:srgbClr val="0F7C47"/>
                </a:solidFill>
                <a:latin typeface="Urbanist" panose="020B0A04040200000203" pitchFamily="34" charset="0"/>
              </a:rPr>
              <a:t>o que construir.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36B17FB5-76A3-CB03-D751-9163FB503E81}"/>
              </a:ext>
            </a:extLst>
          </p:cNvPr>
          <p:cNvSpPr txBox="1"/>
          <p:nvPr/>
        </p:nvSpPr>
        <p:spPr>
          <a:xfrm>
            <a:off x="685800" y="2489200"/>
            <a:ext cx="685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04000"/>
              </a:lnSpc>
            </a:pPr>
            <a:r>
              <a:rPr lang="pt-BR" sz="1500">
                <a:solidFill>
                  <a:srgbClr val="575C61"/>
                </a:solidFill>
                <a:latin typeface="Instrument Sans Medium" pitchFamily="2" charset="0"/>
              </a:rPr>
              <a:t>Nossos clientes chegam com uma dor — não com uma especificação técnica.</a:t>
            </a:r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9529627D-A52D-D5A7-DD32-56FCFDB6A2E6}"/>
              </a:ext>
            </a:extLst>
          </p:cNvPr>
          <p:cNvCxnSpPr/>
          <p:nvPr/>
        </p:nvCxnSpPr>
        <p:spPr>
          <a:xfrm>
            <a:off x="952500" y="4191000"/>
            <a:ext cx="10287000" cy="0"/>
          </a:xfrm>
          <a:prstGeom prst="line">
            <a:avLst/>
          </a:prstGeom>
          <a:ln w="19050" cap="flat" cmpd="sng" algn="ctr">
            <a:solidFill>
              <a:srgbClr val="0B0B0C">
                <a:alpha val="14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" name="Agrupar 8">
            <a:extLst>
              <a:ext uri="{FF2B5EF4-FFF2-40B4-BE49-F238E27FC236}">
                <a16:creationId xmlns:a16="http://schemas.microsoft.com/office/drawing/2014/main" id="{26146CB6-1621-308F-08F2-318196DB7E38}"/>
              </a:ext>
            </a:extLst>
          </p:cNvPr>
          <p:cNvGrpSpPr/>
          <p:nvPr/>
        </p:nvGrpSpPr>
        <p:grpSpPr>
          <a:xfrm>
            <a:off x="190500" y="3924300"/>
            <a:ext cx="1524000" cy="1067832"/>
            <a:chOff x="190500" y="3924300"/>
            <a:chExt cx="1524000" cy="1067832"/>
          </a:xfrm>
        </p:grpSpPr>
        <p:sp>
          <p:nvSpPr>
            <p:cNvPr id="6" name="Elipse 5">
              <a:extLst>
                <a:ext uri="{FF2B5EF4-FFF2-40B4-BE49-F238E27FC236}">
                  <a16:creationId xmlns:a16="http://schemas.microsoft.com/office/drawing/2014/main" id="{BBC1180A-CCDE-152D-69DD-C5395E99FB27}"/>
                </a:ext>
              </a:extLst>
            </p:cNvPr>
            <p:cNvSpPr/>
            <p:nvPr/>
          </p:nvSpPr>
          <p:spPr>
            <a:xfrm>
              <a:off x="685800" y="3924300"/>
              <a:ext cx="533400" cy="533400"/>
            </a:xfrm>
            <a:prstGeom prst="ellipse">
              <a:avLst/>
            </a:prstGeom>
            <a:solidFill>
              <a:srgbClr val="FFFFFF"/>
            </a:solidFill>
            <a:ln w="19050" cap="flat" cmpd="sng" algn="ctr">
              <a:solidFill>
                <a:srgbClr val="0B0B0C">
                  <a:alpha val="18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250EF192-25B2-20AB-0B60-00592DE190F0}"/>
                </a:ext>
              </a:extLst>
            </p:cNvPr>
            <p:cNvSpPr txBox="1"/>
            <p:nvPr/>
          </p:nvSpPr>
          <p:spPr>
            <a:xfrm>
              <a:off x="685800" y="4089400"/>
              <a:ext cx="5334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pt-BR" sz="1300" b="1">
                  <a:solidFill>
                    <a:srgbClr val="0B0B0C"/>
                  </a:solidFill>
                  <a:latin typeface="Urbanist" panose="020B0A04040200000203" pitchFamily="34" charset="0"/>
                </a:rPr>
                <a:t>1</a:t>
              </a:r>
            </a:p>
          </p:txBody>
        </p:sp>
        <p:sp>
          <p:nvSpPr>
            <p:cNvPr id="8" name="CaixaDeTexto 7">
              <a:extLst>
                <a:ext uri="{FF2B5EF4-FFF2-40B4-BE49-F238E27FC236}">
                  <a16:creationId xmlns:a16="http://schemas.microsoft.com/office/drawing/2014/main" id="{D01298FB-6538-F482-8D90-B7EFC55EF3C9}"/>
                </a:ext>
              </a:extLst>
            </p:cNvPr>
            <p:cNvSpPr txBox="1"/>
            <p:nvPr/>
          </p:nvSpPr>
          <p:spPr>
            <a:xfrm>
              <a:off x="190500" y="4622800"/>
              <a:ext cx="1524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ctr">
                <a:lnSpc>
                  <a:spcPct val="104000"/>
                </a:lnSpc>
              </a:pPr>
              <a:r>
                <a:rPr lang="pt-BR" sz="1300">
                  <a:solidFill>
                    <a:srgbClr val="0B0B0C"/>
                  </a:solidFill>
                  <a:latin typeface="Instrument Sans Medium" pitchFamily="2" charset="0"/>
                </a:rPr>
                <a:t>Dor</a:t>
              </a:r>
            </a:p>
          </p:txBody>
        </p:sp>
      </p:grpSp>
      <p:grpSp>
        <p:nvGrpSpPr>
          <p:cNvPr id="13" name="Agrupar 12">
            <a:extLst>
              <a:ext uri="{FF2B5EF4-FFF2-40B4-BE49-F238E27FC236}">
                <a16:creationId xmlns:a16="http://schemas.microsoft.com/office/drawing/2014/main" id="{29D9FBFE-EB73-789C-1275-AB25A6258CD4}"/>
              </a:ext>
            </a:extLst>
          </p:cNvPr>
          <p:cNvGrpSpPr/>
          <p:nvPr/>
        </p:nvGrpSpPr>
        <p:grpSpPr>
          <a:xfrm>
            <a:off x="2247900" y="3924300"/>
            <a:ext cx="1524000" cy="1067832"/>
            <a:chOff x="2247900" y="3924300"/>
            <a:chExt cx="1524000" cy="1067832"/>
          </a:xfrm>
        </p:grpSpPr>
        <p:sp>
          <p:nvSpPr>
            <p:cNvPr id="10" name="Elipse 9">
              <a:extLst>
                <a:ext uri="{FF2B5EF4-FFF2-40B4-BE49-F238E27FC236}">
                  <a16:creationId xmlns:a16="http://schemas.microsoft.com/office/drawing/2014/main" id="{46AA851C-75A4-64A2-F03D-23CBD9290392}"/>
                </a:ext>
              </a:extLst>
            </p:cNvPr>
            <p:cNvSpPr/>
            <p:nvPr/>
          </p:nvSpPr>
          <p:spPr>
            <a:xfrm>
              <a:off x="2743200" y="3924300"/>
              <a:ext cx="533400" cy="533400"/>
            </a:xfrm>
            <a:prstGeom prst="ellipse">
              <a:avLst/>
            </a:prstGeom>
            <a:solidFill>
              <a:srgbClr val="FFFFFF"/>
            </a:solidFill>
            <a:ln w="19050" cap="flat" cmpd="sng" algn="ctr">
              <a:solidFill>
                <a:srgbClr val="0B0B0C">
                  <a:alpha val="18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46116979-89DF-C9D0-4F6E-637D4C9B78E4}"/>
                </a:ext>
              </a:extLst>
            </p:cNvPr>
            <p:cNvSpPr txBox="1"/>
            <p:nvPr/>
          </p:nvSpPr>
          <p:spPr>
            <a:xfrm>
              <a:off x="2743200" y="4089400"/>
              <a:ext cx="5334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pt-BR" sz="1300" b="1">
                  <a:solidFill>
                    <a:srgbClr val="0B0B0C"/>
                  </a:solidFill>
                  <a:latin typeface="Urbanist" panose="020B0A04040200000203" pitchFamily="34" charset="0"/>
                </a:rPr>
                <a:t>2</a:t>
              </a:r>
            </a:p>
          </p:txBody>
        </p:sp>
        <p:sp>
          <p:nvSpPr>
            <p:cNvPr id="12" name="CaixaDeTexto 11">
              <a:extLst>
                <a:ext uri="{FF2B5EF4-FFF2-40B4-BE49-F238E27FC236}">
                  <a16:creationId xmlns:a16="http://schemas.microsoft.com/office/drawing/2014/main" id="{53EF9318-EC44-DB81-D5C8-4616C09386C0}"/>
                </a:ext>
              </a:extLst>
            </p:cNvPr>
            <p:cNvSpPr txBox="1"/>
            <p:nvPr/>
          </p:nvSpPr>
          <p:spPr>
            <a:xfrm>
              <a:off x="2247900" y="4622800"/>
              <a:ext cx="1524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ctr">
                <a:lnSpc>
                  <a:spcPct val="104000"/>
                </a:lnSpc>
              </a:pPr>
              <a:r>
                <a:rPr lang="pt-BR" sz="1300">
                  <a:solidFill>
                    <a:srgbClr val="0B0B0C"/>
                  </a:solidFill>
                  <a:latin typeface="Instrument Sans Medium" pitchFamily="2" charset="0"/>
                </a:rPr>
                <a:t>Impacto</a:t>
              </a:r>
            </a:p>
          </p:txBody>
        </p:sp>
      </p:grpSp>
      <p:grpSp>
        <p:nvGrpSpPr>
          <p:cNvPr id="17" name="Agrupar 16">
            <a:extLst>
              <a:ext uri="{FF2B5EF4-FFF2-40B4-BE49-F238E27FC236}">
                <a16:creationId xmlns:a16="http://schemas.microsoft.com/office/drawing/2014/main" id="{2DBD3653-E81E-5D25-4086-B2E0B0B46565}"/>
              </a:ext>
            </a:extLst>
          </p:cNvPr>
          <p:cNvGrpSpPr/>
          <p:nvPr/>
        </p:nvGrpSpPr>
        <p:grpSpPr>
          <a:xfrm>
            <a:off x="4305300" y="3924300"/>
            <a:ext cx="1524000" cy="1067832"/>
            <a:chOff x="4305300" y="3924300"/>
            <a:chExt cx="1524000" cy="1067832"/>
          </a:xfrm>
        </p:grpSpPr>
        <p:sp>
          <p:nvSpPr>
            <p:cNvPr id="14" name="Elipse 13">
              <a:extLst>
                <a:ext uri="{FF2B5EF4-FFF2-40B4-BE49-F238E27FC236}">
                  <a16:creationId xmlns:a16="http://schemas.microsoft.com/office/drawing/2014/main" id="{D4373198-F90D-ECF8-BBB1-E21D2B6C155F}"/>
                </a:ext>
              </a:extLst>
            </p:cNvPr>
            <p:cNvSpPr/>
            <p:nvPr/>
          </p:nvSpPr>
          <p:spPr>
            <a:xfrm>
              <a:off x="4800600" y="3924300"/>
              <a:ext cx="533400" cy="533400"/>
            </a:xfrm>
            <a:prstGeom prst="ellipse">
              <a:avLst/>
            </a:prstGeom>
            <a:solidFill>
              <a:srgbClr val="FFFFFF"/>
            </a:solidFill>
            <a:ln w="19050" cap="flat" cmpd="sng" algn="ctr">
              <a:solidFill>
                <a:srgbClr val="0B0B0C">
                  <a:alpha val="18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CaixaDeTexto 14">
              <a:extLst>
                <a:ext uri="{FF2B5EF4-FFF2-40B4-BE49-F238E27FC236}">
                  <a16:creationId xmlns:a16="http://schemas.microsoft.com/office/drawing/2014/main" id="{B766E41B-4C49-4BAE-94A9-E6E64D83C9DC}"/>
                </a:ext>
              </a:extLst>
            </p:cNvPr>
            <p:cNvSpPr txBox="1"/>
            <p:nvPr/>
          </p:nvSpPr>
          <p:spPr>
            <a:xfrm>
              <a:off x="4800600" y="4089400"/>
              <a:ext cx="5334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pt-BR" sz="1300" b="1">
                  <a:solidFill>
                    <a:srgbClr val="0B0B0C"/>
                  </a:solidFill>
                  <a:latin typeface="Urbanist" panose="020B0A04040200000203" pitchFamily="34" charset="0"/>
                </a:rPr>
                <a:t>3</a:t>
              </a:r>
            </a:p>
          </p:txBody>
        </p:sp>
        <p:sp>
          <p:nvSpPr>
            <p:cNvPr id="16" name="CaixaDeTexto 15">
              <a:extLst>
                <a:ext uri="{FF2B5EF4-FFF2-40B4-BE49-F238E27FC236}">
                  <a16:creationId xmlns:a16="http://schemas.microsoft.com/office/drawing/2014/main" id="{0AD1D297-3EE9-28FA-0328-8C2961F452F4}"/>
                </a:ext>
              </a:extLst>
            </p:cNvPr>
            <p:cNvSpPr txBox="1"/>
            <p:nvPr/>
          </p:nvSpPr>
          <p:spPr>
            <a:xfrm>
              <a:off x="4305300" y="4622800"/>
              <a:ext cx="1524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ctr">
                <a:lnSpc>
                  <a:spcPct val="104000"/>
                </a:lnSpc>
              </a:pPr>
              <a:r>
                <a:rPr lang="pt-BR" sz="1300">
                  <a:solidFill>
                    <a:srgbClr val="0B0B0C"/>
                  </a:solidFill>
                  <a:latin typeface="Instrument Sans Medium" pitchFamily="2" charset="0"/>
                </a:rPr>
                <a:t>Oportunidade</a:t>
              </a:r>
            </a:p>
          </p:txBody>
        </p:sp>
      </p:grpSp>
      <p:grpSp>
        <p:nvGrpSpPr>
          <p:cNvPr id="21" name="Agrupar 20">
            <a:extLst>
              <a:ext uri="{FF2B5EF4-FFF2-40B4-BE49-F238E27FC236}">
                <a16:creationId xmlns:a16="http://schemas.microsoft.com/office/drawing/2014/main" id="{BDA6F971-F67C-ED0D-609E-517D80285DF6}"/>
              </a:ext>
            </a:extLst>
          </p:cNvPr>
          <p:cNvGrpSpPr/>
          <p:nvPr/>
        </p:nvGrpSpPr>
        <p:grpSpPr>
          <a:xfrm>
            <a:off x="6362700" y="3924300"/>
            <a:ext cx="1524000" cy="1067832"/>
            <a:chOff x="6362700" y="3924300"/>
            <a:chExt cx="1524000" cy="1067832"/>
          </a:xfrm>
        </p:grpSpPr>
        <p:sp>
          <p:nvSpPr>
            <p:cNvPr id="18" name="Elipse 17">
              <a:extLst>
                <a:ext uri="{FF2B5EF4-FFF2-40B4-BE49-F238E27FC236}">
                  <a16:creationId xmlns:a16="http://schemas.microsoft.com/office/drawing/2014/main" id="{E691923F-59BD-BAF9-3DE1-45A07F77F52D}"/>
                </a:ext>
              </a:extLst>
            </p:cNvPr>
            <p:cNvSpPr/>
            <p:nvPr/>
          </p:nvSpPr>
          <p:spPr>
            <a:xfrm>
              <a:off x="6858000" y="3924300"/>
              <a:ext cx="533400" cy="533400"/>
            </a:xfrm>
            <a:prstGeom prst="ellipse">
              <a:avLst/>
            </a:prstGeom>
            <a:solidFill>
              <a:srgbClr val="FFFFFF"/>
            </a:solidFill>
            <a:ln w="19050" cap="flat" cmpd="sng" algn="ctr">
              <a:solidFill>
                <a:srgbClr val="0B0B0C">
                  <a:alpha val="18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CaixaDeTexto 18">
              <a:extLst>
                <a:ext uri="{FF2B5EF4-FFF2-40B4-BE49-F238E27FC236}">
                  <a16:creationId xmlns:a16="http://schemas.microsoft.com/office/drawing/2014/main" id="{BDEC2DAD-291B-887A-8883-6CF2A25A243E}"/>
                </a:ext>
              </a:extLst>
            </p:cNvPr>
            <p:cNvSpPr txBox="1"/>
            <p:nvPr/>
          </p:nvSpPr>
          <p:spPr>
            <a:xfrm>
              <a:off x="6858000" y="4089400"/>
              <a:ext cx="5334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pt-BR" sz="1300" b="1">
                  <a:solidFill>
                    <a:srgbClr val="0B0B0C"/>
                  </a:solidFill>
                  <a:latin typeface="Urbanist" panose="020B0A04040200000203" pitchFamily="34" charset="0"/>
                </a:rPr>
                <a:t>4</a:t>
              </a:r>
            </a:p>
          </p:txBody>
        </p:sp>
        <p:sp>
          <p:nvSpPr>
            <p:cNvPr id="20" name="CaixaDeTexto 19">
              <a:extLst>
                <a:ext uri="{FF2B5EF4-FFF2-40B4-BE49-F238E27FC236}">
                  <a16:creationId xmlns:a16="http://schemas.microsoft.com/office/drawing/2014/main" id="{A155E616-8EE7-5CFF-1E7D-27AE3864A93A}"/>
                </a:ext>
              </a:extLst>
            </p:cNvPr>
            <p:cNvSpPr txBox="1"/>
            <p:nvPr/>
          </p:nvSpPr>
          <p:spPr>
            <a:xfrm>
              <a:off x="6362700" y="4622800"/>
              <a:ext cx="1524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ctr">
                <a:lnSpc>
                  <a:spcPct val="104000"/>
                </a:lnSpc>
              </a:pPr>
              <a:r>
                <a:rPr lang="pt-BR" sz="1300">
                  <a:solidFill>
                    <a:srgbClr val="0B0B0C"/>
                  </a:solidFill>
                  <a:latin typeface="Instrument Sans Medium" pitchFamily="2" charset="0"/>
                </a:rPr>
                <a:t>Solução</a:t>
              </a:r>
            </a:p>
          </p:txBody>
        </p:sp>
      </p:grpSp>
      <p:grpSp>
        <p:nvGrpSpPr>
          <p:cNvPr id="25" name="Agrupar 24">
            <a:extLst>
              <a:ext uri="{FF2B5EF4-FFF2-40B4-BE49-F238E27FC236}">
                <a16:creationId xmlns:a16="http://schemas.microsoft.com/office/drawing/2014/main" id="{58B01B47-CA3C-6679-C442-4C8BE3421F9D}"/>
              </a:ext>
            </a:extLst>
          </p:cNvPr>
          <p:cNvGrpSpPr/>
          <p:nvPr/>
        </p:nvGrpSpPr>
        <p:grpSpPr>
          <a:xfrm>
            <a:off x="8420100" y="3924300"/>
            <a:ext cx="1524000" cy="1067832"/>
            <a:chOff x="8420100" y="3924300"/>
            <a:chExt cx="1524000" cy="1067832"/>
          </a:xfrm>
        </p:grpSpPr>
        <p:sp>
          <p:nvSpPr>
            <p:cNvPr id="22" name="Elipse 21">
              <a:extLst>
                <a:ext uri="{FF2B5EF4-FFF2-40B4-BE49-F238E27FC236}">
                  <a16:creationId xmlns:a16="http://schemas.microsoft.com/office/drawing/2014/main" id="{13B3A671-A806-ECDC-042C-B3A8AB182D1E}"/>
                </a:ext>
              </a:extLst>
            </p:cNvPr>
            <p:cNvSpPr/>
            <p:nvPr/>
          </p:nvSpPr>
          <p:spPr>
            <a:xfrm>
              <a:off x="8915400" y="3924300"/>
              <a:ext cx="533400" cy="533400"/>
            </a:xfrm>
            <a:prstGeom prst="ellipse">
              <a:avLst/>
            </a:prstGeom>
            <a:solidFill>
              <a:srgbClr val="FFFFFF"/>
            </a:solidFill>
            <a:ln w="19050" cap="flat" cmpd="sng" algn="ctr">
              <a:solidFill>
                <a:srgbClr val="0B0B0C">
                  <a:alpha val="18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" name="CaixaDeTexto 22">
              <a:extLst>
                <a:ext uri="{FF2B5EF4-FFF2-40B4-BE49-F238E27FC236}">
                  <a16:creationId xmlns:a16="http://schemas.microsoft.com/office/drawing/2014/main" id="{99907FA3-01C6-57F1-E2D7-B7CCC9F1DB9C}"/>
                </a:ext>
              </a:extLst>
            </p:cNvPr>
            <p:cNvSpPr txBox="1"/>
            <p:nvPr/>
          </p:nvSpPr>
          <p:spPr>
            <a:xfrm>
              <a:off x="8915400" y="4089400"/>
              <a:ext cx="5334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pt-BR" sz="1300" b="1">
                  <a:solidFill>
                    <a:srgbClr val="0B0B0C"/>
                  </a:solidFill>
                  <a:latin typeface="Urbanist" panose="020B0A04040200000203" pitchFamily="34" charset="0"/>
                </a:rPr>
                <a:t>5</a:t>
              </a:r>
            </a:p>
          </p:txBody>
        </p:sp>
        <p:sp>
          <p:nvSpPr>
            <p:cNvPr id="24" name="CaixaDeTexto 23">
              <a:extLst>
                <a:ext uri="{FF2B5EF4-FFF2-40B4-BE49-F238E27FC236}">
                  <a16:creationId xmlns:a16="http://schemas.microsoft.com/office/drawing/2014/main" id="{8BFE9280-DD5A-9761-B60B-4BE1A0D3451D}"/>
                </a:ext>
              </a:extLst>
            </p:cNvPr>
            <p:cNvSpPr txBox="1"/>
            <p:nvPr/>
          </p:nvSpPr>
          <p:spPr>
            <a:xfrm>
              <a:off x="8420100" y="4622800"/>
              <a:ext cx="1524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ctr">
                <a:lnSpc>
                  <a:spcPct val="104000"/>
                </a:lnSpc>
              </a:pPr>
              <a:r>
                <a:rPr lang="pt-BR" sz="1300">
                  <a:solidFill>
                    <a:srgbClr val="0B0B0C"/>
                  </a:solidFill>
                  <a:latin typeface="Instrument Sans Medium" pitchFamily="2" charset="0"/>
                </a:rPr>
                <a:t>Tecnologia</a:t>
              </a:r>
            </a:p>
          </p:txBody>
        </p:sp>
      </p:grpSp>
      <p:grpSp>
        <p:nvGrpSpPr>
          <p:cNvPr id="29" name="Agrupar 28">
            <a:extLst>
              <a:ext uri="{FF2B5EF4-FFF2-40B4-BE49-F238E27FC236}">
                <a16:creationId xmlns:a16="http://schemas.microsoft.com/office/drawing/2014/main" id="{C290DE10-FEA8-8CFF-1A96-2695C58DF640}"/>
              </a:ext>
            </a:extLst>
          </p:cNvPr>
          <p:cNvGrpSpPr/>
          <p:nvPr/>
        </p:nvGrpSpPr>
        <p:grpSpPr>
          <a:xfrm>
            <a:off x="10477500" y="3924300"/>
            <a:ext cx="1524000" cy="1067832"/>
            <a:chOff x="10477500" y="3924300"/>
            <a:chExt cx="1524000" cy="1067832"/>
          </a:xfrm>
        </p:grpSpPr>
        <p:sp>
          <p:nvSpPr>
            <p:cNvPr id="26" name="Elipse 25">
              <a:extLst>
                <a:ext uri="{FF2B5EF4-FFF2-40B4-BE49-F238E27FC236}">
                  <a16:creationId xmlns:a16="http://schemas.microsoft.com/office/drawing/2014/main" id="{B7FFC637-18CF-2BF8-EBB4-FE2EF31B414D}"/>
                </a:ext>
              </a:extLst>
            </p:cNvPr>
            <p:cNvSpPr/>
            <p:nvPr/>
          </p:nvSpPr>
          <p:spPr>
            <a:xfrm>
              <a:off x="10972800" y="3924300"/>
              <a:ext cx="533400" cy="533400"/>
            </a:xfrm>
            <a:prstGeom prst="ellipse">
              <a:avLst/>
            </a:prstGeom>
            <a:solidFill>
              <a:srgbClr val="46EB7E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" name="CaixaDeTexto 26">
              <a:extLst>
                <a:ext uri="{FF2B5EF4-FFF2-40B4-BE49-F238E27FC236}">
                  <a16:creationId xmlns:a16="http://schemas.microsoft.com/office/drawing/2014/main" id="{59928668-341D-CA9A-FD04-A4DE6293BF64}"/>
                </a:ext>
              </a:extLst>
            </p:cNvPr>
            <p:cNvSpPr txBox="1"/>
            <p:nvPr/>
          </p:nvSpPr>
          <p:spPr>
            <a:xfrm>
              <a:off x="10972800" y="4089400"/>
              <a:ext cx="5334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pt-BR" sz="1300" b="1">
                  <a:solidFill>
                    <a:srgbClr val="0B0B0C"/>
                  </a:solidFill>
                  <a:latin typeface="Urbanist" panose="020B0A04040200000203" pitchFamily="34" charset="0"/>
                </a:rPr>
                <a:t>6</a:t>
              </a:r>
            </a:p>
          </p:txBody>
        </p:sp>
        <p:sp>
          <p:nvSpPr>
            <p:cNvPr id="28" name="CaixaDeTexto 27">
              <a:extLst>
                <a:ext uri="{FF2B5EF4-FFF2-40B4-BE49-F238E27FC236}">
                  <a16:creationId xmlns:a16="http://schemas.microsoft.com/office/drawing/2014/main" id="{9CE82816-D66F-BD49-ED20-404FF70CDF61}"/>
                </a:ext>
              </a:extLst>
            </p:cNvPr>
            <p:cNvSpPr txBox="1"/>
            <p:nvPr/>
          </p:nvSpPr>
          <p:spPr>
            <a:xfrm>
              <a:off x="10477500" y="4622800"/>
              <a:ext cx="1524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ctr">
                <a:lnSpc>
                  <a:spcPct val="104000"/>
                </a:lnSpc>
              </a:pPr>
              <a:r>
                <a:rPr lang="pt-BR" sz="1300">
                  <a:solidFill>
                    <a:srgbClr val="0B0B0C"/>
                  </a:solidFill>
                  <a:latin typeface="Instrument Sans Medium" pitchFamily="2" charset="0"/>
                </a:rPr>
                <a:t>Resultado</a:t>
              </a:r>
            </a:p>
          </p:txBody>
        </p:sp>
      </p:grpSp>
      <p:cxnSp>
        <p:nvCxnSpPr>
          <p:cNvPr id="30" name="Conector reto 29">
            <a:extLst>
              <a:ext uri="{FF2B5EF4-FFF2-40B4-BE49-F238E27FC236}">
                <a16:creationId xmlns:a16="http://schemas.microsoft.com/office/drawing/2014/main" id="{F90D4995-8F64-F224-D819-8666AD3C6D27}"/>
              </a:ext>
            </a:extLst>
          </p:cNvPr>
          <p:cNvCxnSpPr/>
          <p:nvPr/>
        </p:nvCxnSpPr>
        <p:spPr>
          <a:xfrm>
            <a:off x="685800" y="6578600"/>
            <a:ext cx="10147300" cy="0"/>
          </a:xfrm>
          <a:prstGeom prst="line">
            <a:avLst/>
          </a:prstGeom>
          <a:ln w="19050" cap="flat" cmpd="sng" algn="ctr">
            <a:solidFill>
              <a:srgbClr val="0B0B0C">
                <a:alpha val="14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ector reto 30">
            <a:extLst>
              <a:ext uri="{FF2B5EF4-FFF2-40B4-BE49-F238E27FC236}">
                <a16:creationId xmlns:a16="http://schemas.microsoft.com/office/drawing/2014/main" id="{D70A2028-880E-8DD2-976D-85BB33D4B00B}"/>
              </a:ext>
            </a:extLst>
          </p:cNvPr>
          <p:cNvCxnSpPr/>
          <p:nvPr/>
        </p:nvCxnSpPr>
        <p:spPr>
          <a:xfrm>
            <a:off x="685800" y="6578600"/>
            <a:ext cx="3382433" cy="0"/>
          </a:xfrm>
          <a:prstGeom prst="line">
            <a:avLst/>
          </a:prstGeom>
          <a:ln w="19050" cap="flat" cmpd="sng" algn="ctr">
            <a:solidFill>
              <a:srgbClr val="0F7C47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Elipse 31">
            <a:extLst>
              <a:ext uri="{FF2B5EF4-FFF2-40B4-BE49-F238E27FC236}">
                <a16:creationId xmlns:a16="http://schemas.microsoft.com/office/drawing/2014/main" id="{D5BD4811-4186-2BC6-48F4-B74473B4CAD2}"/>
              </a:ext>
            </a:extLst>
          </p:cNvPr>
          <p:cNvSpPr/>
          <p:nvPr/>
        </p:nvSpPr>
        <p:spPr>
          <a:xfrm>
            <a:off x="4017433" y="6527800"/>
            <a:ext cx="101600" cy="101600"/>
          </a:xfrm>
          <a:prstGeom prst="ellipse">
            <a:avLst/>
          </a:prstGeom>
          <a:solidFill>
            <a:srgbClr val="0F7C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0927717C-CE03-3241-F20A-9F537A94FCD2}"/>
              </a:ext>
            </a:extLst>
          </p:cNvPr>
          <p:cNvSpPr txBox="1"/>
          <p:nvPr/>
        </p:nvSpPr>
        <p:spPr>
          <a:xfrm>
            <a:off x="10947400" y="6502400"/>
            <a:ext cx="558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lnSpc>
                <a:spcPct val="104000"/>
              </a:lnSpc>
            </a:pPr>
            <a:r>
              <a:rPr lang="pt-BR" sz="850" spc="80">
                <a:solidFill>
                  <a:srgbClr val="575C61"/>
                </a:solidFill>
                <a:latin typeface="Instrument Sans Medium" pitchFamily="2" charset="0"/>
              </a:rPr>
              <a:t>04 / 12</a:t>
            </a:r>
          </a:p>
        </p:txBody>
      </p:sp>
    </p:spTree>
    <p:extLst>
      <p:ext uri="{BB962C8B-B14F-4D97-AF65-F5344CB8AC3E}">
        <p14:creationId xmlns:p14="http://schemas.microsoft.com/office/powerpoint/2010/main" val="36690816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648577FA-0399-482B-1D8B-3DA00993985D}"/>
              </a:ext>
            </a:extLst>
          </p:cNvPr>
          <p:cNvSpPr txBox="1"/>
          <p:nvPr/>
        </p:nvSpPr>
        <p:spPr>
          <a:xfrm>
            <a:off x="685800" y="571500"/>
            <a:ext cx="508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04000"/>
              </a:lnSpc>
            </a:pPr>
            <a:r>
              <a:rPr lang="pt-BR" sz="1000" spc="170">
                <a:solidFill>
                  <a:srgbClr val="46EB7E"/>
                </a:solidFill>
                <a:latin typeface="Instrument Sans Medium" pitchFamily="2" charset="0"/>
              </a:rPr>
              <a:t>SOLUÇÕES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C87E2214-7E0D-A914-CCDA-3BCBD6AB5A8D}"/>
              </a:ext>
            </a:extLst>
          </p:cNvPr>
          <p:cNvSpPr txBox="1"/>
          <p:nvPr/>
        </p:nvSpPr>
        <p:spPr>
          <a:xfrm>
            <a:off x="685800" y="990600"/>
            <a:ext cx="838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90000"/>
              </a:lnSpc>
            </a:pPr>
            <a:r>
              <a:rPr lang="pt-BR" sz="4000" b="1" spc="-120">
                <a:solidFill>
                  <a:srgbClr val="FFFFFF"/>
                </a:solidFill>
                <a:latin typeface="Urbanist" panose="020B0A04040200000203" pitchFamily="34" charset="0"/>
              </a:rPr>
              <a:t>Três formas de transformar tecnologia em </a:t>
            </a:r>
            <a:r>
              <a:rPr lang="pt-BR" sz="4000" b="1" spc="-120">
                <a:solidFill>
                  <a:srgbClr val="46EB7E"/>
                </a:solidFill>
                <a:latin typeface="Urbanist" panose="020B0A04040200000203" pitchFamily="34" charset="0"/>
              </a:rPr>
              <a:t>resultado.</a:t>
            </a:r>
          </a:p>
        </p:txBody>
      </p:sp>
      <p:grpSp>
        <p:nvGrpSpPr>
          <p:cNvPr id="7" name="Agrupar 6">
            <a:extLst>
              <a:ext uri="{FF2B5EF4-FFF2-40B4-BE49-F238E27FC236}">
                <a16:creationId xmlns:a16="http://schemas.microsoft.com/office/drawing/2014/main" id="{3240005C-F5AB-DEB2-475F-8FB1F4908026}"/>
              </a:ext>
            </a:extLst>
          </p:cNvPr>
          <p:cNvGrpSpPr/>
          <p:nvPr/>
        </p:nvGrpSpPr>
        <p:grpSpPr>
          <a:xfrm>
            <a:off x="685800" y="2984500"/>
            <a:ext cx="3073400" cy="2071132"/>
            <a:chOff x="685800" y="2984500"/>
            <a:chExt cx="3073400" cy="2071132"/>
          </a:xfrm>
        </p:grpSpPr>
        <p:sp>
          <p:nvSpPr>
            <p:cNvPr id="4" name="CaixaDeTexto 3">
              <a:extLst>
                <a:ext uri="{FF2B5EF4-FFF2-40B4-BE49-F238E27FC236}">
                  <a16:creationId xmlns:a16="http://schemas.microsoft.com/office/drawing/2014/main" id="{4BB292D6-3CE0-3503-30A7-BABC0ED0BA65}"/>
                </a:ext>
              </a:extLst>
            </p:cNvPr>
            <p:cNvSpPr txBox="1"/>
            <p:nvPr/>
          </p:nvSpPr>
          <p:spPr>
            <a:xfrm>
              <a:off x="685800" y="2984500"/>
              <a:ext cx="2540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pt-BR" sz="7800" b="1" spc="-150">
                  <a:ln w="13970" cap="flat" cmpd="sng" algn="ctr">
                    <a:solidFill>
                      <a:srgbClr val="46EB7E">
                        <a:alpha val="65000"/>
                      </a:srgbClr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noFill/>
                  <a:latin typeface="Urbanist" panose="020B0A04040200000203" pitchFamily="34" charset="0"/>
                </a:rPr>
                <a:t>01</a:t>
              </a:r>
            </a:p>
          </p:txBody>
        </p:sp>
        <p:sp>
          <p:nvSpPr>
            <p:cNvPr id="5" name="CaixaDeTexto 4">
              <a:extLst>
                <a:ext uri="{FF2B5EF4-FFF2-40B4-BE49-F238E27FC236}">
                  <a16:creationId xmlns:a16="http://schemas.microsoft.com/office/drawing/2014/main" id="{1AAD6E75-2F0C-DBFE-4BF3-6F8B5A8017FB}"/>
                </a:ext>
              </a:extLst>
            </p:cNvPr>
            <p:cNvSpPr txBox="1"/>
            <p:nvPr/>
          </p:nvSpPr>
          <p:spPr>
            <a:xfrm>
              <a:off x="685800" y="4254500"/>
              <a:ext cx="2921000" cy="381000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pt-BR" sz="2100" b="1" spc="-40">
                  <a:solidFill>
                    <a:srgbClr val="FFFFFF"/>
                  </a:solidFill>
                  <a:latin typeface="Urbanist" panose="020B0A04040200000203" pitchFamily="34" charset="0"/>
                </a:rPr>
                <a:t>Nova Receita Digital</a:t>
              </a:r>
            </a:p>
          </p:txBody>
        </p:sp>
        <p:sp>
          <p:nvSpPr>
            <p:cNvPr id="6" name="CaixaDeTexto 5">
              <a:extLst>
                <a:ext uri="{FF2B5EF4-FFF2-40B4-BE49-F238E27FC236}">
                  <a16:creationId xmlns:a16="http://schemas.microsoft.com/office/drawing/2014/main" id="{82BEFCEA-78F3-4FDC-9A22-EC7BCBB805A4}"/>
                </a:ext>
              </a:extLst>
            </p:cNvPr>
            <p:cNvSpPr txBox="1"/>
            <p:nvPr/>
          </p:nvSpPr>
          <p:spPr>
            <a:xfrm>
              <a:off x="685800" y="4686300"/>
              <a:ext cx="30734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135000"/>
                </a:lnSpc>
              </a:pPr>
              <a:r>
                <a:rPr lang="pt-BR" sz="1250">
                  <a:solidFill>
                    <a:srgbClr val="9BA1A6"/>
                  </a:solidFill>
                  <a:latin typeface="Instrument Sans Medium" pitchFamily="2" charset="0"/>
                </a:rPr>
                <a:t>Novos produtos digitais a partir dos ativos que a empresa já tem.</a:t>
              </a:r>
            </a:p>
          </p:txBody>
        </p:sp>
      </p:grpSp>
      <p:grpSp>
        <p:nvGrpSpPr>
          <p:cNvPr id="11" name="Agrupar 10">
            <a:extLst>
              <a:ext uri="{FF2B5EF4-FFF2-40B4-BE49-F238E27FC236}">
                <a16:creationId xmlns:a16="http://schemas.microsoft.com/office/drawing/2014/main" id="{EFC25BF1-7DB1-58C7-ECD8-EC5B3AB6D574}"/>
              </a:ext>
            </a:extLst>
          </p:cNvPr>
          <p:cNvGrpSpPr/>
          <p:nvPr/>
        </p:nvGrpSpPr>
        <p:grpSpPr>
          <a:xfrm>
            <a:off x="4673600" y="2984500"/>
            <a:ext cx="3073400" cy="2071132"/>
            <a:chOff x="4673600" y="2984500"/>
            <a:chExt cx="3073400" cy="2071132"/>
          </a:xfrm>
        </p:grpSpPr>
        <p:sp>
          <p:nvSpPr>
            <p:cNvPr id="8" name="CaixaDeTexto 7">
              <a:extLst>
                <a:ext uri="{FF2B5EF4-FFF2-40B4-BE49-F238E27FC236}">
                  <a16:creationId xmlns:a16="http://schemas.microsoft.com/office/drawing/2014/main" id="{20B1218E-0F76-4970-71BC-308C45FF4BF6}"/>
                </a:ext>
              </a:extLst>
            </p:cNvPr>
            <p:cNvSpPr txBox="1"/>
            <p:nvPr/>
          </p:nvSpPr>
          <p:spPr>
            <a:xfrm>
              <a:off x="4673600" y="2984500"/>
              <a:ext cx="2540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pt-BR" sz="7800" b="1" spc="-150">
                  <a:ln w="13970" cap="flat" cmpd="sng" algn="ctr">
                    <a:solidFill>
                      <a:srgbClr val="46EB7E">
                        <a:alpha val="65000"/>
                      </a:srgbClr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noFill/>
                  <a:latin typeface="Urbanist" panose="020B0A04040200000203" pitchFamily="34" charset="0"/>
                </a:rPr>
                <a:t>02</a:t>
              </a:r>
            </a:p>
          </p:txBody>
        </p:sp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0A1A2651-4EA8-5806-0F4A-B1F89324A068}"/>
                </a:ext>
              </a:extLst>
            </p:cNvPr>
            <p:cNvSpPr txBox="1"/>
            <p:nvPr/>
          </p:nvSpPr>
          <p:spPr>
            <a:xfrm>
              <a:off x="4673600" y="4254500"/>
              <a:ext cx="2921000" cy="381000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pt-BR" sz="2100" b="1" spc="-40">
                  <a:solidFill>
                    <a:srgbClr val="FFFFFF"/>
                  </a:solidFill>
                  <a:latin typeface="Urbanist" panose="020B0A04040200000203" pitchFamily="34" charset="0"/>
                </a:rPr>
                <a:t>Sistemas Sob Medida</a:t>
              </a:r>
            </a:p>
          </p:txBody>
        </p:sp>
        <p:sp>
          <p:nvSpPr>
            <p:cNvPr id="10" name="CaixaDeTexto 9">
              <a:extLst>
                <a:ext uri="{FF2B5EF4-FFF2-40B4-BE49-F238E27FC236}">
                  <a16:creationId xmlns:a16="http://schemas.microsoft.com/office/drawing/2014/main" id="{AF231DEF-40DA-7BCB-1D94-5E452851A902}"/>
                </a:ext>
              </a:extLst>
            </p:cNvPr>
            <p:cNvSpPr txBox="1"/>
            <p:nvPr/>
          </p:nvSpPr>
          <p:spPr>
            <a:xfrm>
              <a:off x="4673600" y="4686300"/>
              <a:ext cx="30734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135000"/>
                </a:lnSpc>
              </a:pPr>
              <a:r>
                <a:rPr lang="pt-BR" sz="1250">
                  <a:solidFill>
                    <a:srgbClr val="9BA1A6"/>
                  </a:solidFill>
                  <a:latin typeface="Instrument Sans Medium" pitchFamily="2" charset="0"/>
                </a:rPr>
                <a:t>Sistemas específicos para eliminar gargalos e centralizar a operação.</a:t>
              </a:r>
            </a:p>
          </p:txBody>
        </p:sp>
      </p:grpSp>
      <p:grpSp>
        <p:nvGrpSpPr>
          <p:cNvPr id="15" name="Agrupar 14">
            <a:extLst>
              <a:ext uri="{FF2B5EF4-FFF2-40B4-BE49-F238E27FC236}">
                <a16:creationId xmlns:a16="http://schemas.microsoft.com/office/drawing/2014/main" id="{54D92533-7950-67DC-0BF8-37008B61FC71}"/>
              </a:ext>
            </a:extLst>
          </p:cNvPr>
          <p:cNvGrpSpPr/>
          <p:nvPr/>
        </p:nvGrpSpPr>
        <p:grpSpPr>
          <a:xfrm>
            <a:off x="8280400" y="2984500"/>
            <a:ext cx="3073400" cy="2071132"/>
            <a:chOff x="8280400" y="2984500"/>
            <a:chExt cx="3073400" cy="2071132"/>
          </a:xfrm>
        </p:grpSpPr>
        <p:sp>
          <p:nvSpPr>
            <p:cNvPr id="12" name="CaixaDeTexto 11">
              <a:extLst>
                <a:ext uri="{FF2B5EF4-FFF2-40B4-BE49-F238E27FC236}">
                  <a16:creationId xmlns:a16="http://schemas.microsoft.com/office/drawing/2014/main" id="{ED5E908D-1E40-AC12-B14A-7D942285CE36}"/>
                </a:ext>
              </a:extLst>
            </p:cNvPr>
            <p:cNvSpPr txBox="1"/>
            <p:nvPr/>
          </p:nvSpPr>
          <p:spPr>
            <a:xfrm>
              <a:off x="8280400" y="2984500"/>
              <a:ext cx="2540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pt-BR" sz="7800" b="1" spc="-150">
                  <a:ln w="13970" cap="flat" cmpd="sng" algn="ctr">
                    <a:solidFill>
                      <a:srgbClr val="46EB7E">
                        <a:alpha val="65000"/>
                      </a:srgbClr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noFill/>
                  <a:latin typeface="Urbanist" panose="020B0A04040200000203" pitchFamily="34" charset="0"/>
                </a:rPr>
                <a:t>03</a:t>
              </a:r>
            </a:p>
          </p:txBody>
        </p:sp>
        <p:sp>
          <p:nvSpPr>
            <p:cNvPr id="13" name="CaixaDeTexto 12">
              <a:extLst>
                <a:ext uri="{FF2B5EF4-FFF2-40B4-BE49-F238E27FC236}">
                  <a16:creationId xmlns:a16="http://schemas.microsoft.com/office/drawing/2014/main" id="{DA0C4A74-4CE6-BCC3-0E9C-1C352ACF743F}"/>
                </a:ext>
              </a:extLst>
            </p:cNvPr>
            <p:cNvSpPr txBox="1"/>
            <p:nvPr/>
          </p:nvSpPr>
          <p:spPr>
            <a:xfrm>
              <a:off x="8280400" y="4254500"/>
              <a:ext cx="2921000" cy="381000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pt-BR" sz="2100" b="1" spc="-40">
                  <a:solidFill>
                    <a:srgbClr val="FFFFFF"/>
                  </a:solidFill>
                  <a:latin typeface="Urbanist" panose="020B0A04040200000203" pitchFamily="34" charset="0"/>
                </a:rPr>
                <a:t>Agentes de IA</a:t>
              </a:r>
            </a:p>
          </p:txBody>
        </p:sp>
        <p:sp>
          <p:nvSpPr>
            <p:cNvPr id="14" name="CaixaDeTexto 13">
              <a:extLst>
                <a:ext uri="{FF2B5EF4-FFF2-40B4-BE49-F238E27FC236}">
                  <a16:creationId xmlns:a16="http://schemas.microsoft.com/office/drawing/2014/main" id="{E53DB852-A63D-00C5-C080-8A69204C290D}"/>
                </a:ext>
              </a:extLst>
            </p:cNvPr>
            <p:cNvSpPr txBox="1"/>
            <p:nvPr/>
          </p:nvSpPr>
          <p:spPr>
            <a:xfrm>
              <a:off x="8280400" y="4686300"/>
              <a:ext cx="30734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135000"/>
                </a:lnSpc>
              </a:pPr>
              <a:r>
                <a:rPr lang="pt-BR" sz="1250">
                  <a:solidFill>
                    <a:srgbClr val="9BA1A6"/>
                  </a:solidFill>
                  <a:latin typeface="Instrument Sans Medium" pitchFamily="2" charset="0"/>
                </a:rPr>
                <a:t>IA conectada aos dados e sistemas da empresa, executando trabalho real.</a:t>
              </a:r>
            </a:p>
          </p:txBody>
        </p:sp>
      </p:grpSp>
      <p:cxnSp>
        <p:nvCxnSpPr>
          <p:cNvPr id="16" name="Conector reto 15">
            <a:extLst>
              <a:ext uri="{FF2B5EF4-FFF2-40B4-BE49-F238E27FC236}">
                <a16:creationId xmlns:a16="http://schemas.microsoft.com/office/drawing/2014/main" id="{C7302CD4-423F-363D-389A-75C4546AC31E}"/>
              </a:ext>
            </a:extLst>
          </p:cNvPr>
          <p:cNvCxnSpPr/>
          <p:nvPr/>
        </p:nvCxnSpPr>
        <p:spPr>
          <a:xfrm>
            <a:off x="4292600" y="2984500"/>
            <a:ext cx="0" cy="2476500"/>
          </a:xfrm>
          <a:prstGeom prst="line">
            <a:avLst/>
          </a:prstGeom>
          <a:ln w="12700" cap="flat" cmpd="sng" algn="ctr">
            <a:solidFill>
              <a:srgbClr val="FFFFFF">
                <a:alpha val="14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ector reto 16">
            <a:extLst>
              <a:ext uri="{FF2B5EF4-FFF2-40B4-BE49-F238E27FC236}">
                <a16:creationId xmlns:a16="http://schemas.microsoft.com/office/drawing/2014/main" id="{7F96BB08-6AA7-1FD9-FE5C-33E0E6198FC2}"/>
              </a:ext>
            </a:extLst>
          </p:cNvPr>
          <p:cNvCxnSpPr/>
          <p:nvPr/>
        </p:nvCxnSpPr>
        <p:spPr>
          <a:xfrm>
            <a:off x="7899400" y="2984500"/>
            <a:ext cx="0" cy="2476500"/>
          </a:xfrm>
          <a:prstGeom prst="line">
            <a:avLst/>
          </a:prstGeom>
          <a:ln w="12700" cap="flat" cmpd="sng" algn="ctr">
            <a:solidFill>
              <a:srgbClr val="FFFFFF">
                <a:alpha val="14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ector reto 17">
            <a:extLst>
              <a:ext uri="{FF2B5EF4-FFF2-40B4-BE49-F238E27FC236}">
                <a16:creationId xmlns:a16="http://schemas.microsoft.com/office/drawing/2014/main" id="{B1B40C27-8D53-0E2C-9B5B-E91FA802467B}"/>
              </a:ext>
            </a:extLst>
          </p:cNvPr>
          <p:cNvCxnSpPr/>
          <p:nvPr/>
        </p:nvCxnSpPr>
        <p:spPr>
          <a:xfrm>
            <a:off x="685800" y="6578600"/>
            <a:ext cx="10147300" cy="0"/>
          </a:xfrm>
          <a:prstGeom prst="line">
            <a:avLst/>
          </a:prstGeom>
          <a:ln w="19050" cap="flat" cmpd="sng" algn="ctr">
            <a:solidFill>
              <a:srgbClr val="FFFFFF">
                <a:alpha val="14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ector reto 18">
            <a:extLst>
              <a:ext uri="{FF2B5EF4-FFF2-40B4-BE49-F238E27FC236}">
                <a16:creationId xmlns:a16="http://schemas.microsoft.com/office/drawing/2014/main" id="{5218DE6B-3068-2707-83AC-0CC01CD01A61}"/>
              </a:ext>
            </a:extLst>
          </p:cNvPr>
          <p:cNvCxnSpPr/>
          <p:nvPr/>
        </p:nvCxnSpPr>
        <p:spPr>
          <a:xfrm>
            <a:off x="685800" y="6578600"/>
            <a:ext cx="4228042" cy="0"/>
          </a:xfrm>
          <a:prstGeom prst="line">
            <a:avLst/>
          </a:prstGeom>
          <a:ln w="19050" cap="flat" cmpd="sng" algn="ctr">
            <a:solidFill>
              <a:srgbClr val="46EB7E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Elipse 19">
            <a:extLst>
              <a:ext uri="{FF2B5EF4-FFF2-40B4-BE49-F238E27FC236}">
                <a16:creationId xmlns:a16="http://schemas.microsoft.com/office/drawing/2014/main" id="{EC1C8AC4-B897-A8F0-837A-0832FF32A8EC}"/>
              </a:ext>
            </a:extLst>
          </p:cNvPr>
          <p:cNvSpPr/>
          <p:nvPr/>
        </p:nvSpPr>
        <p:spPr>
          <a:xfrm>
            <a:off x="4863042" y="6527800"/>
            <a:ext cx="101600" cy="101600"/>
          </a:xfrm>
          <a:prstGeom prst="ellipse">
            <a:avLst/>
          </a:prstGeom>
          <a:solidFill>
            <a:srgbClr val="46EB7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04B55571-714E-589D-2B1C-CC8525FEADE1}"/>
              </a:ext>
            </a:extLst>
          </p:cNvPr>
          <p:cNvSpPr txBox="1"/>
          <p:nvPr/>
        </p:nvSpPr>
        <p:spPr>
          <a:xfrm>
            <a:off x="10947400" y="6502400"/>
            <a:ext cx="558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lnSpc>
                <a:spcPct val="104000"/>
              </a:lnSpc>
            </a:pPr>
            <a:r>
              <a:rPr lang="pt-BR" sz="850" spc="80">
                <a:solidFill>
                  <a:srgbClr val="9BA1A6"/>
                </a:solidFill>
                <a:latin typeface="Instrument Sans Medium" pitchFamily="2" charset="0"/>
              </a:rPr>
              <a:t>05 / 12</a:t>
            </a:r>
          </a:p>
        </p:txBody>
      </p:sp>
    </p:spTree>
    <p:extLst>
      <p:ext uri="{BB962C8B-B14F-4D97-AF65-F5344CB8AC3E}">
        <p14:creationId xmlns:p14="http://schemas.microsoft.com/office/powerpoint/2010/main" val="376222462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Agrupar 4">
            <a:extLst>
              <a:ext uri="{FF2B5EF4-FFF2-40B4-BE49-F238E27FC236}">
                <a16:creationId xmlns:a16="http://schemas.microsoft.com/office/drawing/2014/main" id="{641D0364-4745-DF26-89C3-3D02E9B7D4B8}"/>
              </a:ext>
            </a:extLst>
          </p:cNvPr>
          <p:cNvGrpSpPr/>
          <p:nvPr/>
        </p:nvGrpSpPr>
        <p:grpSpPr>
          <a:xfrm>
            <a:off x="685800" y="609600"/>
            <a:ext cx="10134600" cy="699532"/>
            <a:chOff x="685800" y="609600"/>
            <a:chExt cx="10134600" cy="699532"/>
          </a:xfrm>
        </p:grpSpPr>
        <p:sp>
          <p:nvSpPr>
            <p:cNvPr id="2" name="CaixaDeTexto 1">
              <a:extLst>
                <a:ext uri="{FF2B5EF4-FFF2-40B4-BE49-F238E27FC236}">
                  <a16:creationId xmlns:a16="http://schemas.microsoft.com/office/drawing/2014/main" id="{113414AB-57CA-1C97-B30D-2452A6DEE0C3}"/>
                </a:ext>
              </a:extLst>
            </p:cNvPr>
            <p:cNvSpPr txBox="1"/>
            <p:nvPr/>
          </p:nvSpPr>
          <p:spPr>
            <a:xfrm>
              <a:off x="685800" y="609600"/>
              <a:ext cx="14224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pt-BR" sz="6800" b="1" spc="-120">
                  <a:ln w="13970" cap="flat" cmpd="sng" algn="ctr">
                    <a:solidFill>
                      <a:srgbClr val="46EB7E">
                        <a:alpha val="65000"/>
                      </a:srgbClr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noFill/>
                  <a:latin typeface="Urbanist" panose="020B0A04040200000203" pitchFamily="34" charset="0"/>
                </a:rPr>
                <a:t>01</a:t>
              </a:r>
            </a:p>
          </p:txBody>
        </p:sp>
        <p:sp>
          <p:nvSpPr>
            <p:cNvPr id="3" name="CaixaDeTexto 2">
              <a:extLst>
                <a:ext uri="{FF2B5EF4-FFF2-40B4-BE49-F238E27FC236}">
                  <a16:creationId xmlns:a16="http://schemas.microsoft.com/office/drawing/2014/main" id="{3AA640AC-3903-407E-BE4E-28D99C532316}"/>
                </a:ext>
              </a:extLst>
            </p:cNvPr>
            <p:cNvSpPr txBox="1"/>
            <p:nvPr/>
          </p:nvSpPr>
          <p:spPr>
            <a:xfrm>
              <a:off x="2438400" y="660400"/>
              <a:ext cx="5080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104000"/>
                </a:lnSpc>
              </a:pPr>
              <a:r>
                <a:rPr lang="pt-BR" sz="1000" spc="170">
                  <a:solidFill>
                    <a:srgbClr val="46EB7E"/>
                  </a:solidFill>
                  <a:latin typeface="Instrument Sans Medium" pitchFamily="2" charset="0"/>
                </a:rPr>
                <a:t>NOVA RECEITA DIGITAL</a:t>
              </a:r>
            </a:p>
          </p:txBody>
        </p:sp>
        <p:sp>
          <p:nvSpPr>
            <p:cNvPr id="4" name="CaixaDeTexto 3">
              <a:extLst>
                <a:ext uri="{FF2B5EF4-FFF2-40B4-BE49-F238E27FC236}">
                  <a16:creationId xmlns:a16="http://schemas.microsoft.com/office/drawing/2014/main" id="{811E871B-929C-630C-92B9-AACEC572B1E7}"/>
                </a:ext>
              </a:extLst>
            </p:cNvPr>
            <p:cNvSpPr txBox="1"/>
            <p:nvPr/>
          </p:nvSpPr>
          <p:spPr>
            <a:xfrm>
              <a:off x="2438400" y="939800"/>
              <a:ext cx="8382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pt-BR" sz="3800" b="1" spc="-110">
                  <a:solidFill>
                    <a:srgbClr val="FFFFFF"/>
                  </a:solidFill>
                  <a:latin typeface="Urbanist" panose="020B0A04040200000203" pitchFamily="34" charset="0"/>
                </a:rPr>
                <a:t>Transforme sua base de clientes em uma </a:t>
              </a:r>
              <a:r>
                <a:rPr lang="pt-BR" sz="3800" b="1" spc="-110">
                  <a:solidFill>
                    <a:srgbClr val="46EB7E"/>
                  </a:solidFill>
                  <a:latin typeface="Urbanist" panose="020B0A04040200000203" pitchFamily="34" charset="0"/>
                </a:rPr>
                <a:t>nova fonte de receita.</a:t>
              </a:r>
            </a:p>
          </p:txBody>
        </p:sp>
      </p:grpSp>
      <p:sp>
        <p:nvSpPr>
          <p:cNvPr id="6" name="CaixaDeTexto 5">
            <a:extLst>
              <a:ext uri="{FF2B5EF4-FFF2-40B4-BE49-F238E27FC236}">
                <a16:creationId xmlns:a16="http://schemas.microsoft.com/office/drawing/2014/main" id="{117CD789-A80D-B5BC-12BE-4BF43BF2EF39}"/>
              </a:ext>
            </a:extLst>
          </p:cNvPr>
          <p:cNvSpPr txBox="1"/>
          <p:nvPr/>
        </p:nvSpPr>
        <p:spPr>
          <a:xfrm>
            <a:off x="9601200" y="660400"/>
            <a:ext cx="190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lnSpc>
                <a:spcPct val="104000"/>
              </a:lnSpc>
            </a:pPr>
            <a:r>
              <a:rPr lang="pt-BR" sz="850" spc="140">
                <a:solidFill>
                  <a:srgbClr val="9BA1A6"/>
                </a:solidFill>
                <a:latin typeface="Instrument Sans Medium" pitchFamily="2" charset="0"/>
              </a:rPr>
              <a:t>ILUSTRATIVO</a:t>
            </a:r>
          </a:p>
        </p:txBody>
      </p:sp>
      <p:grpSp>
        <p:nvGrpSpPr>
          <p:cNvPr id="25" name="Agrupar 24">
            <a:extLst>
              <a:ext uri="{FF2B5EF4-FFF2-40B4-BE49-F238E27FC236}">
                <a16:creationId xmlns:a16="http://schemas.microsoft.com/office/drawing/2014/main" id="{7E0EC13B-24AB-2000-CE3E-13790BF16439}"/>
              </a:ext>
            </a:extLst>
          </p:cNvPr>
          <p:cNvGrpSpPr/>
          <p:nvPr/>
        </p:nvGrpSpPr>
        <p:grpSpPr>
          <a:xfrm>
            <a:off x="654050" y="2260600"/>
            <a:ext cx="10045700" cy="3239532"/>
            <a:chOff x="654050" y="2260600"/>
            <a:chExt cx="10045700" cy="3239532"/>
          </a:xfrm>
        </p:grpSpPr>
        <p:cxnSp>
          <p:nvCxnSpPr>
            <p:cNvPr id="7" name="Conector reto 6">
              <a:extLst>
                <a:ext uri="{FF2B5EF4-FFF2-40B4-BE49-F238E27FC236}">
                  <a16:creationId xmlns:a16="http://schemas.microsoft.com/office/drawing/2014/main" id="{62283BF2-CEC3-3ED9-C761-A8C07A2B3860}"/>
                </a:ext>
              </a:extLst>
            </p:cNvPr>
            <p:cNvCxnSpPr/>
            <p:nvPr/>
          </p:nvCxnSpPr>
          <p:spPr>
            <a:xfrm>
              <a:off x="723900" y="4724400"/>
              <a:ext cx="9906000" cy="0"/>
            </a:xfrm>
            <a:prstGeom prst="line">
              <a:avLst/>
            </a:prstGeom>
            <a:ln w="15240" cap="flat" cmpd="sng" algn="ctr">
              <a:solidFill>
                <a:srgbClr val="FFFFFF">
                  <a:alpha val="14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Conector reto 7">
              <a:extLst>
                <a:ext uri="{FF2B5EF4-FFF2-40B4-BE49-F238E27FC236}">
                  <a16:creationId xmlns:a16="http://schemas.microsoft.com/office/drawing/2014/main" id="{8378FBD7-2AD3-AD5C-2362-9C3718BEAA09}"/>
                </a:ext>
              </a:extLst>
            </p:cNvPr>
            <p:cNvCxnSpPr/>
            <p:nvPr/>
          </p:nvCxnSpPr>
          <p:spPr>
            <a:xfrm flipV="1">
              <a:off x="723900" y="4305300"/>
              <a:ext cx="9906000" cy="177800"/>
            </a:xfrm>
            <a:prstGeom prst="line">
              <a:avLst/>
            </a:prstGeom>
            <a:ln w="17780" cap="flat" cmpd="sng" algn="ctr">
              <a:solidFill>
                <a:srgbClr val="FFFFFF">
                  <a:alpha val="28000"/>
                </a:srgbClr>
              </a:solidFill>
              <a:prstDash val="dash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53BD11B5-750F-738B-CB0B-3B99982B7B98}"/>
                </a:ext>
              </a:extLst>
            </p:cNvPr>
            <p:cNvSpPr txBox="1"/>
            <p:nvPr/>
          </p:nvSpPr>
          <p:spPr>
            <a:xfrm>
              <a:off x="8763000" y="4089400"/>
              <a:ext cx="18669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>
                <a:lnSpc>
                  <a:spcPct val="104000"/>
                </a:lnSpc>
              </a:pPr>
              <a:r>
                <a:rPr lang="pt-BR" sz="950">
                  <a:solidFill>
                    <a:srgbClr val="9BA1A6"/>
                  </a:solidFill>
                  <a:latin typeface="Instrument Sans Medium" pitchFamily="2" charset="0"/>
                </a:rPr>
                <a:t>receita atual</a:t>
              </a:r>
            </a:p>
          </p:txBody>
        </p:sp>
        <p:sp>
          <p:nvSpPr>
            <p:cNvPr id="10" name="Forma Livre: Forma 9">
              <a:extLst>
                <a:ext uri="{FF2B5EF4-FFF2-40B4-BE49-F238E27FC236}">
                  <a16:creationId xmlns:a16="http://schemas.microsoft.com/office/drawing/2014/main" id="{D05550D5-AA34-91C7-24C7-04EE85B2A695}"/>
                </a:ext>
              </a:extLst>
            </p:cNvPr>
            <p:cNvSpPr/>
            <p:nvPr/>
          </p:nvSpPr>
          <p:spPr>
            <a:xfrm>
              <a:off x="723900" y="2565400"/>
              <a:ext cx="9906001" cy="2159001"/>
            </a:xfrm>
            <a:custGeom>
              <a:avLst/>
              <a:gdLst/>
              <a:ahLst/>
              <a:cxnLst/>
              <a:rect l="0" t="0" r="0" b="0"/>
              <a:pathLst>
                <a:path w="9906001" h="2159001">
                  <a:moveTo>
                    <a:pt x="0" y="1879600"/>
                  </a:moveTo>
                  <a:cubicBezTo>
                    <a:pt x="1244600" y="1854200"/>
                    <a:pt x="2197100" y="1803400"/>
                    <a:pt x="3302000" y="1689100"/>
                  </a:cubicBezTo>
                  <a:cubicBezTo>
                    <a:pt x="4445000" y="1562100"/>
                    <a:pt x="5499100" y="1270000"/>
                    <a:pt x="6604000" y="889000"/>
                  </a:cubicBezTo>
                  <a:cubicBezTo>
                    <a:pt x="7747000" y="508000"/>
                    <a:pt x="8890000" y="254000"/>
                    <a:pt x="9906000" y="0"/>
                  </a:cubicBezTo>
                  <a:lnTo>
                    <a:pt x="9906000" y="2159000"/>
                  </a:lnTo>
                  <a:lnTo>
                    <a:pt x="0" y="2159000"/>
                  </a:lnTo>
                </a:path>
              </a:pathLst>
            </a:custGeom>
            <a:solidFill>
              <a:srgbClr val="46EB7E">
                <a:alpha val="10000"/>
              </a:srgbClr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Forma Livre: Forma 10">
              <a:extLst>
                <a:ext uri="{FF2B5EF4-FFF2-40B4-BE49-F238E27FC236}">
                  <a16:creationId xmlns:a16="http://schemas.microsoft.com/office/drawing/2014/main" id="{792046BD-6D32-0F5F-691D-F08DA2ACCD10}"/>
                </a:ext>
              </a:extLst>
            </p:cNvPr>
            <p:cNvSpPr/>
            <p:nvPr/>
          </p:nvSpPr>
          <p:spPr>
            <a:xfrm>
              <a:off x="723900" y="2565400"/>
              <a:ext cx="9906001" cy="1879601"/>
            </a:xfrm>
            <a:custGeom>
              <a:avLst/>
              <a:gdLst/>
              <a:ahLst/>
              <a:cxnLst/>
              <a:rect l="0" t="0" r="0" b="0"/>
              <a:pathLst>
                <a:path w="9906001" h="1879601">
                  <a:moveTo>
                    <a:pt x="0" y="1879600"/>
                  </a:moveTo>
                  <a:cubicBezTo>
                    <a:pt x="1244600" y="1854200"/>
                    <a:pt x="2197100" y="1803400"/>
                    <a:pt x="3302000" y="1689100"/>
                  </a:cubicBezTo>
                  <a:cubicBezTo>
                    <a:pt x="4445000" y="1562100"/>
                    <a:pt x="5499100" y="1270000"/>
                    <a:pt x="6604000" y="889000"/>
                  </a:cubicBezTo>
                  <a:cubicBezTo>
                    <a:pt x="7747000" y="508000"/>
                    <a:pt x="8890000" y="254000"/>
                    <a:pt x="9906000" y="0"/>
                  </a:cubicBezTo>
                </a:path>
              </a:pathLst>
            </a:custGeom>
            <a:ln w="30480" cap="flat" cmpd="sng" algn="ctr">
              <a:solidFill>
                <a:srgbClr val="46EB7E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CaixaDeTexto 11">
              <a:extLst>
                <a:ext uri="{FF2B5EF4-FFF2-40B4-BE49-F238E27FC236}">
                  <a16:creationId xmlns:a16="http://schemas.microsoft.com/office/drawing/2014/main" id="{C936EBAE-C9F5-44E6-40CF-263BC02788B2}"/>
                </a:ext>
              </a:extLst>
            </p:cNvPr>
            <p:cNvSpPr txBox="1"/>
            <p:nvPr/>
          </p:nvSpPr>
          <p:spPr>
            <a:xfrm>
              <a:off x="8763000" y="2260600"/>
              <a:ext cx="18669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>
                <a:lnSpc>
                  <a:spcPct val="104000"/>
                </a:lnSpc>
              </a:pPr>
              <a:r>
                <a:rPr lang="pt-BR" sz="950">
                  <a:solidFill>
                    <a:srgbClr val="46EB7E"/>
                  </a:solidFill>
                  <a:latin typeface="Instrument Sans Medium" pitchFamily="2" charset="0"/>
                </a:rPr>
                <a:t>nova receita digital</a:t>
              </a:r>
            </a:p>
          </p:txBody>
        </p:sp>
        <p:sp>
          <p:nvSpPr>
            <p:cNvPr id="13" name="Elipse 12">
              <a:extLst>
                <a:ext uri="{FF2B5EF4-FFF2-40B4-BE49-F238E27FC236}">
                  <a16:creationId xmlns:a16="http://schemas.microsoft.com/office/drawing/2014/main" id="{D13B07D3-59A5-A7F6-22E8-0C376FFC9A49}"/>
                </a:ext>
              </a:extLst>
            </p:cNvPr>
            <p:cNvSpPr/>
            <p:nvPr/>
          </p:nvSpPr>
          <p:spPr>
            <a:xfrm>
              <a:off x="654050" y="4375150"/>
              <a:ext cx="139700" cy="139700"/>
            </a:xfrm>
            <a:prstGeom prst="ellipse">
              <a:avLst/>
            </a:prstGeom>
            <a:solidFill>
              <a:srgbClr val="0B0B0C"/>
            </a:solidFill>
            <a:ln w="19050" cap="flat" cmpd="sng" algn="ctr">
              <a:solidFill>
                <a:srgbClr val="FFFFFF">
                  <a:alpha val="50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CaixaDeTexto 13">
              <a:extLst>
                <a:ext uri="{FF2B5EF4-FFF2-40B4-BE49-F238E27FC236}">
                  <a16:creationId xmlns:a16="http://schemas.microsoft.com/office/drawing/2014/main" id="{EB8DF6EB-FD31-6285-3202-F4ACF2DC6AE9}"/>
                </a:ext>
              </a:extLst>
            </p:cNvPr>
            <p:cNvSpPr txBox="1"/>
            <p:nvPr/>
          </p:nvSpPr>
          <p:spPr>
            <a:xfrm>
              <a:off x="723900" y="4902200"/>
              <a:ext cx="1905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104000"/>
                </a:lnSpc>
              </a:pPr>
              <a:r>
                <a:rPr lang="pt-BR" sz="1200">
                  <a:solidFill>
                    <a:srgbClr val="E8EAEC"/>
                  </a:solidFill>
                  <a:latin typeface="Instrument Sans Medium" pitchFamily="2" charset="0"/>
                </a:rPr>
                <a:t>Base atual</a:t>
              </a:r>
            </a:p>
          </p:txBody>
        </p:sp>
        <p:sp>
          <p:nvSpPr>
            <p:cNvPr id="15" name="CaixaDeTexto 14">
              <a:extLst>
                <a:ext uri="{FF2B5EF4-FFF2-40B4-BE49-F238E27FC236}">
                  <a16:creationId xmlns:a16="http://schemas.microsoft.com/office/drawing/2014/main" id="{96D2EB30-614E-385D-BE44-E68F6428B145}"/>
                </a:ext>
              </a:extLst>
            </p:cNvPr>
            <p:cNvSpPr txBox="1"/>
            <p:nvPr/>
          </p:nvSpPr>
          <p:spPr>
            <a:xfrm>
              <a:off x="723900" y="5130800"/>
              <a:ext cx="1905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104000"/>
                </a:lnSpc>
              </a:pPr>
              <a:r>
                <a:rPr lang="pt-BR" sz="950">
                  <a:solidFill>
                    <a:srgbClr val="9BA1A6"/>
                  </a:solidFill>
                  <a:latin typeface="Instrument Sans Medium" pitchFamily="2" charset="0"/>
                </a:rPr>
                <a:t>clientes, conhecimento, dados</a:t>
              </a:r>
            </a:p>
          </p:txBody>
        </p:sp>
        <p:sp>
          <p:nvSpPr>
            <p:cNvPr id="16" name="Elipse 15">
              <a:extLst>
                <a:ext uri="{FF2B5EF4-FFF2-40B4-BE49-F238E27FC236}">
                  <a16:creationId xmlns:a16="http://schemas.microsoft.com/office/drawing/2014/main" id="{8B11A253-0A6F-B2C4-448E-7955E7CB883E}"/>
                </a:ext>
              </a:extLst>
            </p:cNvPr>
            <p:cNvSpPr/>
            <p:nvPr/>
          </p:nvSpPr>
          <p:spPr>
            <a:xfrm>
              <a:off x="3956050" y="4184650"/>
              <a:ext cx="139700" cy="139700"/>
            </a:xfrm>
            <a:prstGeom prst="ellipse">
              <a:avLst/>
            </a:prstGeom>
            <a:solidFill>
              <a:srgbClr val="0B0B0C"/>
            </a:solidFill>
            <a:ln w="19050" cap="flat" cmpd="sng" algn="ctr">
              <a:solidFill>
                <a:srgbClr val="FFFFFF">
                  <a:alpha val="50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CaixaDeTexto 16">
              <a:extLst>
                <a:ext uri="{FF2B5EF4-FFF2-40B4-BE49-F238E27FC236}">
                  <a16:creationId xmlns:a16="http://schemas.microsoft.com/office/drawing/2014/main" id="{36592EAA-42C9-1610-BAF1-EEA038410770}"/>
                </a:ext>
              </a:extLst>
            </p:cNvPr>
            <p:cNvSpPr txBox="1"/>
            <p:nvPr/>
          </p:nvSpPr>
          <p:spPr>
            <a:xfrm>
              <a:off x="3073400" y="4902200"/>
              <a:ext cx="1905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ctr">
                <a:lnSpc>
                  <a:spcPct val="104000"/>
                </a:lnSpc>
              </a:pPr>
              <a:r>
                <a:rPr lang="pt-BR" sz="1200">
                  <a:solidFill>
                    <a:srgbClr val="E8EAEC"/>
                  </a:solidFill>
                  <a:latin typeface="Instrument Sans Medium" pitchFamily="2" charset="0"/>
                </a:rPr>
                <a:t>Produto</a:t>
              </a:r>
            </a:p>
          </p:txBody>
        </p:sp>
        <p:sp>
          <p:nvSpPr>
            <p:cNvPr id="18" name="CaixaDeTexto 17">
              <a:extLst>
                <a:ext uri="{FF2B5EF4-FFF2-40B4-BE49-F238E27FC236}">
                  <a16:creationId xmlns:a16="http://schemas.microsoft.com/office/drawing/2014/main" id="{4A5C1CC1-F545-1BBB-20D8-1F8D9EF899B8}"/>
                </a:ext>
              </a:extLst>
            </p:cNvPr>
            <p:cNvSpPr txBox="1"/>
            <p:nvPr/>
          </p:nvSpPr>
          <p:spPr>
            <a:xfrm>
              <a:off x="3073400" y="5130800"/>
              <a:ext cx="1905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ctr">
                <a:lnSpc>
                  <a:spcPct val="104000"/>
                </a:lnSpc>
              </a:pPr>
              <a:r>
                <a:rPr lang="pt-BR" sz="950">
                  <a:solidFill>
                    <a:srgbClr val="9BA1A6"/>
                  </a:solidFill>
                  <a:latin typeface="Instrument Sans Medium" pitchFamily="2" charset="0"/>
                </a:rPr>
                <a:t>novo produto digital</a:t>
              </a:r>
            </a:p>
          </p:txBody>
        </p:sp>
        <p:sp>
          <p:nvSpPr>
            <p:cNvPr id="19" name="Elipse 18">
              <a:extLst>
                <a:ext uri="{FF2B5EF4-FFF2-40B4-BE49-F238E27FC236}">
                  <a16:creationId xmlns:a16="http://schemas.microsoft.com/office/drawing/2014/main" id="{305D9116-9EF3-520A-D0CE-4DF8C4DFC4B4}"/>
                </a:ext>
              </a:extLst>
            </p:cNvPr>
            <p:cNvSpPr/>
            <p:nvPr/>
          </p:nvSpPr>
          <p:spPr>
            <a:xfrm>
              <a:off x="7258050" y="3384550"/>
              <a:ext cx="139700" cy="139700"/>
            </a:xfrm>
            <a:prstGeom prst="ellipse">
              <a:avLst/>
            </a:prstGeom>
            <a:solidFill>
              <a:srgbClr val="0B0B0C"/>
            </a:solidFill>
            <a:ln w="19050" cap="flat" cmpd="sng" algn="ctr">
              <a:solidFill>
                <a:srgbClr val="FFFFFF">
                  <a:alpha val="50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CaixaDeTexto 19">
              <a:extLst>
                <a:ext uri="{FF2B5EF4-FFF2-40B4-BE49-F238E27FC236}">
                  <a16:creationId xmlns:a16="http://schemas.microsoft.com/office/drawing/2014/main" id="{AD70CCBB-85B3-8F56-7F1C-F8B1DA5D74F2}"/>
                </a:ext>
              </a:extLst>
            </p:cNvPr>
            <p:cNvSpPr txBox="1"/>
            <p:nvPr/>
          </p:nvSpPr>
          <p:spPr>
            <a:xfrm>
              <a:off x="6375400" y="4902200"/>
              <a:ext cx="1905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ctr">
                <a:lnSpc>
                  <a:spcPct val="104000"/>
                </a:lnSpc>
              </a:pPr>
              <a:r>
                <a:rPr lang="pt-BR" sz="1200">
                  <a:solidFill>
                    <a:srgbClr val="E8EAEC"/>
                  </a:solidFill>
                  <a:latin typeface="Instrument Sans Medium" pitchFamily="2" charset="0"/>
                </a:rPr>
                <a:t>Assinatura</a:t>
              </a:r>
            </a:p>
          </p:txBody>
        </p:sp>
        <p:sp>
          <p:nvSpPr>
            <p:cNvPr id="21" name="CaixaDeTexto 20">
              <a:extLst>
                <a:ext uri="{FF2B5EF4-FFF2-40B4-BE49-F238E27FC236}">
                  <a16:creationId xmlns:a16="http://schemas.microsoft.com/office/drawing/2014/main" id="{50710443-2D5C-8383-A95E-670B12EE3AE3}"/>
                </a:ext>
              </a:extLst>
            </p:cNvPr>
            <p:cNvSpPr txBox="1"/>
            <p:nvPr/>
          </p:nvSpPr>
          <p:spPr>
            <a:xfrm>
              <a:off x="6375400" y="5130800"/>
              <a:ext cx="1905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ctr">
                <a:lnSpc>
                  <a:spcPct val="104000"/>
                </a:lnSpc>
              </a:pPr>
              <a:r>
                <a:rPr lang="pt-BR" sz="950">
                  <a:solidFill>
                    <a:srgbClr val="9BA1A6"/>
                  </a:solidFill>
                  <a:latin typeface="Instrument Sans Medium" pitchFamily="2" charset="0"/>
                </a:rPr>
                <a:t>modelo de cobrança</a:t>
              </a:r>
            </a:p>
          </p:txBody>
        </p:sp>
        <p:sp>
          <p:nvSpPr>
            <p:cNvPr id="22" name="Elipse 21">
              <a:extLst>
                <a:ext uri="{FF2B5EF4-FFF2-40B4-BE49-F238E27FC236}">
                  <a16:creationId xmlns:a16="http://schemas.microsoft.com/office/drawing/2014/main" id="{5A6E5E28-DB54-B1A8-991F-351AB8A46076}"/>
                </a:ext>
              </a:extLst>
            </p:cNvPr>
            <p:cNvSpPr/>
            <p:nvPr/>
          </p:nvSpPr>
          <p:spPr>
            <a:xfrm>
              <a:off x="10560050" y="2495550"/>
              <a:ext cx="139700" cy="139700"/>
            </a:xfrm>
            <a:prstGeom prst="ellipse">
              <a:avLst/>
            </a:prstGeom>
            <a:solidFill>
              <a:srgbClr val="46EB7E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" name="CaixaDeTexto 22">
              <a:extLst>
                <a:ext uri="{FF2B5EF4-FFF2-40B4-BE49-F238E27FC236}">
                  <a16:creationId xmlns:a16="http://schemas.microsoft.com/office/drawing/2014/main" id="{0406A940-3CC1-A7DC-0CFC-46BE1867C171}"/>
                </a:ext>
              </a:extLst>
            </p:cNvPr>
            <p:cNvSpPr txBox="1"/>
            <p:nvPr/>
          </p:nvSpPr>
          <p:spPr>
            <a:xfrm>
              <a:off x="8724900" y="4902200"/>
              <a:ext cx="1905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>
                <a:lnSpc>
                  <a:spcPct val="104000"/>
                </a:lnSpc>
              </a:pPr>
              <a:r>
                <a:rPr lang="pt-BR" sz="1200">
                  <a:solidFill>
                    <a:srgbClr val="46EB7E"/>
                  </a:solidFill>
                  <a:latin typeface="Instrument Sans Medium" pitchFamily="2" charset="0"/>
                </a:rPr>
                <a:t>Receita recorrente</a:t>
              </a:r>
            </a:p>
          </p:txBody>
        </p:sp>
        <p:sp>
          <p:nvSpPr>
            <p:cNvPr id="24" name="CaixaDeTexto 23">
              <a:extLst>
                <a:ext uri="{FF2B5EF4-FFF2-40B4-BE49-F238E27FC236}">
                  <a16:creationId xmlns:a16="http://schemas.microsoft.com/office/drawing/2014/main" id="{94B83057-8F4F-6DA6-7A5F-0F4D8DF46583}"/>
                </a:ext>
              </a:extLst>
            </p:cNvPr>
            <p:cNvSpPr txBox="1"/>
            <p:nvPr/>
          </p:nvSpPr>
          <p:spPr>
            <a:xfrm>
              <a:off x="8724900" y="5130800"/>
              <a:ext cx="1905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>
                <a:lnSpc>
                  <a:spcPct val="104000"/>
                </a:lnSpc>
              </a:pPr>
              <a:r>
                <a:rPr lang="pt-BR" sz="950">
                  <a:solidFill>
                    <a:srgbClr val="9BA1A6"/>
                  </a:solidFill>
                  <a:latin typeface="Instrument Sans Medium" pitchFamily="2" charset="0"/>
                </a:rPr>
                <a:t>nova linha de receita</a:t>
              </a:r>
            </a:p>
          </p:txBody>
        </p:sp>
      </p:grp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36ADC95C-5E8E-571A-09DF-E54799622C1C}"/>
              </a:ext>
            </a:extLst>
          </p:cNvPr>
          <p:cNvSpPr txBox="1"/>
          <p:nvPr/>
        </p:nvSpPr>
        <p:spPr>
          <a:xfrm>
            <a:off x="685800" y="5816600"/>
            <a:ext cx="1016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04000"/>
              </a:lnSpc>
            </a:pPr>
            <a:r>
              <a:rPr lang="pt-BR" sz="1400">
                <a:solidFill>
                  <a:srgbClr val="9BA1A6"/>
                </a:solidFill>
                <a:latin typeface="Instrument Sans Medium" pitchFamily="2" charset="0"/>
              </a:rPr>
              <a:t>Se parte dos seus clientes pagasse por um novo produto digital, </a:t>
            </a:r>
            <a:r>
              <a:rPr lang="pt-BR" sz="1400">
                <a:solidFill>
                  <a:srgbClr val="FFFFFF"/>
                </a:solidFill>
                <a:latin typeface="Instrument Sans Medium" pitchFamily="2" charset="0"/>
              </a:rPr>
              <a:t>o que valeria a pena construir?</a:t>
            </a:r>
          </a:p>
        </p:txBody>
      </p:sp>
      <p:cxnSp>
        <p:nvCxnSpPr>
          <p:cNvPr id="27" name="Conector reto 26">
            <a:extLst>
              <a:ext uri="{FF2B5EF4-FFF2-40B4-BE49-F238E27FC236}">
                <a16:creationId xmlns:a16="http://schemas.microsoft.com/office/drawing/2014/main" id="{7CBD2FD4-D019-9A6B-5731-EDC1702C83F1}"/>
              </a:ext>
            </a:extLst>
          </p:cNvPr>
          <p:cNvCxnSpPr/>
          <p:nvPr/>
        </p:nvCxnSpPr>
        <p:spPr>
          <a:xfrm>
            <a:off x="685800" y="6578600"/>
            <a:ext cx="10147300" cy="0"/>
          </a:xfrm>
          <a:prstGeom prst="line">
            <a:avLst/>
          </a:prstGeom>
          <a:ln w="19050" cap="flat" cmpd="sng" algn="ctr">
            <a:solidFill>
              <a:srgbClr val="FFFFFF">
                <a:alpha val="14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ector reto 27">
            <a:extLst>
              <a:ext uri="{FF2B5EF4-FFF2-40B4-BE49-F238E27FC236}">
                <a16:creationId xmlns:a16="http://schemas.microsoft.com/office/drawing/2014/main" id="{3DF82DE2-B465-11D8-1D33-79380E32E2AA}"/>
              </a:ext>
            </a:extLst>
          </p:cNvPr>
          <p:cNvCxnSpPr/>
          <p:nvPr/>
        </p:nvCxnSpPr>
        <p:spPr>
          <a:xfrm>
            <a:off x="685800" y="6578600"/>
            <a:ext cx="5073650" cy="0"/>
          </a:xfrm>
          <a:prstGeom prst="line">
            <a:avLst/>
          </a:prstGeom>
          <a:ln w="19050" cap="flat" cmpd="sng" algn="ctr">
            <a:solidFill>
              <a:srgbClr val="46EB7E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Elipse 28">
            <a:extLst>
              <a:ext uri="{FF2B5EF4-FFF2-40B4-BE49-F238E27FC236}">
                <a16:creationId xmlns:a16="http://schemas.microsoft.com/office/drawing/2014/main" id="{0AFFECD3-7132-CA52-692A-74A8940ABFF6}"/>
              </a:ext>
            </a:extLst>
          </p:cNvPr>
          <p:cNvSpPr/>
          <p:nvPr/>
        </p:nvSpPr>
        <p:spPr>
          <a:xfrm>
            <a:off x="5708650" y="6527800"/>
            <a:ext cx="101600" cy="101600"/>
          </a:xfrm>
          <a:prstGeom prst="ellipse">
            <a:avLst/>
          </a:prstGeom>
          <a:solidFill>
            <a:srgbClr val="46EB7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6C7BC176-1966-BD51-13CC-BE6592D4D145}"/>
              </a:ext>
            </a:extLst>
          </p:cNvPr>
          <p:cNvSpPr txBox="1"/>
          <p:nvPr/>
        </p:nvSpPr>
        <p:spPr>
          <a:xfrm>
            <a:off x="10947400" y="6502400"/>
            <a:ext cx="558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lnSpc>
                <a:spcPct val="104000"/>
              </a:lnSpc>
            </a:pPr>
            <a:r>
              <a:rPr lang="pt-BR" sz="850" spc="80">
                <a:solidFill>
                  <a:srgbClr val="9BA1A6"/>
                </a:solidFill>
                <a:latin typeface="Instrument Sans Medium" pitchFamily="2" charset="0"/>
              </a:rPr>
              <a:t>06 / 12</a:t>
            </a:r>
          </a:p>
        </p:txBody>
      </p:sp>
    </p:spTree>
    <p:extLst>
      <p:ext uri="{BB962C8B-B14F-4D97-AF65-F5344CB8AC3E}">
        <p14:creationId xmlns:p14="http://schemas.microsoft.com/office/powerpoint/2010/main" val="78642932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2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Agrupar 4">
            <a:extLst>
              <a:ext uri="{FF2B5EF4-FFF2-40B4-BE49-F238E27FC236}">
                <a16:creationId xmlns:a16="http://schemas.microsoft.com/office/drawing/2014/main" id="{6730ECD2-9AE5-603E-7FF8-7496F4C20226}"/>
              </a:ext>
            </a:extLst>
          </p:cNvPr>
          <p:cNvGrpSpPr/>
          <p:nvPr/>
        </p:nvGrpSpPr>
        <p:grpSpPr>
          <a:xfrm>
            <a:off x="685800" y="609600"/>
            <a:ext cx="10134600" cy="699532"/>
            <a:chOff x="685800" y="609600"/>
            <a:chExt cx="10134600" cy="699532"/>
          </a:xfrm>
        </p:grpSpPr>
        <p:sp>
          <p:nvSpPr>
            <p:cNvPr id="2" name="CaixaDeTexto 1">
              <a:extLst>
                <a:ext uri="{FF2B5EF4-FFF2-40B4-BE49-F238E27FC236}">
                  <a16:creationId xmlns:a16="http://schemas.microsoft.com/office/drawing/2014/main" id="{ADB95E56-E3A4-0E9A-80E9-E4E06493549A}"/>
                </a:ext>
              </a:extLst>
            </p:cNvPr>
            <p:cNvSpPr txBox="1"/>
            <p:nvPr/>
          </p:nvSpPr>
          <p:spPr>
            <a:xfrm>
              <a:off x="685800" y="609600"/>
              <a:ext cx="14224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pt-BR" sz="6800" b="1" spc="-120">
                  <a:ln w="13970" cap="flat" cmpd="sng" algn="ctr">
                    <a:solidFill>
                      <a:srgbClr val="46EB7E">
                        <a:alpha val="65000"/>
                      </a:srgbClr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noFill/>
                  <a:latin typeface="Urbanist" panose="020B0A04040200000203" pitchFamily="34" charset="0"/>
                </a:rPr>
                <a:t>02</a:t>
              </a:r>
            </a:p>
          </p:txBody>
        </p:sp>
        <p:sp>
          <p:nvSpPr>
            <p:cNvPr id="3" name="CaixaDeTexto 2">
              <a:extLst>
                <a:ext uri="{FF2B5EF4-FFF2-40B4-BE49-F238E27FC236}">
                  <a16:creationId xmlns:a16="http://schemas.microsoft.com/office/drawing/2014/main" id="{3FE2A060-9549-37DB-C86A-4BF2E94751C0}"/>
                </a:ext>
              </a:extLst>
            </p:cNvPr>
            <p:cNvSpPr txBox="1"/>
            <p:nvPr/>
          </p:nvSpPr>
          <p:spPr>
            <a:xfrm>
              <a:off x="2438400" y="660400"/>
              <a:ext cx="5080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104000"/>
                </a:lnSpc>
              </a:pPr>
              <a:r>
                <a:rPr lang="pt-BR" sz="1000" spc="170">
                  <a:solidFill>
                    <a:srgbClr val="46EB7E"/>
                  </a:solidFill>
                  <a:latin typeface="Instrument Sans Medium" pitchFamily="2" charset="0"/>
                </a:rPr>
                <a:t>SISTEMAS SOB MEDIDA</a:t>
              </a:r>
            </a:p>
          </p:txBody>
        </p:sp>
        <p:sp>
          <p:nvSpPr>
            <p:cNvPr id="4" name="CaixaDeTexto 3">
              <a:extLst>
                <a:ext uri="{FF2B5EF4-FFF2-40B4-BE49-F238E27FC236}">
                  <a16:creationId xmlns:a16="http://schemas.microsoft.com/office/drawing/2014/main" id="{17334369-5BEA-CB0F-893E-697FDA053493}"/>
                </a:ext>
              </a:extLst>
            </p:cNvPr>
            <p:cNvSpPr txBox="1"/>
            <p:nvPr/>
          </p:nvSpPr>
          <p:spPr>
            <a:xfrm>
              <a:off x="2438400" y="939800"/>
              <a:ext cx="8382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pt-BR" sz="3800" b="1" spc="-110">
                  <a:solidFill>
                    <a:srgbClr val="FFFFFF"/>
                  </a:solidFill>
                  <a:latin typeface="Urbanist" panose="020B0A04040200000203" pitchFamily="34" charset="0"/>
                </a:rPr>
                <a:t>Sua operação é única. </a:t>
              </a:r>
              <a:r>
                <a:rPr lang="pt-BR" sz="3800" b="1" spc="-110">
                  <a:solidFill>
                    <a:srgbClr val="46EB7E"/>
                  </a:solidFill>
                  <a:latin typeface="Urbanist" panose="020B0A04040200000203" pitchFamily="34" charset="0"/>
                </a:rPr>
                <a:t>Seu sistema também pode ser.</a:t>
              </a:r>
            </a:p>
          </p:txBody>
        </p:sp>
      </p:grpSp>
      <p:grpSp>
        <p:nvGrpSpPr>
          <p:cNvPr id="22" name="Agrupar 21">
            <a:extLst>
              <a:ext uri="{FF2B5EF4-FFF2-40B4-BE49-F238E27FC236}">
                <a16:creationId xmlns:a16="http://schemas.microsoft.com/office/drawing/2014/main" id="{64DC3C7C-08CD-4CA9-5B68-BD7D0B9C8708}"/>
              </a:ext>
            </a:extLst>
          </p:cNvPr>
          <p:cNvGrpSpPr/>
          <p:nvPr/>
        </p:nvGrpSpPr>
        <p:grpSpPr>
          <a:xfrm>
            <a:off x="685800" y="2628900"/>
            <a:ext cx="10045700" cy="2844800"/>
            <a:chOff x="685800" y="2628900"/>
            <a:chExt cx="10045700" cy="2844800"/>
          </a:xfrm>
        </p:grpSpPr>
        <p:sp>
          <p:nvSpPr>
            <p:cNvPr id="6" name="Forma Livre: Forma 5">
              <a:extLst>
                <a:ext uri="{FF2B5EF4-FFF2-40B4-BE49-F238E27FC236}">
                  <a16:creationId xmlns:a16="http://schemas.microsoft.com/office/drawing/2014/main" id="{CC2893C2-2EC0-CDED-1C0D-BCB822F286D4}"/>
                </a:ext>
              </a:extLst>
            </p:cNvPr>
            <p:cNvSpPr/>
            <p:nvPr/>
          </p:nvSpPr>
          <p:spPr>
            <a:xfrm>
              <a:off x="1866900" y="2819400"/>
              <a:ext cx="2692401" cy="927101"/>
            </a:xfrm>
            <a:custGeom>
              <a:avLst/>
              <a:gdLst/>
              <a:ahLst/>
              <a:cxnLst/>
              <a:rect l="0" t="0" r="0" b="0"/>
              <a:pathLst>
                <a:path w="2692401" h="927101">
                  <a:moveTo>
                    <a:pt x="0" y="0"/>
                  </a:moveTo>
                  <a:cubicBezTo>
                    <a:pt x="1727200" y="0"/>
                    <a:pt x="2184400" y="927100"/>
                    <a:pt x="2692400" y="927100"/>
                  </a:cubicBezTo>
                </a:path>
              </a:pathLst>
            </a:custGeom>
            <a:ln w="13970" cap="flat" cmpd="sng" algn="ctr">
              <a:solidFill>
                <a:srgbClr val="FFFFFF">
                  <a:alpha val="24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" name="Forma Livre: Forma 6">
              <a:extLst>
                <a:ext uri="{FF2B5EF4-FFF2-40B4-BE49-F238E27FC236}">
                  <a16:creationId xmlns:a16="http://schemas.microsoft.com/office/drawing/2014/main" id="{F9D6A625-A6B3-72DE-3158-DD7E5C556890}"/>
                </a:ext>
              </a:extLst>
            </p:cNvPr>
            <p:cNvSpPr/>
            <p:nvPr/>
          </p:nvSpPr>
          <p:spPr>
            <a:xfrm>
              <a:off x="2679700" y="3403600"/>
              <a:ext cx="1879601" cy="393701"/>
            </a:xfrm>
            <a:custGeom>
              <a:avLst/>
              <a:gdLst/>
              <a:ahLst/>
              <a:cxnLst/>
              <a:rect l="0" t="0" r="0" b="0"/>
              <a:pathLst>
                <a:path w="1879601" h="393701">
                  <a:moveTo>
                    <a:pt x="0" y="0"/>
                  </a:moveTo>
                  <a:cubicBezTo>
                    <a:pt x="1320800" y="0"/>
                    <a:pt x="1371600" y="393700"/>
                    <a:pt x="1879600" y="393700"/>
                  </a:cubicBezTo>
                </a:path>
              </a:pathLst>
            </a:custGeom>
            <a:ln w="13970" cap="flat" cmpd="sng" algn="ctr">
              <a:solidFill>
                <a:srgbClr val="FFFFFF">
                  <a:alpha val="24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" name="Forma Livre: Forma 7">
              <a:extLst>
                <a:ext uri="{FF2B5EF4-FFF2-40B4-BE49-F238E27FC236}">
                  <a16:creationId xmlns:a16="http://schemas.microsoft.com/office/drawing/2014/main" id="{7056757C-3DA4-07AC-AE05-7B63D5AC9C05}"/>
                </a:ext>
              </a:extLst>
            </p:cNvPr>
            <p:cNvSpPr/>
            <p:nvPr/>
          </p:nvSpPr>
          <p:spPr>
            <a:xfrm>
              <a:off x="1930400" y="3848100"/>
              <a:ext cx="2628901" cy="177801"/>
            </a:xfrm>
            <a:custGeom>
              <a:avLst/>
              <a:gdLst/>
              <a:ahLst/>
              <a:cxnLst/>
              <a:rect l="0" t="0" r="0" b="0"/>
              <a:pathLst>
                <a:path w="2628901" h="177801">
                  <a:moveTo>
                    <a:pt x="0" y="177800"/>
                  </a:moveTo>
                  <a:cubicBezTo>
                    <a:pt x="1695450" y="177800"/>
                    <a:pt x="2120900" y="0"/>
                    <a:pt x="2628900" y="0"/>
                  </a:cubicBezTo>
                </a:path>
              </a:pathLst>
            </a:custGeom>
            <a:ln w="13970" cap="flat" cmpd="sng" algn="ctr">
              <a:solidFill>
                <a:srgbClr val="FFFFFF">
                  <a:alpha val="24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" name="Forma Livre: Forma 8">
              <a:extLst>
                <a:ext uri="{FF2B5EF4-FFF2-40B4-BE49-F238E27FC236}">
                  <a16:creationId xmlns:a16="http://schemas.microsoft.com/office/drawing/2014/main" id="{A60516A6-1561-C255-06F4-D58AE21B916C}"/>
                </a:ext>
              </a:extLst>
            </p:cNvPr>
            <p:cNvSpPr/>
            <p:nvPr/>
          </p:nvSpPr>
          <p:spPr>
            <a:xfrm>
              <a:off x="3289300" y="3911600"/>
              <a:ext cx="1270001" cy="736601"/>
            </a:xfrm>
            <a:custGeom>
              <a:avLst/>
              <a:gdLst/>
              <a:ahLst/>
              <a:cxnLst/>
              <a:rect l="0" t="0" r="0" b="0"/>
              <a:pathLst>
                <a:path w="1270001" h="736601">
                  <a:moveTo>
                    <a:pt x="0" y="736600"/>
                  </a:moveTo>
                  <a:cubicBezTo>
                    <a:pt x="1016000" y="736600"/>
                    <a:pt x="762000" y="0"/>
                    <a:pt x="1270000" y="0"/>
                  </a:cubicBezTo>
                </a:path>
              </a:pathLst>
            </a:custGeom>
            <a:ln w="13970" cap="flat" cmpd="sng" algn="ctr">
              <a:solidFill>
                <a:srgbClr val="FFFFFF">
                  <a:alpha val="24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Forma Livre: Forma 9">
              <a:extLst>
                <a:ext uri="{FF2B5EF4-FFF2-40B4-BE49-F238E27FC236}">
                  <a16:creationId xmlns:a16="http://schemas.microsoft.com/office/drawing/2014/main" id="{15ABDC93-7C4A-EA1F-E2A9-CE987BB7136D}"/>
                </a:ext>
              </a:extLst>
            </p:cNvPr>
            <p:cNvSpPr/>
            <p:nvPr/>
          </p:nvSpPr>
          <p:spPr>
            <a:xfrm>
              <a:off x="2159000" y="3962400"/>
              <a:ext cx="2400301" cy="1320801"/>
            </a:xfrm>
            <a:custGeom>
              <a:avLst/>
              <a:gdLst/>
              <a:ahLst/>
              <a:cxnLst/>
              <a:rect l="0" t="0" r="0" b="0"/>
              <a:pathLst>
                <a:path w="2400301" h="1320801">
                  <a:moveTo>
                    <a:pt x="0" y="1320800"/>
                  </a:moveTo>
                  <a:cubicBezTo>
                    <a:pt x="1581150" y="1320800"/>
                    <a:pt x="1892300" y="0"/>
                    <a:pt x="2400300" y="0"/>
                  </a:cubicBezTo>
                </a:path>
              </a:pathLst>
            </a:custGeom>
            <a:ln w="13970" cap="flat" cmpd="sng" algn="ctr">
              <a:solidFill>
                <a:srgbClr val="FFFFFF">
                  <a:alpha val="24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Retângulo: Cantos Arredondados 10">
              <a:extLst>
                <a:ext uri="{FF2B5EF4-FFF2-40B4-BE49-F238E27FC236}">
                  <a16:creationId xmlns:a16="http://schemas.microsoft.com/office/drawing/2014/main" id="{1534AAAA-E413-34EE-14C4-B11120861B33}"/>
                </a:ext>
              </a:extLst>
            </p:cNvPr>
            <p:cNvSpPr/>
            <p:nvPr/>
          </p:nvSpPr>
          <p:spPr>
            <a:xfrm>
              <a:off x="685800" y="2628900"/>
              <a:ext cx="1181100" cy="381000"/>
            </a:xfrm>
            <a:prstGeom prst="roundRect">
              <a:avLst>
                <a:gd name="adj" fmla="val 50000"/>
              </a:avLst>
            </a:prstGeom>
            <a:solidFill>
              <a:srgbClr val="131316"/>
            </a:solidFill>
            <a:ln w="12700" cap="flat" cmpd="sng" algn="ctr">
              <a:solidFill>
                <a:srgbClr val="FFFFFF">
                  <a:alpha val="20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50800" tIns="0" rIns="50800" bIns="0" rtlCol="0" anchor="ctr">
              <a:noAutofit/>
            </a:bodyPr>
            <a:lstStyle/>
            <a:p>
              <a:pPr algn="ctr"/>
              <a:r>
                <a:rPr lang="pt-BR" sz="1050">
                  <a:solidFill>
                    <a:srgbClr val="E8EAEC"/>
                  </a:solidFill>
                  <a:latin typeface="Instrument Sans Medium" pitchFamily="2" charset="0"/>
                </a:rPr>
                <a:t>Planilhas</a:t>
              </a:r>
            </a:p>
          </p:txBody>
        </p:sp>
        <p:sp>
          <p:nvSpPr>
            <p:cNvPr id="12" name="Retângulo: Cantos Arredondados 11">
              <a:extLst>
                <a:ext uri="{FF2B5EF4-FFF2-40B4-BE49-F238E27FC236}">
                  <a16:creationId xmlns:a16="http://schemas.microsoft.com/office/drawing/2014/main" id="{432BE046-D63C-AD22-1190-77AA5D13B12C}"/>
                </a:ext>
              </a:extLst>
            </p:cNvPr>
            <p:cNvSpPr/>
            <p:nvPr/>
          </p:nvSpPr>
          <p:spPr>
            <a:xfrm>
              <a:off x="1765300" y="3213100"/>
              <a:ext cx="914400" cy="381000"/>
            </a:xfrm>
            <a:prstGeom prst="roundRect">
              <a:avLst>
                <a:gd name="adj" fmla="val 50000"/>
              </a:avLst>
            </a:prstGeom>
            <a:solidFill>
              <a:srgbClr val="131316"/>
            </a:solidFill>
            <a:ln w="12700" cap="flat" cmpd="sng" algn="ctr">
              <a:solidFill>
                <a:srgbClr val="FFFFFF">
                  <a:alpha val="20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50800" tIns="0" rIns="50800" bIns="0" rtlCol="0" anchor="ctr">
              <a:noAutofit/>
            </a:bodyPr>
            <a:lstStyle/>
            <a:p>
              <a:pPr algn="ctr"/>
              <a:r>
                <a:rPr lang="pt-BR" sz="1050">
                  <a:solidFill>
                    <a:srgbClr val="E8EAEC"/>
                  </a:solidFill>
                  <a:latin typeface="Instrument Sans Medium" pitchFamily="2" charset="0"/>
                </a:rPr>
                <a:t>ERP</a:t>
              </a:r>
            </a:p>
          </p:txBody>
        </p:sp>
        <p:sp>
          <p:nvSpPr>
            <p:cNvPr id="13" name="Retângulo: Cantos Arredondados 12">
              <a:extLst>
                <a:ext uri="{FF2B5EF4-FFF2-40B4-BE49-F238E27FC236}">
                  <a16:creationId xmlns:a16="http://schemas.microsoft.com/office/drawing/2014/main" id="{C4F088D2-55A9-36EC-ED2D-1F854136004B}"/>
                </a:ext>
              </a:extLst>
            </p:cNvPr>
            <p:cNvSpPr/>
            <p:nvPr/>
          </p:nvSpPr>
          <p:spPr>
            <a:xfrm>
              <a:off x="876300" y="3835400"/>
              <a:ext cx="1054100" cy="381000"/>
            </a:xfrm>
            <a:prstGeom prst="roundRect">
              <a:avLst>
                <a:gd name="adj" fmla="val 50000"/>
              </a:avLst>
            </a:prstGeom>
            <a:solidFill>
              <a:srgbClr val="131316"/>
            </a:solidFill>
            <a:ln w="12700" cap="flat" cmpd="sng" algn="ctr">
              <a:solidFill>
                <a:srgbClr val="FFFFFF">
                  <a:alpha val="20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50800" tIns="0" rIns="50800" bIns="0" rtlCol="0" anchor="ctr">
              <a:noAutofit/>
            </a:bodyPr>
            <a:lstStyle/>
            <a:p>
              <a:pPr algn="ctr"/>
              <a:r>
                <a:rPr lang="pt-BR" sz="1050">
                  <a:solidFill>
                    <a:srgbClr val="E8EAEC"/>
                  </a:solidFill>
                  <a:latin typeface="Instrument Sans Medium" pitchFamily="2" charset="0"/>
                </a:rPr>
                <a:t>E-mail</a:t>
              </a:r>
            </a:p>
          </p:txBody>
        </p:sp>
        <p:sp>
          <p:nvSpPr>
            <p:cNvPr id="14" name="Retângulo: Cantos Arredondados 13">
              <a:extLst>
                <a:ext uri="{FF2B5EF4-FFF2-40B4-BE49-F238E27FC236}">
                  <a16:creationId xmlns:a16="http://schemas.microsoft.com/office/drawing/2014/main" id="{102F2AE9-7AEF-9626-360F-194C86FDA74F}"/>
                </a:ext>
              </a:extLst>
            </p:cNvPr>
            <p:cNvSpPr/>
            <p:nvPr/>
          </p:nvSpPr>
          <p:spPr>
            <a:xfrm>
              <a:off x="1955800" y="4457700"/>
              <a:ext cx="1333500" cy="381000"/>
            </a:xfrm>
            <a:prstGeom prst="roundRect">
              <a:avLst>
                <a:gd name="adj" fmla="val 50000"/>
              </a:avLst>
            </a:prstGeom>
            <a:solidFill>
              <a:srgbClr val="131316"/>
            </a:solidFill>
            <a:ln w="12700" cap="flat" cmpd="sng" algn="ctr">
              <a:solidFill>
                <a:srgbClr val="FFFFFF">
                  <a:alpha val="20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50800" tIns="0" rIns="50800" bIns="0" rtlCol="0" anchor="ctr">
              <a:noAutofit/>
            </a:bodyPr>
            <a:lstStyle/>
            <a:p>
              <a:pPr algn="ctr"/>
              <a:r>
                <a:rPr lang="pt-BR" sz="1050">
                  <a:solidFill>
                    <a:srgbClr val="E8EAEC"/>
                  </a:solidFill>
                  <a:latin typeface="Instrument Sans Medium" pitchFamily="2" charset="0"/>
                </a:rPr>
                <a:t>Documentos</a:t>
              </a:r>
            </a:p>
          </p:txBody>
        </p:sp>
        <p:sp>
          <p:nvSpPr>
            <p:cNvPr id="15" name="Retângulo: Cantos Arredondados 14">
              <a:extLst>
                <a:ext uri="{FF2B5EF4-FFF2-40B4-BE49-F238E27FC236}">
                  <a16:creationId xmlns:a16="http://schemas.microsoft.com/office/drawing/2014/main" id="{7FC66229-21AD-6D9D-A36F-B481F4CDEB6F}"/>
                </a:ext>
              </a:extLst>
            </p:cNvPr>
            <p:cNvSpPr/>
            <p:nvPr/>
          </p:nvSpPr>
          <p:spPr>
            <a:xfrm>
              <a:off x="1104900" y="5092700"/>
              <a:ext cx="1054100" cy="381000"/>
            </a:xfrm>
            <a:prstGeom prst="roundRect">
              <a:avLst>
                <a:gd name="adj" fmla="val 50000"/>
              </a:avLst>
            </a:prstGeom>
            <a:solidFill>
              <a:srgbClr val="131316"/>
            </a:solidFill>
            <a:ln w="12700" cap="flat" cmpd="sng" algn="ctr">
              <a:solidFill>
                <a:srgbClr val="FFFFFF">
                  <a:alpha val="20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50800" tIns="0" rIns="50800" bIns="0" rtlCol="0" anchor="ctr">
              <a:noAutofit/>
            </a:bodyPr>
            <a:lstStyle/>
            <a:p>
              <a:pPr algn="ctr"/>
              <a:r>
                <a:rPr lang="pt-BR" sz="1050">
                  <a:solidFill>
                    <a:srgbClr val="E8EAEC"/>
                  </a:solidFill>
                  <a:latin typeface="Instrument Sans Medium" pitchFamily="2" charset="0"/>
                </a:rPr>
                <a:t>Pessoas</a:t>
              </a:r>
            </a:p>
          </p:txBody>
        </p:sp>
        <p:sp>
          <p:nvSpPr>
            <p:cNvPr id="16" name="Retângulo: Cantos Arredondados 15">
              <a:extLst>
                <a:ext uri="{FF2B5EF4-FFF2-40B4-BE49-F238E27FC236}">
                  <a16:creationId xmlns:a16="http://schemas.microsoft.com/office/drawing/2014/main" id="{62A5E104-9045-9772-AF44-330AC4FA53FA}"/>
                </a:ext>
              </a:extLst>
            </p:cNvPr>
            <p:cNvSpPr/>
            <p:nvPr/>
          </p:nvSpPr>
          <p:spPr>
            <a:xfrm>
              <a:off x="4559300" y="3327400"/>
              <a:ext cx="2768600" cy="1104900"/>
            </a:xfrm>
            <a:prstGeom prst="roundRect">
              <a:avLst>
                <a:gd name="adj" fmla="val 22000"/>
              </a:avLst>
            </a:prstGeom>
            <a:solidFill>
              <a:srgbClr val="46EB7E">
                <a:alpha val="6000"/>
              </a:srgbClr>
            </a:solidFill>
            <a:ln w="19050" cap="flat" cmpd="sng" algn="ctr">
              <a:solidFill>
                <a:srgbClr val="46EB7E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CaixaDeTexto 16">
              <a:extLst>
                <a:ext uri="{FF2B5EF4-FFF2-40B4-BE49-F238E27FC236}">
                  <a16:creationId xmlns:a16="http://schemas.microsoft.com/office/drawing/2014/main" id="{C55A5637-6791-EF29-0EA7-4D2E08835606}"/>
                </a:ext>
              </a:extLst>
            </p:cNvPr>
            <p:cNvSpPr txBox="1"/>
            <p:nvPr/>
          </p:nvSpPr>
          <p:spPr>
            <a:xfrm>
              <a:off x="4559300" y="3657600"/>
              <a:ext cx="27686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pt-BR" sz="1600" b="1">
                  <a:solidFill>
                    <a:srgbClr val="FFFFFF"/>
                  </a:solidFill>
                  <a:latin typeface="Urbanist" panose="020B0A04040200000203" pitchFamily="34" charset="0"/>
                </a:rPr>
                <a:t>Sistema sob medida</a:t>
              </a:r>
            </a:p>
          </p:txBody>
        </p:sp>
        <p:sp>
          <p:nvSpPr>
            <p:cNvPr id="18" name="CaixaDeTexto 17">
              <a:extLst>
                <a:ext uri="{FF2B5EF4-FFF2-40B4-BE49-F238E27FC236}">
                  <a16:creationId xmlns:a16="http://schemas.microsoft.com/office/drawing/2014/main" id="{80995BAF-5F1A-DBBE-F392-01B0CC47A9ED}"/>
                </a:ext>
              </a:extLst>
            </p:cNvPr>
            <p:cNvSpPr txBox="1"/>
            <p:nvPr/>
          </p:nvSpPr>
          <p:spPr>
            <a:xfrm>
              <a:off x="4559300" y="3987800"/>
              <a:ext cx="27686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ctr">
                <a:lnSpc>
                  <a:spcPct val="104000"/>
                </a:lnSpc>
              </a:pPr>
              <a:r>
                <a:rPr lang="pt-BR" sz="950">
                  <a:solidFill>
                    <a:srgbClr val="9BA1A6"/>
                  </a:solidFill>
                  <a:latin typeface="Instrument Sans Medium" pitchFamily="2" charset="0"/>
                </a:rPr>
                <a:t>construído em torno da operação</a:t>
              </a:r>
            </a:p>
          </p:txBody>
        </p:sp>
        <p:cxnSp>
          <p:nvCxnSpPr>
            <p:cNvPr id="19" name="Conector reto 18">
              <a:extLst>
                <a:ext uri="{FF2B5EF4-FFF2-40B4-BE49-F238E27FC236}">
                  <a16:creationId xmlns:a16="http://schemas.microsoft.com/office/drawing/2014/main" id="{A95F5FAD-475A-9A5A-F2F5-B628D66BFF76}"/>
                </a:ext>
              </a:extLst>
            </p:cNvPr>
            <p:cNvCxnSpPr/>
            <p:nvPr/>
          </p:nvCxnSpPr>
          <p:spPr>
            <a:xfrm>
              <a:off x="7327900" y="3873500"/>
              <a:ext cx="711200" cy="0"/>
            </a:xfrm>
            <a:prstGeom prst="line">
              <a:avLst/>
            </a:prstGeom>
            <a:ln w="15240" cap="flat" cmpd="sng" algn="ctr">
              <a:solidFill>
                <a:srgbClr val="FFFFFF">
                  <a:alpha val="30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Elipse 19">
              <a:extLst>
                <a:ext uri="{FF2B5EF4-FFF2-40B4-BE49-F238E27FC236}">
                  <a16:creationId xmlns:a16="http://schemas.microsoft.com/office/drawing/2014/main" id="{EB7E2851-2DC7-1B39-D2D9-3F7122118C61}"/>
                </a:ext>
              </a:extLst>
            </p:cNvPr>
            <p:cNvSpPr/>
            <p:nvPr/>
          </p:nvSpPr>
          <p:spPr>
            <a:xfrm>
              <a:off x="7645400" y="3835400"/>
              <a:ext cx="76200" cy="76200"/>
            </a:xfrm>
            <a:prstGeom prst="ellipse">
              <a:avLst/>
            </a:prstGeom>
            <a:solidFill>
              <a:srgbClr val="46EB7E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" name="Retângulo: Cantos Arredondados 20">
              <a:extLst>
                <a:ext uri="{FF2B5EF4-FFF2-40B4-BE49-F238E27FC236}">
                  <a16:creationId xmlns:a16="http://schemas.microsoft.com/office/drawing/2014/main" id="{68199C09-88B2-40B4-B8FB-0D8ADFDB9437}"/>
                </a:ext>
              </a:extLst>
            </p:cNvPr>
            <p:cNvSpPr/>
            <p:nvPr/>
          </p:nvSpPr>
          <p:spPr>
            <a:xfrm>
              <a:off x="8064500" y="3644900"/>
              <a:ext cx="2667000" cy="457200"/>
            </a:xfrm>
            <a:prstGeom prst="roundRect">
              <a:avLst>
                <a:gd name="adj" fmla="val 50000"/>
              </a:avLst>
            </a:prstGeom>
            <a:solidFill>
              <a:srgbClr val="46EB7E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50800" tIns="0" rIns="50800" bIns="0" rtlCol="0" anchor="ctr"/>
            <a:lstStyle/>
            <a:p>
              <a:pPr algn="ctr"/>
              <a:r>
                <a:rPr lang="pt-BR" sz="1250">
                  <a:solidFill>
                    <a:srgbClr val="0B0B0C"/>
                  </a:solidFill>
                  <a:latin typeface="Instrument Sans Medium" pitchFamily="2" charset="0"/>
                </a:rPr>
                <a:t>Decisão com visibilidade</a:t>
              </a:r>
            </a:p>
          </p:txBody>
        </p:sp>
      </p:grp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0C37474D-A524-5626-8B68-ADF0D476A90B}"/>
              </a:ext>
            </a:extLst>
          </p:cNvPr>
          <p:cNvSpPr txBox="1"/>
          <p:nvPr/>
        </p:nvSpPr>
        <p:spPr>
          <a:xfrm>
            <a:off x="685800" y="5816600"/>
            <a:ext cx="889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04000"/>
              </a:lnSpc>
            </a:pPr>
            <a:r>
              <a:rPr lang="pt-BR" sz="1400">
                <a:solidFill>
                  <a:srgbClr val="FFFFFF"/>
                </a:solidFill>
                <a:latin typeface="Instrument Sans Medium" pitchFamily="2" charset="0"/>
              </a:rPr>
              <a:t>Você conhece seu negócio;</a:t>
            </a:r>
            <a:r>
              <a:rPr lang="pt-BR" sz="1400">
                <a:solidFill>
                  <a:srgbClr val="9BA1A6"/>
                </a:solidFill>
                <a:latin typeface="Instrument Sans Medium" pitchFamily="2" charset="0"/>
              </a:rPr>
              <a:t> nós conhecemos tecnologia.</a:t>
            </a:r>
          </a:p>
        </p:txBody>
      </p:sp>
      <p:cxnSp>
        <p:nvCxnSpPr>
          <p:cNvPr id="24" name="Conector reto 23">
            <a:extLst>
              <a:ext uri="{FF2B5EF4-FFF2-40B4-BE49-F238E27FC236}">
                <a16:creationId xmlns:a16="http://schemas.microsoft.com/office/drawing/2014/main" id="{F9048276-DE6E-901F-90A4-3A3C0DCA1F02}"/>
              </a:ext>
            </a:extLst>
          </p:cNvPr>
          <p:cNvCxnSpPr/>
          <p:nvPr/>
        </p:nvCxnSpPr>
        <p:spPr>
          <a:xfrm>
            <a:off x="685800" y="6578600"/>
            <a:ext cx="10147300" cy="0"/>
          </a:xfrm>
          <a:prstGeom prst="line">
            <a:avLst/>
          </a:prstGeom>
          <a:ln w="19050" cap="flat" cmpd="sng" algn="ctr">
            <a:solidFill>
              <a:srgbClr val="FFFFFF">
                <a:alpha val="14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ector reto 24">
            <a:extLst>
              <a:ext uri="{FF2B5EF4-FFF2-40B4-BE49-F238E27FC236}">
                <a16:creationId xmlns:a16="http://schemas.microsoft.com/office/drawing/2014/main" id="{3E005A4A-3C3D-56E7-E70E-79CA73A36523}"/>
              </a:ext>
            </a:extLst>
          </p:cNvPr>
          <p:cNvCxnSpPr/>
          <p:nvPr/>
        </p:nvCxnSpPr>
        <p:spPr>
          <a:xfrm>
            <a:off x="685800" y="6578600"/>
            <a:ext cx="5919258" cy="0"/>
          </a:xfrm>
          <a:prstGeom prst="line">
            <a:avLst/>
          </a:prstGeom>
          <a:ln w="19050" cap="flat" cmpd="sng" algn="ctr">
            <a:solidFill>
              <a:srgbClr val="46EB7E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Elipse 25">
            <a:extLst>
              <a:ext uri="{FF2B5EF4-FFF2-40B4-BE49-F238E27FC236}">
                <a16:creationId xmlns:a16="http://schemas.microsoft.com/office/drawing/2014/main" id="{8F497935-7398-604B-942D-ABF1BEDBFF66}"/>
              </a:ext>
            </a:extLst>
          </p:cNvPr>
          <p:cNvSpPr/>
          <p:nvPr/>
        </p:nvSpPr>
        <p:spPr>
          <a:xfrm>
            <a:off x="6554258" y="6527800"/>
            <a:ext cx="101600" cy="101600"/>
          </a:xfrm>
          <a:prstGeom prst="ellipse">
            <a:avLst/>
          </a:prstGeom>
          <a:solidFill>
            <a:srgbClr val="46EB7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91908CCB-A4F9-1C8F-D932-067AFD881E92}"/>
              </a:ext>
            </a:extLst>
          </p:cNvPr>
          <p:cNvSpPr txBox="1"/>
          <p:nvPr/>
        </p:nvSpPr>
        <p:spPr>
          <a:xfrm>
            <a:off x="10947400" y="6502400"/>
            <a:ext cx="558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lnSpc>
                <a:spcPct val="104000"/>
              </a:lnSpc>
            </a:pPr>
            <a:r>
              <a:rPr lang="pt-BR" sz="850" spc="80">
                <a:solidFill>
                  <a:srgbClr val="9BA1A6"/>
                </a:solidFill>
                <a:latin typeface="Instrument Sans Medium" pitchFamily="2" charset="0"/>
              </a:rPr>
              <a:t>07 / 12</a:t>
            </a:r>
          </a:p>
        </p:txBody>
      </p:sp>
    </p:spTree>
    <p:extLst>
      <p:ext uri="{BB962C8B-B14F-4D97-AF65-F5344CB8AC3E}">
        <p14:creationId xmlns:p14="http://schemas.microsoft.com/office/powerpoint/2010/main" val="401860717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Agrupar 4">
            <a:extLst>
              <a:ext uri="{FF2B5EF4-FFF2-40B4-BE49-F238E27FC236}">
                <a16:creationId xmlns:a16="http://schemas.microsoft.com/office/drawing/2014/main" id="{C50AF743-07E1-238A-4DB3-7550F2FC844D}"/>
              </a:ext>
            </a:extLst>
          </p:cNvPr>
          <p:cNvGrpSpPr/>
          <p:nvPr/>
        </p:nvGrpSpPr>
        <p:grpSpPr>
          <a:xfrm>
            <a:off x="685800" y="609600"/>
            <a:ext cx="10134600" cy="699532"/>
            <a:chOff x="685800" y="609600"/>
            <a:chExt cx="10134600" cy="699532"/>
          </a:xfrm>
        </p:grpSpPr>
        <p:sp>
          <p:nvSpPr>
            <p:cNvPr id="2" name="CaixaDeTexto 1">
              <a:extLst>
                <a:ext uri="{FF2B5EF4-FFF2-40B4-BE49-F238E27FC236}">
                  <a16:creationId xmlns:a16="http://schemas.microsoft.com/office/drawing/2014/main" id="{B11CA0F4-7D42-5A0C-9868-31FD10E61991}"/>
                </a:ext>
              </a:extLst>
            </p:cNvPr>
            <p:cNvSpPr txBox="1"/>
            <p:nvPr/>
          </p:nvSpPr>
          <p:spPr>
            <a:xfrm>
              <a:off x="685800" y="609600"/>
              <a:ext cx="14224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pt-BR" sz="6800" b="1" spc="-120">
                  <a:ln w="13970" cap="flat" cmpd="sng" algn="ctr">
                    <a:solidFill>
                      <a:srgbClr val="46EB7E">
                        <a:alpha val="65000"/>
                      </a:srgbClr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noFill/>
                  <a:latin typeface="Urbanist" panose="020B0A04040200000203" pitchFamily="34" charset="0"/>
                </a:rPr>
                <a:t>03</a:t>
              </a:r>
            </a:p>
          </p:txBody>
        </p:sp>
        <p:sp>
          <p:nvSpPr>
            <p:cNvPr id="3" name="CaixaDeTexto 2">
              <a:extLst>
                <a:ext uri="{FF2B5EF4-FFF2-40B4-BE49-F238E27FC236}">
                  <a16:creationId xmlns:a16="http://schemas.microsoft.com/office/drawing/2014/main" id="{9EB9B944-CB9E-FED5-994C-65E78BC63938}"/>
                </a:ext>
              </a:extLst>
            </p:cNvPr>
            <p:cNvSpPr txBox="1"/>
            <p:nvPr/>
          </p:nvSpPr>
          <p:spPr>
            <a:xfrm>
              <a:off x="2438400" y="660400"/>
              <a:ext cx="5080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104000"/>
                </a:lnSpc>
              </a:pPr>
              <a:r>
                <a:rPr lang="pt-BR" sz="1000" spc="170">
                  <a:solidFill>
                    <a:srgbClr val="46EB7E"/>
                  </a:solidFill>
                  <a:latin typeface="Instrument Sans Medium" pitchFamily="2" charset="0"/>
                </a:rPr>
                <a:t>AGENTES DE IA</a:t>
              </a:r>
            </a:p>
          </p:txBody>
        </p:sp>
        <p:sp>
          <p:nvSpPr>
            <p:cNvPr id="4" name="CaixaDeTexto 3">
              <a:extLst>
                <a:ext uri="{FF2B5EF4-FFF2-40B4-BE49-F238E27FC236}">
                  <a16:creationId xmlns:a16="http://schemas.microsoft.com/office/drawing/2014/main" id="{363025E2-DE63-9C43-3465-49408DEF2C8B}"/>
                </a:ext>
              </a:extLst>
            </p:cNvPr>
            <p:cNvSpPr txBox="1"/>
            <p:nvPr/>
          </p:nvSpPr>
          <p:spPr>
            <a:xfrm>
              <a:off x="2438400" y="939800"/>
              <a:ext cx="8382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pt-BR" sz="3800" b="1" spc="-110">
                  <a:solidFill>
                    <a:srgbClr val="FFFFFF"/>
                  </a:solidFill>
                  <a:latin typeface="Urbanist" panose="020B0A04040200000203" pitchFamily="34" charset="0"/>
                </a:rPr>
                <a:t>Coloque a IA para </a:t>
              </a:r>
              <a:r>
                <a:rPr lang="pt-BR" sz="3800" b="1" spc="-110">
                  <a:solidFill>
                    <a:srgbClr val="46EB7E"/>
                  </a:solidFill>
                  <a:latin typeface="Urbanist" panose="020B0A04040200000203" pitchFamily="34" charset="0"/>
                </a:rPr>
                <a:t>executar trabalho</a:t>
              </a:r>
              <a:r>
                <a:rPr lang="pt-BR" sz="3800" b="1" spc="-110">
                  <a:solidFill>
                    <a:srgbClr val="FFFFFF"/>
                  </a:solidFill>
                  <a:latin typeface="Urbanist" panose="020B0A04040200000203" pitchFamily="34" charset="0"/>
                </a:rPr>
                <a:t> dentro da sua empresa.</a:t>
              </a:r>
            </a:p>
          </p:txBody>
        </p:sp>
      </p:grpSp>
      <p:grpSp>
        <p:nvGrpSpPr>
          <p:cNvPr id="26" name="Agrupar 25">
            <a:extLst>
              <a:ext uri="{FF2B5EF4-FFF2-40B4-BE49-F238E27FC236}">
                <a16:creationId xmlns:a16="http://schemas.microsoft.com/office/drawing/2014/main" id="{23A112C4-29C3-9C49-825B-6E66C2FDF2EF}"/>
              </a:ext>
            </a:extLst>
          </p:cNvPr>
          <p:cNvGrpSpPr/>
          <p:nvPr/>
        </p:nvGrpSpPr>
        <p:grpSpPr>
          <a:xfrm>
            <a:off x="666750" y="2514600"/>
            <a:ext cx="8616950" cy="2743200"/>
            <a:chOff x="666750" y="2514600"/>
            <a:chExt cx="8616950" cy="2743200"/>
          </a:xfrm>
        </p:grpSpPr>
        <p:sp>
          <p:nvSpPr>
            <p:cNvPr id="6" name="Elipse 5">
              <a:extLst>
                <a:ext uri="{FF2B5EF4-FFF2-40B4-BE49-F238E27FC236}">
                  <a16:creationId xmlns:a16="http://schemas.microsoft.com/office/drawing/2014/main" id="{8BE65F02-E782-4E8C-3ADD-D4EED7FF9274}"/>
                </a:ext>
              </a:extLst>
            </p:cNvPr>
            <p:cNvSpPr/>
            <p:nvPr/>
          </p:nvSpPr>
          <p:spPr>
            <a:xfrm>
              <a:off x="2222500" y="2654300"/>
              <a:ext cx="2514600" cy="2514600"/>
            </a:xfrm>
            <a:prstGeom prst="ellipse">
              <a:avLst/>
            </a:prstGeom>
            <a:noFill/>
            <a:ln w="15240" cap="flat" cmpd="sng" algn="ctr">
              <a:solidFill>
                <a:srgbClr val="FFFFFF">
                  <a:alpha val="14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7" name="Conector reto 6">
              <a:extLst>
                <a:ext uri="{FF2B5EF4-FFF2-40B4-BE49-F238E27FC236}">
                  <a16:creationId xmlns:a16="http://schemas.microsoft.com/office/drawing/2014/main" id="{05BE585B-279B-708F-5111-F8B5899D09ED}"/>
                </a:ext>
              </a:extLst>
            </p:cNvPr>
            <p:cNvCxnSpPr/>
            <p:nvPr/>
          </p:nvCxnSpPr>
          <p:spPr>
            <a:xfrm flipV="1">
              <a:off x="3479800" y="2781300"/>
              <a:ext cx="635000" cy="1130300"/>
            </a:xfrm>
            <a:prstGeom prst="line">
              <a:avLst/>
            </a:prstGeom>
            <a:ln w="15240" cap="flat" cmpd="sng" algn="ctr">
              <a:solidFill>
                <a:srgbClr val="FFFFFF">
                  <a:alpha val="22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Conector reto 7">
              <a:extLst>
                <a:ext uri="{FF2B5EF4-FFF2-40B4-BE49-F238E27FC236}">
                  <a16:creationId xmlns:a16="http://schemas.microsoft.com/office/drawing/2014/main" id="{0084ECAA-5620-A2E8-88FB-5B7491A57F0D}"/>
                </a:ext>
              </a:extLst>
            </p:cNvPr>
            <p:cNvCxnSpPr/>
            <p:nvPr/>
          </p:nvCxnSpPr>
          <p:spPr>
            <a:xfrm flipH="1" flipV="1">
              <a:off x="2305050" y="2686050"/>
              <a:ext cx="1174750" cy="1225550"/>
            </a:xfrm>
            <a:prstGeom prst="line">
              <a:avLst/>
            </a:prstGeom>
            <a:ln w="15240" cap="flat" cmpd="sng" algn="ctr">
              <a:solidFill>
                <a:srgbClr val="FFFFFF">
                  <a:alpha val="22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Conector reto 8">
              <a:extLst>
                <a:ext uri="{FF2B5EF4-FFF2-40B4-BE49-F238E27FC236}">
                  <a16:creationId xmlns:a16="http://schemas.microsoft.com/office/drawing/2014/main" id="{8B1C407E-D28E-4B54-EDCE-EF02223265B3}"/>
                </a:ext>
              </a:extLst>
            </p:cNvPr>
            <p:cNvCxnSpPr/>
            <p:nvPr/>
          </p:nvCxnSpPr>
          <p:spPr>
            <a:xfrm flipH="1" flipV="1">
              <a:off x="1352550" y="3476625"/>
              <a:ext cx="2127250" cy="434975"/>
            </a:xfrm>
            <a:prstGeom prst="line">
              <a:avLst/>
            </a:prstGeom>
            <a:ln w="15240" cap="flat" cmpd="sng" algn="ctr">
              <a:solidFill>
                <a:srgbClr val="FFFFFF">
                  <a:alpha val="22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ector reto 9">
              <a:extLst>
                <a:ext uri="{FF2B5EF4-FFF2-40B4-BE49-F238E27FC236}">
                  <a16:creationId xmlns:a16="http://schemas.microsoft.com/office/drawing/2014/main" id="{1CF84190-FCF1-62B7-8E48-0CB5F9D32C59}"/>
                </a:ext>
              </a:extLst>
            </p:cNvPr>
            <p:cNvCxnSpPr/>
            <p:nvPr/>
          </p:nvCxnSpPr>
          <p:spPr>
            <a:xfrm flipH="1">
              <a:off x="1352550" y="3911600"/>
              <a:ext cx="2127250" cy="422275"/>
            </a:xfrm>
            <a:prstGeom prst="line">
              <a:avLst/>
            </a:prstGeom>
            <a:ln w="15240" cap="flat" cmpd="sng" algn="ctr">
              <a:solidFill>
                <a:srgbClr val="FFFFFF">
                  <a:alpha val="22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ector reto 10">
              <a:extLst>
                <a:ext uri="{FF2B5EF4-FFF2-40B4-BE49-F238E27FC236}">
                  <a16:creationId xmlns:a16="http://schemas.microsoft.com/office/drawing/2014/main" id="{6A7792FB-FF2B-AA3F-6679-751D6D2992FE}"/>
                </a:ext>
              </a:extLst>
            </p:cNvPr>
            <p:cNvCxnSpPr/>
            <p:nvPr/>
          </p:nvCxnSpPr>
          <p:spPr>
            <a:xfrm flipH="1">
              <a:off x="2305050" y="3911600"/>
              <a:ext cx="1174750" cy="1174750"/>
            </a:xfrm>
            <a:prstGeom prst="line">
              <a:avLst/>
            </a:prstGeom>
            <a:ln w="15240" cap="flat" cmpd="sng" algn="ctr">
              <a:solidFill>
                <a:srgbClr val="FFFFFF">
                  <a:alpha val="22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ector reto 11">
              <a:extLst>
                <a:ext uri="{FF2B5EF4-FFF2-40B4-BE49-F238E27FC236}">
                  <a16:creationId xmlns:a16="http://schemas.microsoft.com/office/drawing/2014/main" id="{23589C01-3686-248D-B280-9F2FDF318E2D}"/>
                </a:ext>
              </a:extLst>
            </p:cNvPr>
            <p:cNvCxnSpPr/>
            <p:nvPr/>
          </p:nvCxnSpPr>
          <p:spPr>
            <a:xfrm>
              <a:off x="3479800" y="3911600"/>
              <a:ext cx="635000" cy="1079500"/>
            </a:xfrm>
            <a:prstGeom prst="line">
              <a:avLst/>
            </a:prstGeom>
            <a:ln w="15240" cap="flat" cmpd="sng" algn="ctr">
              <a:solidFill>
                <a:srgbClr val="FFFFFF">
                  <a:alpha val="22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ector reto 12">
              <a:extLst>
                <a:ext uri="{FF2B5EF4-FFF2-40B4-BE49-F238E27FC236}">
                  <a16:creationId xmlns:a16="http://schemas.microsoft.com/office/drawing/2014/main" id="{08155048-0313-9FF4-4A00-231F9789EF62}"/>
                </a:ext>
              </a:extLst>
            </p:cNvPr>
            <p:cNvCxnSpPr/>
            <p:nvPr/>
          </p:nvCxnSpPr>
          <p:spPr>
            <a:xfrm flipV="1">
              <a:off x="3987800" y="3441700"/>
              <a:ext cx="2146300" cy="292100"/>
            </a:xfrm>
            <a:prstGeom prst="line">
              <a:avLst/>
            </a:prstGeom>
            <a:ln w="15240" cap="flat" cmpd="sng" algn="ctr">
              <a:solidFill>
                <a:srgbClr val="FFFFFF">
                  <a:alpha val="30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reto 13">
              <a:extLst>
                <a:ext uri="{FF2B5EF4-FFF2-40B4-BE49-F238E27FC236}">
                  <a16:creationId xmlns:a16="http://schemas.microsoft.com/office/drawing/2014/main" id="{9AAD02B6-175A-0496-417E-D395A40D98F6}"/>
                </a:ext>
              </a:extLst>
            </p:cNvPr>
            <p:cNvCxnSpPr/>
            <p:nvPr/>
          </p:nvCxnSpPr>
          <p:spPr>
            <a:xfrm>
              <a:off x="3987800" y="4089400"/>
              <a:ext cx="2146300" cy="266700"/>
            </a:xfrm>
            <a:prstGeom prst="line">
              <a:avLst/>
            </a:prstGeom>
            <a:ln w="15240" cap="flat" cmpd="sng" algn="ctr">
              <a:solidFill>
                <a:srgbClr val="FFFFFF">
                  <a:alpha val="30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Elipse 14">
              <a:extLst>
                <a:ext uri="{FF2B5EF4-FFF2-40B4-BE49-F238E27FC236}">
                  <a16:creationId xmlns:a16="http://schemas.microsoft.com/office/drawing/2014/main" id="{2248F046-58CE-BC88-332A-55A4DA6E917A}"/>
                </a:ext>
              </a:extLst>
            </p:cNvPr>
            <p:cNvSpPr/>
            <p:nvPr/>
          </p:nvSpPr>
          <p:spPr>
            <a:xfrm>
              <a:off x="4787900" y="3594100"/>
              <a:ext cx="76200" cy="76200"/>
            </a:xfrm>
            <a:prstGeom prst="ellipse">
              <a:avLst/>
            </a:prstGeom>
            <a:solidFill>
              <a:srgbClr val="46EB7E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Retângulo: Cantos Arredondados 15">
              <a:extLst>
                <a:ext uri="{FF2B5EF4-FFF2-40B4-BE49-F238E27FC236}">
                  <a16:creationId xmlns:a16="http://schemas.microsoft.com/office/drawing/2014/main" id="{F355B83C-1239-D19D-D770-2771A3A75A23}"/>
                </a:ext>
              </a:extLst>
            </p:cNvPr>
            <p:cNvSpPr/>
            <p:nvPr/>
          </p:nvSpPr>
          <p:spPr>
            <a:xfrm>
              <a:off x="3619500" y="2609850"/>
              <a:ext cx="990600" cy="342900"/>
            </a:xfrm>
            <a:prstGeom prst="roundRect">
              <a:avLst>
                <a:gd name="adj" fmla="val 50000"/>
              </a:avLst>
            </a:prstGeom>
            <a:solidFill>
              <a:srgbClr val="131316"/>
            </a:solidFill>
            <a:ln w="12700" cap="flat" cmpd="sng" algn="ctr">
              <a:solidFill>
                <a:srgbClr val="FFFFFF">
                  <a:alpha val="20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50800" tIns="0" rIns="50800" bIns="0" rtlCol="0" anchor="ctr">
              <a:noAutofit/>
            </a:bodyPr>
            <a:lstStyle/>
            <a:p>
              <a:pPr algn="ctr"/>
              <a:r>
                <a:rPr lang="pt-BR" sz="1050">
                  <a:solidFill>
                    <a:srgbClr val="E8EAEC"/>
                  </a:solidFill>
                  <a:latin typeface="Instrument Sans Medium" pitchFamily="2" charset="0"/>
                </a:rPr>
                <a:t>CRM</a:t>
              </a:r>
            </a:p>
          </p:txBody>
        </p:sp>
        <p:sp>
          <p:nvSpPr>
            <p:cNvPr id="17" name="Retângulo: Cantos Arredondados 16">
              <a:extLst>
                <a:ext uri="{FF2B5EF4-FFF2-40B4-BE49-F238E27FC236}">
                  <a16:creationId xmlns:a16="http://schemas.microsoft.com/office/drawing/2014/main" id="{A9D3670F-7FCB-0E3B-F423-16A9AC3112E9}"/>
                </a:ext>
              </a:extLst>
            </p:cNvPr>
            <p:cNvSpPr/>
            <p:nvPr/>
          </p:nvSpPr>
          <p:spPr>
            <a:xfrm>
              <a:off x="1809750" y="2514600"/>
              <a:ext cx="990600" cy="342900"/>
            </a:xfrm>
            <a:prstGeom prst="roundRect">
              <a:avLst>
                <a:gd name="adj" fmla="val 50000"/>
              </a:avLst>
            </a:prstGeom>
            <a:solidFill>
              <a:srgbClr val="131316"/>
            </a:solidFill>
            <a:ln w="12700" cap="flat" cmpd="sng" algn="ctr">
              <a:solidFill>
                <a:srgbClr val="FFFFFF">
                  <a:alpha val="20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50800" tIns="0" rIns="50800" bIns="0" rtlCol="0" anchor="ctr">
              <a:noAutofit/>
            </a:bodyPr>
            <a:lstStyle/>
            <a:p>
              <a:pPr algn="ctr"/>
              <a:r>
                <a:rPr lang="pt-BR" sz="1050">
                  <a:solidFill>
                    <a:srgbClr val="E8EAEC"/>
                  </a:solidFill>
                  <a:latin typeface="Instrument Sans Medium" pitchFamily="2" charset="0"/>
                </a:rPr>
                <a:t>ERP</a:t>
              </a:r>
            </a:p>
          </p:txBody>
        </p:sp>
        <p:sp>
          <p:nvSpPr>
            <p:cNvPr id="18" name="Retângulo: Cantos Arredondados 17">
              <a:extLst>
                <a:ext uri="{FF2B5EF4-FFF2-40B4-BE49-F238E27FC236}">
                  <a16:creationId xmlns:a16="http://schemas.microsoft.com/office/drawing/2014/main" id="{CD1F98D1-31E1-90EA-A6E3-9B8B2FA1067E}"/>
                </a:ext>
              </a:extLst>
            </p:cNvPr>
            <p:cNvSpPr/>
            <p:nvPr/>
          </p:nvSpPr>
          <p:spPr>
            <a:xfrm>
              <a:off x="666750" y="3305175"/>
              <a:ext cx="1371600" cy="342900"/>
            </a:xfrm>
            <a:prstGeom prst="roundRect">
              <a:avLst>
                <a:gd name="adj" fmla="val 50000"/>
              </a:avLst>
            </a:prstGeom>
            <a:solidFill>
              <a:srgbClr val="131316"/>
            </a:solidFill>
            <a:ln w="12700" cap="flat" cmpd="sng" algn="ctr">
              <a:solidFill>
                <a:srgbClr val="FFFFFF">
                  <a:alpha val="20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50800" tIns="0" rIns="50800" bIns="0" rtlCol="0" anchor="ctr">
              <a:noAutofit/>
            </a:bodyPr>
            <a:lstStyle/>
            <a:p>
              <a:pPr algn="ctr"/>
              <a:r>
                <a:rPr lang="pt-BR" sz="1050">
                  <a:solidFill>
                    <a:srgbClr val="E8EAEC"/>
                  </a:solidFill>
                  <a:latin typeface="Instrument Sans Medium" pitchFamily="2" charset="0"/>
                </a:rPr>
                <a:t>WhatsApp</a:t>
              </a:r>
            </a:p>
          </p:txBody>
        </p:sp>
        <p:sp>
          <p:nvSpPr>
            <p:cNvPr id="19" name="Retângulo: Cantos Arredondados 18">
              <a:extLst>
                <a:ext uri="{FF2B5EF4-FFF2-40B4-BE49-F238E27FC236}">
                  <a16:creationId xmlns:a16="http://schemas.microsoft.com/office/drawing/2014/main" id="{FD81977D-9E60-AD2F-5CD2-0D7906779DB3}"/>
                </a:ext>
              </a:extLst>
            </p:cNvPr>
            <p:cNvSpPr/>
            <p:nvPr/>
          </p:nvSpPr>
          <p:spPr>
            <a:xfrm>
              <a:off x="666750" y="4162425"/>
              <a:ext cx="1371600" cy="342900"/>
            </a:xfrm>
            <a:prstGeom prst="roundRect">
              <a:avLst>
                <a:gd name="adj" fmla="val 50000"/>
              </a:avLst>
            </a:prstGeom>
            <a:solidFill>
              <a:srgbClr val="131316"/>
            </a:solidFill>
            <a:ln w="12700" cap="flat" cmpd="sng" algn="ctr">
              <a:solidFill>
                <a:srgbClr val="FFFFFF">
                  <a:alpha val="20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50800" tIns="0" rIns="50800" bIns="0" rtlCol="0" anchor="ctr">
              <a:noAutofit/>
            </a:bodyPr>
            <a:lstStyle/>
            <a:p>
              <a:pPr algn="ctr"/>
              <a:r>
                <a:rPr lang="pt-BR" sz="1050">
                  <a:solidFill>
                    <a:srgbClr val="E8EAEC"/>
                  </a:solidFill>
                  <a:latin typeface="Instrument Sans Medium" pitchFamily="2" charset="0"/>
                </a:rPr>
                <a:t>E-mail</a:t>
              </a:r>
            </a:p>
          </p:txBody>
        </p:sp>
        <p:sp>
          <p:nvSpPr>
            <p:cNvPr id="20" name="Retângulo: Cantos Arredondados 19">
              <a:extLst>
                <a:ext uri="{FF2B5EF4-FFF2-40B4-BE49-F238E27FC236}">
                  <a16:creationId xmlns:a16="http://schemas.microsoft.com/office/drawing/2014/main" id="{025804F2-79F4-D2B8-4721-7E09802CD7F1}"/>
                </a:ext>
              </a:extLst>
            </p:cNvPr>
            <p:cNvSpPr/>
            <p:nvPr/>
          </p:nvSpPr>
          <p:spPr>
            <a:xfrm>
              <a:off x="1714500" y="4914900"/>
              <a:ext cx="1181100" cy="342900"/>
            </a:xfrm>
            <a:prstGeom prst="roundRect">
              <a:avLst>
                <a:gd name="adj" fmla="val 50000"/>
              </a:avLst>
            </a:prstGeom>
            <a:solidFill>
              <a:srgbClr val="131316"/>
            </a:solidFill>
            <a:ln w="12700" cap="flat" cmpd="sng" algn="ctr">
              <a:solidFill>
                <a:srgbClr val="FFFFFF">
                  <a:alpha val="20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50800" tIns="0" rIns="50800" bIns="0" rtlCol="0" anchor="ctr">
              <a:noAutofit/>
            </a:bodyPr>
            <a:lstStyle/>
            <a:p>
              <a:pPr algn="ctr"/>
              <a:r>
                <a:rPr lang="pt-BR" sz="1050">
                  <a:solidFill>
                    <a:srgbClr val="E8EAEC"/>
                  </a:solidFill>
                  <a:latin typeface="Instrument Sans Medium" pitchFamily="2" charset="0"/>
                </a:rPr>
                <a:t>Documentos</a:t>
              </a:r>
            </a:p>
          </p:txBody>
        </p:sp>
        <p:sp>
          <p:nvSpPr>
            <p:cNvPr id="21" name="Retângulo: Cantos Arredondados 20">
              <a:extLst>
                <a:ext uri="{FF2B5EF4-FFF2-40B4-BE49-F238E27FC236}">
                  <a16:creationId xmlns:a16="http://schemas.microsoft.com/office/drawing/2014/main" id="{24BAC972-67E6-7363-9F89-FEC34AA44AE1}"/>
                </a:ext>
              </a:extLst>
            </p:cNvPr>
            <p:cNvSpPr/>
            <p:nvPr/>
          </p:nvSpPr>
          <p:spPr>
            <a:xfrm>
              <a:off x="3619500" y="4819650"/>
              <a:ext cx="990600" cy="342900"/>
            </a:xfrm>
            <a:prstGeom prst="roundRect">
              <a:avLst>
                <a:gd name="adj" fmla="val 50000"/>
              </a:avLst>
            </a:prstGeom>
            <a:solidFill>
              <a:srgbClr val="131316"/>
            </a:solidFill>
            <a:ln w="12700" cap="flat" cmpd="sng" algn="ctr">
              <a:solidFill>
                <a:srgbClr val="FFFFFF">
                  <a:alpha val="20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50800" tIns="0" rIns="50800" bIns="0" rtlCol="0" anchor="ctr">
              <a:noAutofit/>
            </a:bodyPr>
            <a:lstStyle/>
            <a:p>
              <a:pPr algn="ctr"/>
              <a:r>
                <a:rPr lang="pt-BR" sz="1050">
                  <a:solidFill>
                    <a:srgbClr val="E8EAEC"/>
                  </a:solidFill>
                  <a:latin typeface="Instrument Sans Medium" pitchFamily="2" charset="0"/>
                </a:rPr>
                <a:t>APIs</a:t>
              </a:r>
            </a:p>
          </p:txBody>
        </p:sp>
        <p:sp>
          <p:nvSpPr>
            <p:cNvPr id="22" name="Elipse 21">
              <a:extLst>
                <a:ext uri="{FF2B5EF4-FFF2-40B4-BE49-F238E27FC236}">
                  <a16:creationId xmlns:a16="http://schemas.microsoft.com/office/drawing/2014/main" id="{F016A4E9-0BFF-6D3A-A377-49BA3F6BF00A}"/>
                </a:ext>
              </a:extLst>
            </p:cNvPr>
            <p:cNvSpPr/>
            <p:nvPr/>
          </p:nvSpPr>
          <p:spPr>
            <a:xfrm>
              <a:off x="2933700" y="3365500"/>
              <a:ext cx="1092200" cy="1092200"/>
            </a:xfrm>
            <a:prstGeom prst="ellipse">
              <a:avLst/>
            </a:prstGeom>
            <a:solidFill>
              <a:srgbClr val="101711"/>
            </a:solidFill>
            <a:ln w="19050" cap="flat" cmpd="sng" algn="ctr">
              <a:solidFill>
                <a:srgbClr val="46EB7E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" name="CaixaDeTexto 22">
              <a:extLst>
                <a:ext uri="{FF2B5EF4-FFF2-40B4-BE49-F238E27FC236}">
                  <a16:creationId xmlns:a16="http://schemas.microsoft.com/office/drawing/2014/main" id="{4FE4AD53-BB8D-9454-20AB-1C4625563D6B}"/>
                </a:ext>
              </a:extLst>
            </p:cNvPr>
            <p:cNvSpPr txBox="1"/>
            <p:nvPr/>
          </p:nvSpPr>
          <p:spPr>
            <a:xfrm>
              <a:off x="2971800" y="3797300"/>
              <a:ext cx="1016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pt-BR" sz="1400" b="1">
                  <a:solidFill>
                    <a:srgbClr val="FFFFFF"/>
                  </a:solidFill>
                  <a:latin typeface="Urbanist" panose="020B0A04040200000203" pitchFamily="34" charset="0"/>
                </a:rPr>
                <a:t>Agente</a:t>
              </a:r>
            </a:p>
          </p:txBody>
        </p:sp>
        <p:sp>
          <p:nvSpPr>
            <p:cNvPr id="24" name="Retângulo: Cantos Arredondados 23">
              <a:extLst>
                <a:ext uri="{FF2B5EF4-FFF2-40B4-BE49-F238E27FC236}">
                  <a16:creationId xmlns:a16="http://schemas.microsoft.com/office/drawing/2014/main" id="{784C54D3-1646-C69D-49F1-2CF6D803E7BF}"/>
                </a:ext>
              </a:extLst>
            </p:cNvPr>
            <p:cNvSpPr/>
            <p:nvPr/>
          </p:nvSpPr>
          <p:spPr>
            <a:xfrm>
              <a:off x="6134100" y="3213100"/>
              <a:ext cx="2565400" cy="457200"/>
            </a:xfrm>
            <a:prstGeom prst="roundRect">
              <a:avLst>
                <a:gd name="adj" fmla="val 50000"/>
              </a:avLst>
            </a:prstGeom>
            <a:solidFill>
              <a:srgbClr val="46EB7E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50800" tIns="0" rIns="50800" bIns="0" rtlCol="0" anchor="ctr"/>
            <a:lstStyle/>
            <a:p>
              <a:pPr algn="ctr"/>
              <a:r>
                <a:rPr lang="pt-BR" sz="1250">
                  <a:solidFill>
                    <a:srgbClr val="0B0B0C"/>
                  </a:solidFill>
                  <a:latin typeface="Instrument Sans Medium" pitchFamily="2" charset="0"/>
                </a:rPr>
                <a:t>Trabalho executado</a:t>
              </a:r>
            </a:p>
          </p:txBody>
        </p:sp>
        <p:sp>
          <p:nvSpPr>
            <p:cNvPr id="25" name="Retângulo: Cantos Arredondados 24">
              <a:extLst>
                <a:ext uri="{FF2B5EF4-FFF2-40B4-BE49-F238E27FC236}">
                  <a16:creationId xmlns:a16="http://schemas.microsoft.com/office/drawing/2014/main" id="{4D3339A8-9956-CAF4-A8A9-B207E6EC659B}"/>
                </a:ext>
              </a:extLst>
            </p:cNvPr>
            <p:cNvSpPr/>
            <p:nvPr/>
          </p:nvSpPr>
          <p:spPr>
            <a:xfrm>
              <a:off x="6134100" y="4127500"/>
              <a:ext cx="3149600" cy="457200"/>
            </a:xfrm>
            <a:prstGeom prst="roundRect">
              <a:avLst>
                <a:gd name="adj" fmla="val 50000"/>
              </a:avLst>
            </a:prstGeom>
            <a:noFill/>
            <a:ln w="12700" cap="flat" cmpd="sng" algn="ctr">
              <a:solidFill>
                <a:srgbClr val="FFFFFF">
                  <a:alpha val="38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50800" tIns="0" rIns="50800" bIns="0" rtlCol="0" anchor="ctr"/>
            <a:lstStyle/>
            <a:p>
              <a:pPr algn="ctr"/>
              <a:r>
                <a:rPr lang="pt-BR" sz="1200">
                  <a:solidFill>
                    <a:srgbClr val="E8EAEC"/>
                  </a:solidFill>
                  <a:latin typeface="Instrument Sans Medium" pitchFamily="2" charset="0"/>
                </a:rPr>
                <a:t>Humano quando necessário</a:t>
              </a:r>
            </a:p>
          </p:txBody>
        </p:sp>
      </p:grp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FC92CDC8-DC4D-32ED-7024-4CEABE75C67D}"/>
              </a:ext>
            </a:extLst>
          </p:cNvPr>
          <p:cNvSpPr txBox="1"/>
          <p:nvPr/>
        </p:nvSpPr>
        <p:spPr>
          <a:xfrm>
            <a:off x="685800" y="5816600"/>
            <a:ext cx="965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04000"/>
              </a:lnSpc>
            </a:pPr>
            <a:r>
              <a:rPr lang="pt-BR" sz="1400">
                <a:solidFill>
                  <a:srgbClr val="FFFFFF"/>
                </a:solidFill>
                <a:latin typeface="Instrument Sans Medium" pitchFamily="2" charset="0"/>
              </a:rPr>
              <a:t>Não é um chatbot.</a:t>
            </a:r>
            <a:r>
              <a:rPr lang="pt-BR" sz="1400">
                <a:solidFill>
                  <a:srgbClr val="9BA1A6"/>
                </a:solidFill>
                <a:latin typeface="Instrument Sans Medium" pitchFamily="2" charset="0"/>
              </a:rPr>
              <a:t> É software que executa etapas de processos — com escopo, regras e permissões.</a:t>
            </a:r>
          </a:p>
        </p:txBody>
      </p:sp>
      <p:cxnSp>
        <p:nvCxnSpPr>
          <p:cNvPr id="28" name="Conector reto 27">
            <a:extLst>
              <a:ext uri="{FF2B5EF4-FFF2-40B4-BE49-F238E27FC236}">
                <a16:creationId xmlns:a16="http://schemas.microsoft.com/office/drawing/2014/main" id="{3030D25D-BD31-EF6B-A510-0DC495618B7B}"/>
              </a:ext>
            </a:extLst>
          </p:cNvPr>
          <p:cNvCxnSpPr/>
          <p:nvPr/>
        </p:nvCxnSpPr>
        <p:spPr>
          <a:xfrm>
            <a:off x="685800" y="6578600"/>
            <a:ext cx="10147300" cy="0"/>
          </a:xfrm>
          <a:prstGeom prst="line">
            <a:avLst/>
          </a:prstGeom>
          <a:ln w="19050" cap="flat" cmpd="sng" algn="ctr">
            <a:solidFill>
              <a:srgbClr val="FFFFFF">
                <a:alpha val="14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ector reto 28">
            <a:extLst>
              <a:ext uri="{FF2B5EF4-FFF2-40B4-BE49-F238E27FC236}">
                <a16:creationId xmlns:a16="http://schemas.microsoft.com/office/drawing/2014/main" id="{861621E4-DA93-6E23-BE44-151EBA5EF29D}"/>
              </a:ext>
            </a:extLst>
          </p:cNvPr>
          <p:cNvCxnSpPr/>
          <p:nvPr/>
        </p:nvCxnSpPr>
        <p:spPr>
          <a:xfrm>
            <a:off x="685800" y="6578600"/>
            <a:ext cx="6764867" cy="0"/>
          </a:xfrm>
          <a:prstGeom prst="line">
            <a:avLst/>
          </a:prstGeom>
          <a:ln w="19050" cap="flat" cmpd="sng" algn="ctr">
            <a:solidFill>
              <a:srgbClr val="46EB7E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Elipse 29">
            <a:extLst>
              <a:ext uri="{FF2B5EF4-FFF2-40B4-BE49-F238E27FC236}">
                <a16:creationId xmlns:a16="http://schemas.microsoft.com/office/drawing/2014/main" id="{39DDD2A9-908A-3A72-F6BE-EA756DB42D99}"/>
              </a:ext>
            </a:extLst>
          </p:cNvPr>
          <p:cNvSpPr/>
          <p:nvPr/>
        </p:nvSpPr>
        <p:spPr>
          <a:xfrm>
            <a:off x="7399867" y="6527800"/>
            <a:ext cx="101600" cy="101600"/>
          </a:xfrm>
          <a:prstGeom prst="ellipse">
            <a:avLst/>
          </a:prstGeom>
          <a:solidFill>
            <a:srgbClr val="46EB7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1" name="CaixaDeTexto 30">
            <a:extLst>
              <a:ext uri="{FF2B5EF4-FFF2-40B4-BE49-F238E27FC236}">
                <a16:creationId xmlns:a16="http://schemas.microsoft.com/office/drawing/2014/main" id="{96378224-80F5-B3D5-7DEB-4CDE05DBCDD2}"/>
              </a:ext>
            </a:extLst>
          </p:cNvPr>
          <p:cNvSpPr txBox="1"/>
          <p:nvPr/>
        </p:nvSpPr>
        <p:spPr>
          <a:xfrm>
            <a:off x="10947400" y="6502400"/>
            <a:ext cx="558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lnSpc>
                <a:spcPct val="104000"/>
              </a:lnSpc>
            </a:pPr>
            <a:r>
              <a:rPr lang="pt-BR" sz="850" spc="80">
                <a:solidFill>
                  <a:srgbClr val="9BA1A6"/>
                </a:solidFill>
                <a:latin typeface="Instrument Sans Medium" pitchFamily="2" charset="0"/>
              </a:rPr>
              <a:t>08 / 12</a:t>
            </a:r>
          </a:p>
        </p:txBody>
      </p:sp>
    </p:spTree>
    <p:extLst>
      <p:ext uri="{BB962C8B-B14F-4D97-AF65-F5344CB8AC3E}">
        <p14:creationId xmlns:p14="http://schemas.microsoft.com/office/powerpoint/2010/main" val="104699082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47C4750D-8506-C1DE-6B82-1E9DC1186EAF}"/>
              </a:ext>
            </a:extLst>
          </p:cNvPr>
          <p:cNvSpPr txBox="1"/>
          <p:nvPr/>
        </p:nvSpPr>
        <p:spPr>
          <a:xfrm>
            <a:off x="685800" y="571500"/>
            <a:ext cx="508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04000"/>
              </a:lnSpc>
            </a:pPr>
            <a:r>
              <a:rPr lang="pt-BR" sz="1000" spc="170">
                <a:solidFill>
                  <a:srgbClr val="46EB7E"/>
                </a:solidFill>
                <a:latin typeface="Instrument Sans Medium" pitchFamily="2" charset="0"/>
              </a:rPr>
              <a:t>ONDE OS AGENTES ATUAM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2F1E85AB-34CF-28A8-1B79-CF3DE6460474}"/>
              </a:ext>
            </a:extLst>
          </p:cNvPr>
          <p:cNvSpPr txBox="1"/>
          <p:nvPr/>
        </p:nvSpPr>
        <p:spPr>
          <a:xfrm>
            <a:off x="685800" y="965200"/>
            <a:ext cx="889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90000"/>
              </a:lnSpc>
            </a:pPr>
            <a:r>
              <a:rPr lang="pt-BR" sz="3800" b="1" spc="-110">
                <a:solidFill>
                  <a:srgbClr val="FFFFFF"/>
                </a:solidFill>
                <a:latin typeface="Urbanist" panose="020B0A04040200000203" pitchFamily="34" charset="0"/>
              </a:rPr>
              <a:t>Atendimento, vendas e </a:t>
            </a:r>
            <a:r>
              <a:rPr lang="pt-BR" sz="3800" b="1" spc="-110">
                <a:solidFill>
                  <a:srgbClr val="46EB7E"/>
                </a:solidFill>
                <a:latin typeface="Urbanist" panose="020B0A04040200000203" pitchFamily="34" charset="0"/>
              </a:rPr>
              <a:t>operação.</a:t>
            </a:r>
          </a:p>
        </p:txBody>
      </p:sp>
      <p:grpSp>
        <p:nvGrpSpPr>
          <p:cNvPr id="14" name="Agrupar 13">
            <a:extLst>
              <a:ext uri="{FF2B5EF4-FFF2-40B4-BE49-F238E27FC236}">
                <a16:creationId xmlns:a16="http://schemas.microsoft.com/office/drawing/2014/main" id="{BBEB2D66-BC3A-6097-A30C-B2EED280F734}"/>
              </a:ext>
            </a:extLst>
          </p:cNvPr>
          <p:cNvGrpSpPr/>
          <p:nvPr/>
        </p:nvGrpSpPr>
        <p:grpSpPr>
          <a:xfrm>
            <a:off x="679450" y="2476500"/>
            <a:ext cx="3308350" cy="2210832"/>
            <a:chOff x="679450" y="2476500"/>
            <a:chExt cx="3308350" cy="2210832"/>
          </a:xfrm>
        </p:grpSpPr>
        <p:sp>
          <p:nvSpPr>
            <p:cNvPr id="4" name="CaixaDeTexto 3">
              <a:extLst>
                <a:ext uri="{FF2B5EF4-FFF2-40B4-BE49-F238E27FC236}">
                  <a16:creationId xmlns:a16="http://schemas.microsoft.com/office/drawing/2014/main" id="{CBD744CE-B01D-A866-D16F-81EEC0F0A23C}"/>
                </a:ext>
              </a:extLst>
            </p:cNvPr>
            <p:cNvSpPr txBox="1"/>
            <p:nvPr/>
          </p:nvSpPr>
          <p:spPr>
            <a:xfrm>
              <a:off x="685800" y="2476500"/>
              <a:ext cx="2794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pt-BR" b="1" spc="-30">
                  <a:solidFill>
                    <a:srgbClr val="FFFFFF"/>
                  </a:solidFill>
                  <a:latin typeface="Urbanist" panose="020B0A04040200000203" pitchFamily="34" charset="0"/>
                </a:rPr>
                <a:t>Atendimento</a:t>
              </a:r>
            </a:p>
          </p:txBody>
        </p:sp>
        <p:cxnSp>
          <p:nvCxnSpPr>
            <p:cNvPr id="5" name="Conector reto 4">
              <a:extLst>
                <a:ext uri="{FF2B5EF4-FFF2-40B4-BE49-F238E27FC236}">
                  <a16:creationId xmlns:a16="http://schemas.microsoft.com/office/drawing/2014/main" id="{D1634716-8927-0545-A8B8-3F0F1429697B}"/>
                </a:ext>
              </a:extLst>
            </p:cNvPr>
            <p:cNvCxnSpPr/>
            <p:nvPr/>
          </p:nvCxnSpPr>
          <p:spPr>
            <a:xfrm>
              <a:off x="749300" y="3136900"/>
              <a:ext cx="0" cy="1282700"/>
            </a:xfrm>
            <a:prstGeom prst="line">
              <a:avLst/>
            </a:prstGeom>
            <a:ln w="19050" cap="flat" cmpd="sng" algn="ctr">
              <a:solidFill>
                <a:srgbClr val="FFFFFF">
                  <a:alpha val="14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Elipse 5">
              <a:extLst>
                <a:ext uri="{FF2B5EF4-FFF2-40B4-BE49-F238E27FC236}">
                  <a16:creationId xmlns:a16="http://schemas.microsoft.com/office/drawing/2014/main" id="{69353E36-D674-C334-7E39-5AF664DCC89B}"/>
                </a:ext>
              </a:extLst>
            </p:cNvPr>
            <p:cNvSpPr/>
            <p:nvPr/>
          </p:nvSpPr>
          <p:spPr>
            <a:xfrm>
              <a:off x="679450" y="3079750"/>
              <a:ext cx="139700" cy="139700"/>
            </a:xfrm>
            <a:prstGeom prst="ellipse">
              <a:avLst/>
            </a:prstGeom>
            <a:solidFill>
              <a:srgbClr val="0B0B0C"/>
            </a:solidFill>
            <a:ln w="19050" cap="flat" cmpd="sng" algn="ctr">
              <a:solidFill>
                <a:srgbClr val="9BA1A6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266406D6-4FA9-AC04-95F4-61CDAE70D7A0}"/>
                </a:ext>
              </a:extLst>
            </p:cNvPr>
            <p:cNvSpPr txBox="1"/>
            <p:nvPr/>
          </p:nvSpPr>
          <p:spPr>
            <a:xfrm>
              <a:off x="939800" y="3060700"/>
              <a:ext cx="3048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104000"/>
                </a:lnSpc>
              </a:pPr>
              <a:r>
                <a:rPr lang="pt-BR" sz="1250">
                  <a:solidFill>
                    <a:srgbClr val="E8EAEC"/>
                  </a:solidFill>
                  <a:latin typeface="Instrument Sans Medium" pitchFamily="2" charset="0"/>
                </a:rPr>
                <a:t>Cliente</a:t>
              </a:r>
            </a:p>
          </p:txBody>
        </p:sp>
        <p:sp>
          <p:nvSpPr>
            <p:cNvPr id="8" name="Elipse 7">
              <a:extLst>
                <a:ext uri="{FF2B5EF4-FFF2-40B4-BE49-F238E27FC236}">
                  <a16:creationId xmlns:a16="http://schemas.microsoft.com/office/drawing/2014/main" id="{28197FBD-C288-F234-7446-3BC32C9A54F8}"/>
                </a:ext>
              </a:extLst>
            </p:cNvPr>
            <p:cNvSpPr/>
            <p:nvPr/>
          </p:nvSpPr>
          <p:spPr>
            <a:xfrm>
              <a:off x="679450" y="3498850"/>
              <a:ext cx="139700" cy="139700"/>
            </a:xfrm>
            <a:prstGeom prst="ellipse">
              <a:avLst/>
            </a:prstGeom>
            <a:solidFill>
              <a:srgbClr val="0B0B0C"/>
            </a:solidFill>
            <a:ln w="19050" cap="flat" cmpd="sng" algn="ctr">
              <a:solidFill>
                <a:srgbClr val="9BA1A6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3FC99380-5930-5645-9DA4-B0AFBD7B0BD4}"/>
                </a:ext>
              </a:extLst>
            </p:cNvPr>
            <p:cNvSpPr txBox="1"/>
            <p:nvPr/>
          </p:nvSpPr>
          <p:spPr>
            <a:xfrm>
              <a:off x="939800" y="3479800"/>
              <a:ext cx="3048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104000"/>
                </a:lnSpc>
              </a:pPr>
              <a:r>
                <a:rPr lang="pt-BR" sz="1250">
                  <a:solidFill>
                    <a:srgbClr val="E8EAEC"/>
                  </a:solidFill>
                  <a:latin typeface="Instrument Sans Medium" pitchFamily="2" charset="0"/>
                </a:rPr>
                <a:t>Agente</a:t>
              </a:r>
            </a:p>
          </p:txBody>
        </p:sp>
        <p:sp>
          <p:nvSpPr>
            <p:cNvPr id="10" name="Elipse 9">
              <a:extLst>
                <a:ext uri="{FF2B5EF4-FFF2-40B4-BE49-F238E27FC236}">
                  <a16:creationId xmlns:a16="http://schemas.microsoft.com/office/drawing/2014/main" id="{6C11F649-4042-AC9B-0231-355C2D643CE4}"/>
                </a:ext>
              </a:extLst>
            </p:cNvPr>
            <p:cNvSpPr/>
            <p:nvPr/>
          </p:nvSpPr>
          <p:spPr>
            <a:xfrm>
              <a:off x="679450" y="3917950"/>
              <a:ext cx="139700" cy="139700"/>
            </a:xfrm>
            <a:prstGeom prst="ellipse">
              <a:avLst/>
            </a:prstGeom>
            <a:solidFill>
              <a:srgbClr val="0B0B0C"/>
            </a:solidFill>
            <a:ln w="19050" cap="flat" cmpd="sng" algn="ctr">
              <a:solidFill>
                <a:srgbClr val="9BA1A6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09CE0910-0814-EEA8-A586-3867BF5D641F}"/>
                </a:ext>
              </a:extLst>
            </p:cNvPr>
            <p:cNvSpPr txBox="1"/>
            <p:nvPr/>
          </p:nvSpPr>
          <p:spPr>
            <a:xfrm>
              <a:off x="939800" y="3898900"/>
              <a:ext cx="3048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104000"/>
                </a:lnSpc>
              </a:pPr>
              <a:r>
                <a:rPr lang="pt-BR" sz="1250">
                  <a:solidFill>
                    <a:srgbClr val="E8EAEC"/>
                  </a:solidFill>
                  <a:latin typeface="Instrument Sans Medium" pitchFamily="2" charset="0"/>
                </a:rPr>
                <a:t>CRM atualizado</a:t>
              </a:r>
            </a:p>
          </p:txBody>
        </p:sp>
        <p:sp>
          <p:nvSpPr>
            <p:cNvPr id="12" name="Elipse 11">
              <a:extLst>
                <a:ext uri="{FF2B5EF4-FFF2-40B4-BE49-F238E27FC236}">
                  <a16:creationId xmlns:a16="http://schemas.microsoft.com/office/drawing/2014/main" id="{2B186A2D-47AF-019A-6897-ADB5B84E11A1}"/>
                </a:ext>
              </a:extLst>
            </p:cNvPr>
            <p:cNvSpPr/>
            <p:nvPr/>
          </p:nvSpPr>
          <p:spPr>
            <a:xfrm>
              <a:off x="679450" y="4337050"/>
              <a:ext cx="139700" cy="139700"/>
            </a:xfrm>
            <a:prstGeom prst="ellipse">
              <a:avLst/>
            </a:prstGeom>
            <a:solidFill>
              <a:srgbClr val="46EB7E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CaixaDeTexto 12">
              <a:extLst>
                <a:ext uri="{FF2B5EF4-FFF2-40B4-BE49-F238E27FC236}">
                  <a16:creationId xmlns:a16="http://schemas.microsoft.com/office/drawing/2014/main" id="{4CE74B7E-EACD-E6A3-8D70-84959E2EE5B2}"/>
                </a:ext>
              </a:extLst>
            </p:cNvPr>
            <p:cNvSpPr txBox="1"/>
            <p:nvPr/>
          </p:nvSpPr>
          <p:spPr>
            <a:xfrm>
              <a:off x="939800" y="4318000"/>
              <a:ext cx="3048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104000"/>
                </a:lnSpc>
              </a:pPr>
              <a:r>
                <a:rPr lang="pt-BR" sz="1250">
                  <a:solidFill>
                    <a:srgbClr val="46EB7E"/>
                  </a:solidFill>
                  <a:latin typeface="Instrument Sans Medium" pitchFamily="2" charset="0"/>
                </a:rPr>
                <a:t>Humano quando necessário</a:t>
              </a:r>
            </a:p>
          </p:txBody>
        </p:sp>
      </p:grpSp>
      <p:grpSp>
        <p:nvGrpSpPr>
          <p:cNvPr id="25" name="Agrupar 24">
            <a:extLst>
              <a:ext uri="{FF2B5EF4-FFF2-40B4-BE49-F238E27FC236}">
                <a16:creationId xmlns:a16="http://schemas.microsoft.com/office/drawing/2014/main" id="{B3DE1A80-1792-313D-CCB9-668CA5B28AC2}"/>
              </a:ext>
            </a:extLst>
          </p:cNvPr>
          <p:cNvGrpSpPr/>
          <p:nvPr/>
        </p:nvGrpSpPr>
        <p:grpSpPr>
          <a:xfrm>
            <a:off x="4667250" y="2476500"/>
            <a:ext cx="3308350" cy="2210832"/>
            <a:chOff x="4667250" y="2476500"/>
            <a:chExt cx="3308350" cy="2210832"/>
          </a:xfrm>
        </p:grpSpPr>
        <p:sp>
          <p:nvSpPr>
            <p:cNvPr id="15" name="CaixaDeTexto 14">
              <a:extLst>
                <a:ext uri="{FF2B5EF4-FFF2-40B4-BE49-F238E27FC236}">
                  <a16:creationId xmlns:a16="http://schemas.microsoft.com/office/drawing/2014/main" id="{CE8CA2E7-124B-87A5-FB58-CA17354527F7}"/>
                </a:ext>
              </a:extLst>
            </p:cNvPr>
            <p:cNvSpPr txBox="1"/>
            <p:nvPr/>
          </p:nvSpPr>
          <p:spPr>
            <a:xfrm>
              <a:off x="4673600" y="2476500"/>
              <a:ext cx="2794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pt-BR" b="1" spc="-30">
                  <a:solidFill>
                    <a:srgbClr val="FFFFFF"/>
                  </a:solidFill>
                  <a:latin typeface="Urbanist" panose="020B0A04040200000203" pitchFamily="34" charset="0"/>
                </a:rPr>
                <a:t>Vendas</a:t>
              </a:r>
            </a:p>
          </p:txBody>
        </p:sp>
        <p:cxnSp>
          <p:nvCxnSpPr>
            <p:cNvPr id="16" name="Conector reto 15">
              <a:extLst>
                <a:ext uri="{FF2B5EF4-FFF2-40B4-BE49-F238E27FC236}">
                  <a16:creationId xmlns:a16="http://schemas.microsoft.com/office/drawing/2014/main" id="{56BAF09D-6BAB-D425-8B78-736F67A30280}"/>
                </a:ext>
              </a:extLst>
            </p:cNvPr>
            <p:cNvCxnSpPr/>
            <p:nvPr/>
          </p:nvCxnSpPr>
          <p:spPr>
            <a:xfrm>
              <a:off x="4737100" y="3136900"/>
              <a:ext cx="0" cy="1282700"/>
            </a:xfrm>
            <a:prstGeom prst="line">
              <a:avLst/>
            </a:prstGeom>
            <a:ln w="19050" cap="flat" cmpd="sng" algn="ctr">
              <a:solidFill>
                <a:srgbClr val="FFFFFF">
                  <a:alpha val="14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Elipse 16">
              <a:extLst>
                <a:ext uri="{FF2B5EF4-FFF2-40B4-BE49-F238E27FC236}">
                  <a16:creationId xmlns:a16="http://schemas.microsoft.com/office/drawing/2014/main" id="{D26B860B-E41B-9B81-68CC-2A794FC7AC56}"/>
                </a:ext>
              </a:extLst>
            </p:cNvPr>
            <p:cNvSpPr/>
            <p:nvPr/>
          </p:nvSpPr>
          <p:spPr>
            <a:xfrm>
              <a:off x="4667250" y="3079750"/>
              <a:ext cx="139700" cy="139700"/>
            </a:xfrm>
            <a:prstGeom prst="ellipse">
              <a:avLst/>
            </a:prstGeom>
            <a:solidFill>
              <a:srgbClr val="0B0B0C"/>
            </a:solidFill>
            <a:ln w="19050" cap="flat" cmpd="sng" algn="ctr">
              <a:solidFill>
                <a:srgbClr val="9BA1A6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CaixaDeTexto 17">
              <a:extLst>
                <a:ext uri="{FF2B5EF4-FFF2-40B4-BE49-F238E27FC236}">
                  <a16:creationId xmlns:a16="http://schemas.microsoft.com/office/drawing/2014/main" id="{490EF872-4F02-C005-80E7-FBBBD7608605}"/>
                </a:ext>
              </a:extLst>
            </p:cNvPr>
            <p:cNvSpPr txBox="1"/>
            <p:nvPr/>
          </p:nvSpPr>
          <p:spPr>
            <a:xfrm>
              <a:off x="4927600" y="3060700"/>
              <a:ext cx="3048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104000"/>
                </a:lnSpc>
              </a:pPr>
              <a:r>
                <a:rPr lang="pt-BR" sz="1250">
                  <a:solidFill>
                    <a:srgbClr val="E8EAEC"/>
                  </a:solidFill>
                  <a:latin typeface="Instrument Sans Medium" pitchFamily="2" charset="0"/>
                </a:rPr>
                <a:t>Lead</a:t>
              </a:r>
            </a:p>
          </p:txBody>
        </p:sp>
        <p:sp>
          <p:nvSpPr>
            <p:cNvPr id="19" name="Elipse 18">
              <a:extLst>
                <a:ext uri="{FF2B5EF4-FFF2-40B4-BE49-F238E27FC236}">
                  <a16:creationId xmlns:a16="http://schemas.microsoft.com/office/drawing/2014/main" id="{330C911A-8BE0-CFBC-ED6B-DBE320599908}"/>
                </a:ext>
              </a:extLst>
            </p:cNvPr>
            <p:cNvSpPr/>
            <p:nvPr/>
          </p:nvSpPr>
          <p:spPr>
            <a:xfrm>
              <a:off x="4667250" y="3498850"/>
              <a:ext cx="139700" cy="139700"/>
            </a:xfrm>
            <a:prstGeom prst="ellipse">
              <a:avLst/>
            </a:prstGeom>
            <a:solidFill>
              <a:srgbClr val="0B0B0C"/>
            </a:solidFill>
            <a:ln w="19050" cap="flat" cmpd="sng" algn="ctr">
              <a:solidFill>
                <a:srgbClr val="9BA1A6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CaixaDeTexto 19">
              <a:extLst>
                <a:ext uri="{FF2B5EF4-FFF2-40B4-BE49-F238E27FC236}">
                  <a16:creationId xmlns:a16="http://schemas.microsoft.com/office/drawing/2014/main" id="{E8AC6C18-A3FE-E87C-2EBF-3A01024843AD}"/>
                </a:ext>
              </a:extLst>
            </p:cNvPr>
            <p:cNvSpPr txBox="1"/>
            <p:nvPr/>
          </p:nvSpPr>
          <p:spPr>
            <a:xfrm>
              <a:off x="4927600" y="3479800"/>
              <a:ext cx="3048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104000"/>
                </a:lnSpc>
              </a:pPr>
              <a:r>
                <a:rPr lang="pt-BR" sz="1250">
                  <a:solidFill>
                    <a:srgbClr val="E8EAEC"/>
                  </a:solidFill>
                  <a:latin typeface="Instrument Sans Medium" pitchFamily="2" charset="0"/>
                </a:rPr>
                <a:t>Qualificação</a:t>
              </a:r>
            </a:p>
          </p:txBody>
        </p:sp>
        <p:sp>
          <p:nvSpPr>
            <p:cNvPr id="21" name="Elipse 20">
              <a:extLst>
                <a:ext uri="{FF2B5EF4-FFF2-40B4-BE49-F238E27FC236}">
                  <a16:creationId xmlns:a16="http://schemas.microsoft.com/office/drawing/2014/main" id="{17747D4B-6C3D-DABF-F0C6-34847FA76C96}"/>
                </a:ext>
              </a:extLst>
            </p:cNvPr>
            <p:cNvSpPr/>
            <p:nvPr/>
          </p:nvSpPr>
          <p:spPr>
            <a:xfrm>
              <a:off x="4667250" y="3917950"/>
              <a:ext cx="139700" cy="139700"/>
            </a:xfrm>
            <a:prstGeom prst="ellipse">
              <a:avLst/>
            </a:prstGeom>
            <a:solidFill>
              <a:srgbClr val="0B0B0C"/>
            </a:solidFill>
            <a:ln w="19050" cap="flat" cmpd="sng" algn="ctr">
              <a:solidFill>
                <a:srgbClr val="9BA1A6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" name="CaixaDeTexto 21">
              <a:extLst>
                <a:ext uri="{FF2B5EF4-FFF2-40B4-BE49-F238E27FC236}">
                  <a16:creationId xmlns:a16="http://schemas.microsoft.com/office/drawing/2014/main" id="{D4C2E2F3-4B6F-0FE5-F9FF-2E649BEC2B81}"/>
                </a:ext>
              </a:extLst>
            </p:cNvPr>
            <p:cNvSpPr txBox="1"/>
            <p:nvPr/>
          </p:nvSpPr>
          <p:spPr>
            <a:xfrm>
              <a:off x="4927600" y="3898900"/>
              <a:ext cx="3048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104000"/>
                </a:lnSpc>
              </a:pPr>
              <a:r>
                <a:rPr lang="pt-BR" sz="1250">
                  <a:solidFill>
                    <a:srgbClr val="E8EAEC"/>
                  </a:solidFill>
                  <a:latin typeface="Instrument Sans Medium" pitchFamily="2" charset="0"/>
                </a:rPr>
                <a:t>Follow-up</a:t>
              </a:r>
            </a:p>
          </p:txBody>
        </p:sp>
        <p:sp>
          <p:nvSpPr>
            <p:cNvPr id="23" name="Elipse 22">
              <a:extLst>
                <a:ext uri="{FF2B5EF4-FFF2-40B4-BE49-F238E27FC236}">
                  <a16:creationId xmlns:a16="http://schemas.microsoft.com/office/drawing/2014/main" id="{22A7C29F-2CC2-A74E-FE11-001565EF741C}"/>
                </a:ext>
              </a:extLst>
            </p:cNvPr>
            <p:cNvSpPr/>
            <p:nvPr/>
          </p:nvSpPr>
          <p:spPr>
            <a:xfrm>
              <a:off x="4667250" y="4337050"/>
              <a:ext cx="139700" cy="139700"/>
            </a:xfrm>
            <a:prstGeom prst="ellipse">
              <a:avLst/>
            </a:prstGeom>
            <a:solidFill>
              <a:srgbClr val="46EB7E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" name="CaixaDeTexto 23">
              <a:extLst>
                <a:ext uri="{FF2B5EF4-FFF2-40B4-BE49-F238E27FC236}">
                  <a16:creationId xmlns:a16="http://schemas.microsoft.com/office/drawing/2014/main" id="{96EDC6E4-6074-BBB9-B586-388E81DD1D33}"/>
                </a:ext>
              </a:extLst>
            </p:cNvPr>
            <p:cNvSpPr txBox="1"/>
            <p:nvPr/>
          </p:nvSpPr>
          <p:spPr>
            <a:xfrm>
              <a:off x="4927600" y="4318000"/>
              <a:ext cx="3048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104000"/>
                </a:lnSpc>
              </a:pPr>
              <a:r>
                <a:rPr lang="pt-BR" sz="1250">
                  <a:solidFill>
                    <a:srgbClr val="46EB7E"/>
                  </a:solidFill>
                  <a:latin typeface="Instrument Sans Medium" pitchFamily="2" charset="0"/>
                </a:rPr>
                <a:t>Vendedor preparado</a:t>
              </a:r>
            </a:p>
          </p:txBody>
        </p:sp>
      </p:grpSp>
      <p:grpSp>
        <p:nvGrpSpPr>
          <p:cNvPr id="36" name="Agrupar 35">
            <a:extLst>
              <a:ext uri="{FF2B5EF4-FFF2-40B4-BE49-F238E27FC236}">
                <a16:creationId xmlns:a16="http://schemas.microsoft.com/office/drawing/2014/main" id="{AC077446-E95D-C818-3BCA-50C8211C517B}"/>
              </a:ext>
            </a:extLst>
          </p:cNvPr>
          <p:cNvGrpSpPr/>
          <p:nvPr/>
        </p:nvGrpSpPr>
        <p:grpSpPr>
          <a:xfrm>
            <a:off x="8274050" y="2476500"/>
            <a:ext cx="3308350" cy="2210832"/>
            <a:chOff x="8274050" y="2476500"/>
            <a:chExt cx="3308350" cy="2210832"/>
          </a:xfrm>
        </p:grpSpPr>
        <p:sp>
          <p:nvSpPr>
            <p:cNvPr id="26" name="CaixaDeTexto 25">
              <a:extLst>
                <a:ext uri="{FF2B5EF4-FFF2-40B4-BE49-F238E27FC236}">
                  <a16:creationId xmlns:a16="http://schemas.microsoft.com/office/drawing/2014/main" id="{285D5DD6-58D2-3503-3ADE-8A576D876F88}"/>
                </a:ext>
              </a:extLst>
            </p:cNvPr>
            <p:cNvSpPr txBox="1"/>
            <p:nvPr/>
          </p:nvSpPr>
          <p:spPr>
            <a:xfrm>
              <a:off x="8280400" y="2476500"/>
              <a:ext cx="2794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pt-BR" b="1" spc="-30">
                  <a:solidFill>
                    <a:srgbClr val="FFFFFF"/>
                  </a:solidFill>
                  <a:latin typeface="Urbanist" panose="020B0A04040200000203" pitchFamily="34" charset="0"/>
                </a:rPr>
                <a:t>Operação</a:t>
              </a:r>
            </a:p>
          </p:txBody>
        </p:sp>
        <p:cxnSp>
          <p:nvCxnSpPr>
            <p:cNvPr id="27" name="Conector reto 26">
              <a:extLst>
                <a:ext uri="{FF2B5EF4-FFF2-40B4-BE49-F238E27FC236}">
                  <a16:creationId xmlns:a16="http://schemas.microsoft.com/office/drawing/2014/main" id="{D276B766-2416-43DA-6A12-8E83CAAF41A4}"/>
                </a:ext>
              </a:extLst>
            </p:cNvPr>
            <p:cNvCxnSpPr/>
            <p:nvPr/>
          </p:nvCxnSpPr>
          <p:spPr>
            <a:xfrm>
              <a:off x="8343900" y="3136900"/>
              <a:ext cx="0" cy="1282700"/>
            </a:xfrm>
            <a:prstGeom prst="line">
              <a:avLst/>
            </a:prstGeom>
            <a:ln w="19050" cap="flat" cmpd="sng" algn="ctr">
              <a:solidFill>
                <a:srgbClr val="FFFFFF">
                  <a:alpha val="14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Elipse 27">
              <a:extLst>
                <a:ext uri="{FF2B5EF4-FFF2-40B4-BE49-F238E27FC236}">
                  <a16:creationId xmlns:a16="http://schemas.microsoft.com/office/drawing/2014/main" id="{4E7FC3CE-4D30-EE08-69A6-8003AA2D165B}"/>
                </a:ext>
              </a:extLst>
            </p:cNvPr>
            <p:cNvSpPr/>
            <p:nvPr/>
          </p:nvSpPr>
          <p:spPr>
            <a:xfrm>
              <a:off x="8274050" y="3079750"/>
              <a:ext cx="139700" cy="139700"/>
            </a:xfrm>
            <a:prstGeom prst="ellipse">
              <a:avLst/>
            </a:prstGeom>
            <a:solidFill>
              <a:srgbClr val="0B0B0C"/>
            </a:solidFill>
            <a:ln w="19050" cap="flat" cmpd="sng" algn="ctr">
              <a:solidFill>
                <a:srgbClr val="9BA1A6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" name="CaixaDeTexto 28">
              <a:extLst>
                <a:ext uri="{FF2B5EF4-FFF2-40B4-BE49-F238E27FC236}">
                  <a16:creationId xmlns:a16="http://schemas.microsoft.com/office/drawing/2014/main" id="{2E20D4EE-E864-5591-196D-ADDD0B1C9FD3}"/>
                </a:ext>
              </a:extLst>
            </p:cNvPr>
            <p:cNvSpPr txBox="1"/>
            <p:nvPr/>
          </p:nvSpPr>
          <p:spPr>
            <a:xfrm>
              <a:off x="8534400" y="3060700"/>
              <a:ext cx="3048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104000"/>
                </a:lnSpc>
              </a:pPr>
              <a:r>
                <a:rPr lang="pt-BR" sz="1250">
                  <a:solidFill>
                    <a:srgbClr val="E8EAEC"/>
                  </a:solidFill>
                  <a:latin typeface="Instrument Sans Medium" pitchFamily="2" charset="0"/>
                </a:rPr>
                <a:t>Sistemas + dados</a:t>
              </a:r>
            </a:p>
          </p:txBody>
        </p:sp>
        <p:sp>
          <p:nvSpPr>
            <p:cNvPr id="30" name="Elipse 29">
              <a:extLst>
                <a:ext uri="{FF2B5EF4-FFF2-40B4-BE49-F238E27FC236}">
                  <a16:creationId xmlns:a16="http://schemas.microsoft.com/office/drawing/2014/main" id="{9600BA20-E7C6-D86D-1913-2B282F91F21D}"/>
                </a:ext>
              </a:extLst>
            </p:cNvPr>
            <p:cNvSpPr/>
            <p:nvPr/>
          </p:nvSpPr>
          <p:spPr>
            <a:xfrm>
              <a:off x="8274050" y="3498850"/>
              <a:ext cx="139700" cy="139700"/>
            </a:xfrm>
            <a:prstGeom prst="ellipse">
              <a:avLst/>
            </a:prstGeom>
            <a:solidFill>
              <a:srgbClr val="0B0B0C"/>
            </a:solidFill>
            <a:ln w="19050" cap="flat" cmpd="sng" algn="ctr">
              <a:solidFill>
                <a:srgbClr val="9BA1A6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1" name="CaixaDeTexto 30">
              <a:extLst>
                <a:ext uri="{FF2B5EF4-FFF2-40B4-BE49-F238E27FC236}">
                  <a16:creationId xmlns:a16="http://schemas.microsoft.com/office/drawing/2014/main" id="{A5C8B3FA-B813-6323-AD31-D714ACC89B8F}"/>
                </a:ext>
              </a:extLst>
            </p:cNvPr>
            <p:cNvSpPr txBox="1"/>
            <p:nvPr/>
          </p:nvSpPr>
          <p:spPr>
            <a:xfrm>
              <a:off x="8534400" y="3479800"/>
              <a:ext cx="3048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104000"/>
                </a:lnSpc>
              </a:pPr>
              <a:r>
                <a:rPr lang="pt-BR" sz="1250">
                  <a:solidFill>
                    <a:srgbClr val="E8EAEC"/>
                  </a:solidFill>
                  <a:latin typeface="Instrument Sans Medium" pitchFamily="2" charset="0"/>
                </a:rPr>
                <a:t>Agente</a:t>
              </a:r>
            </a:p>
          </p:txBody>
        </p:sp>
        <p:sp>
          <p:nvSpPr>
            <p:cNvPr id="32" name="Elipse 31">
              <a:extLst>
                <a:ext uri="{FF2B5EF4-FFF2-40B4-BE49-F238E27FC236}">
                  <a16:creationId xmlns:a16="http://schemas.microsoft.com/office/drawing/2014/main" id="{DEB26218-BFD8-2472-501B-6E215FD74347}"/>
                </a:ext>
              </a:extLst>
            </p:cNvPr>
            <p:cNvSpPr/>
            <p:nvPr/>
          </p:nvSpPr>
          <p:spPr>
            <a:xfrm>
              <a:off x="8274050" y="3917950"/>
              <a:ext cx="139700" cy="139700"/>
            </a:xfrm>
            <a:prstGeom prst="ellipse">
              <a:avLst/>
            </a:prstGeom>
            <a:solidFill>
              <a:srgbClr val="0B0B0C"/>
            </a:solidFill>
            <a:ln w="19050" cap="flat" cmpd="sng" algn="ctr">
              <a:solidFill>
                <a:srgbClr val="9BA1A6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3" name="CaixaDeTexto 32">
              <a:extLst>
                <a:ext uri="{FF2B5EF4-FFF2-40B4-BE49-F238E27FC236}">
                  <a16:creationId xmlns:a16="http://schemas.microsoft.com/office/drawing/2014/main" id="{9670A9D6-DD1E-0A5D-B27E-F0AC75CB711E}"/>
                </a:ext>
              </a:extLst>
            </p:cNvPr>
            <p:cNvSpPr txBox="1"/>
            <p:nvPr/>
          </p:nvSpPr>
          <p:spPr>
            <a:xfrm>
              <a:off x="8534400" y="3898900"/>
              <a:ext cx="3048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104000"/>
                </a:lnSpc>
              </a:pPr>
              <a:r>
                <a:rPr lang="pt-BR" sz="1250">
                  <a:solidFill>
                    <a:srgbClr val="E8EAEC"/>
                  </a:solidFill>
                  <a:latin typeface="Instrument Sans Medium" pitchFamily="2" charset="0"/>
                </a:rPr>
                <a:t>Análise</a:t>
              </a:r>
            </a:p>
          </p:txBody>
        </p:sp>
        <p:sp>
          <p:nvSpPr>
            <p:cNvPr id="34" name="Elipse 33">
              <a:extLst>
                <a:ext uri="{FF2B5EF4-FFF2-40B4-BE49-F238E27FC236}">
                  <a16:creationId xmlns:a16="http://schemas.microsoft.com/office/drawing/2014/main" id="{6C872A25-B6B3-15ED-1B6D-1863004DC3DC}"/>
                </a:ext>
              </a:extLst>
            </p:cNvPr>
            <p:cNvSpPr/>
            <p:nvPr/>
          </p:nvSpPr>
          <p:spPr>
            <a:xfrm>
              <a:off x="8274050" y="4337050"/>
              <a:ext cx="139700" cy="139700"/>
            </a:xfrm>
            <a:prstGeom prst="ellipse">
              <a:avLst/>
            </a:prstGeom>
            <a:solidFill>
              <a:srgbClr val="46EB7E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5" name="CaixaDeTexto 34">
              <a:extLst>
                <a:ext uri="{FF2B5EF4-FFF2-40B4-BE49-F238E27FC236}">
                  <a16:creationId xmlns:a16="http://schemas.microsoft.com/office/drawing/2014/main" id="{BD91B3A7-E5F2-0815-6ED1-82B2E3608C60}"/>
                </a:ext>
              </a:extLst>
            </p:cNvPr>
            <p:cNvSpPr txBox="1"/>
            <p:nvPr/>
          </p:nvSpPr>
          <p:spPr>
            <a:xfrm>
              <a:off x="8534400" y="4318000"/>
              <a:ext cx="3048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104000"/>
                </a:lnSpc>
              </a:pPr>
              <a:r>
                <a:rPr lang="pt-BR" sz="1250">
                  <a:solidFill>
                    <a:srgbClr val="46EB7E"/>
                  </a:solidFill>
                  <a:latin typeface="Instrument Sans Medium" pitchFamily="2" charset="0"/>
                </a:rPr>
                <a:t>Ação</a:t>
              </a:r>
            </a:p>
          </p:txBody>
        </p:sp>
      </p:grpSp>
      <p:cxnSp>
        <p:nvCxnSpPr>
          <p:cNvPr id="37" name="Conector reto 36">
            <a:extLst>
              <a:ext uri="{FF2B5EF4-FFF2-40B4-BE49-F238E27FC236}">
                <a16:creationId xmlns:a16="http://schemas.microsoft.com/office/drawing/2014/main" id="{45944FAE-A4A7-1CDB-E3BF-A7F59C6DC924}"/>
              </a:ext>
            </a:extLst>
          </p:cNvPr>
          <p:cNvCxnSpPr/>
          <p:nvPr/>
        </p:nvCxnSpPr>
        <p:spPr>
          <a:xfrm>
            <a:off x="4292600" y="2476500"/>
            <a:ext cx="0" cy="2413000"/>
          </a:xfrm>
          <a:prstGeom prst="line">
            <a:avLst/>
          </a:prstGeom>
          <a:ln w="12700" cap="flat" cmpd="sng" algn="ctr">
            <a:solidFill>
              <a:srgbClr val="FFFFFF">
                <a:alpha val="14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ector reto 37">
            <a:extLst>
              <a:ext uri="{FF2B5EF4-FFF2-40B4-BE49-F238E27FC236}">
                <a16:creationId xmlns:a16="http://schemas.microsoft.com/office/drawing/2014/main" id="{6B291FE9-9E8C-311A-860C-B3BE75698BF8}"/>
              </a:ext>
            </a:extLst>
          </p:cNvPr>
          <p:cNvCxnSpPr/>
          <p:nvPr/>
        </p:nvCxnSpPr>
        <p:spPr>
          <a:xfrm>
            <a:off x="7899400" y="2476500"/>
            <a:ext cx="0" cy="2413000"/>
          </a:xfrm>
          <a:prstGeom prst="line">
            <a:avLst/>
          </a:prstGeom>
          <a:ln w="12700" cap="flat" cmpd="sng" algn="ctr">
            <a:solidFill>
              <a:srgbClr val="FFFFFF">
                <a:alpha val="14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ector reto 38">
            <a:extLst>
              <a:ext uri="{FF2B5EF4-FFF2-40B4-BE49-F238E27FC236}">
                <a16:creationId xmlns:a16="http://schemas.microsoft.com/office/drawing/2014/main" id="{E1693F3C-6D92-6754-62BA-471E4DF94DD0}"/>
              </a:ext>
            </a:extLst>
          </p:cNvPr>
          <p:cNvCxnSpPr/>
          <p:nvPr/>
        </p:nvCxnSpPr>
        <p:spPr>
          <a:xfrm>
            <a:off x="685800" y="6578600"/>
            <a:ext cx="10147300" cy="0"/>
          </a:xfrm>
          <a:prstGeom prst="line">
            <a:avLst/>
          </a:prstGeom>
          <a:ln w="19050" cap="flat" cmpd="sng" algn="ctr">
            <a:solidFill>
              <a:srgbClr val="FFFFFF">
                <a:alpha val="14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ector reto 39">
            <a:extLst>
              <a:ext uri="{FF2B5EF4-FFF2-40B4-BE49-F238E27FC236}">
                <a16:creationId xmlns:a16="http://schemas.microsoft.com/office/drawing/2014/main" id="{F8B08953-E220-B8D4-4C87-2150A4F10752}"/>
              </a:ext>
            </a:extLst>
          </p:cNvPr>
          <p:cNvCxnSpPr/>
          <p:nvPr/>
        </p:nvCxnSpPr>
        <p:spPr>
          <a:xfrm>
            <a:off x="685800" y="6578600"/>
            <a:ext cx="7610475" cy="0"/>
          </a:xfrm>
          <a:prstGeom prst="line">
            <a:avLst/>
          </a:prstGeom>
          <a:ln w="19050" cap="flat" cmpd="sng" algn="ctr">
            <a:solidFill>
              <a:srgbClr val="46EB7E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Elipse 40">
            <a:extLst>
              <a:ext uri="{FF2B5EF4-FFF2-40B4-BE49-F238E27FC236}">
                <a16:creationId xmlns:a16="http://schemas.microsoft.com/office/drawing/2014/main" id="{7F25A1EF-5545-EE1E-4F25-D91A6F3F3515}"/>
              </a:ext>
            </a:extLst>
          </p:cNvPr>
          <p:cNvSpPr/>
          <p:nvPr/>
        </p:nvSpPr>
        <p:spPr>
          <a:xfrm>
            <a:off x="8245475" y="6527800"/>
            <a:ext cx="101600" cy="101600"/>
          </a:xfrm>
          <a:prstGeom prst="ellipse">
            <a:avLst/>
          </a:prstGeom>
          <a:solidFill>
            <a:srgbClr val="46EB7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2" name="CaixaDeTexto 41">
            <a:extLst>
              <a:ext uri="{FF2B5EF4-FFF2-40B4-BE49-F238E27FC236}">
                <a16:creationId xmlns:a16="http://schemas.microsoft.com/office/drawing/2014/main" id="{0F5BE033-235E-4C8E-9ACD-CA0FC5B2DC29}"/>
              </a:ext>
            </a:extLst>
          </p:cNvPr>
          <p:cNvSpPr txBox="1"/>
          <p:nvPr/>
        </p:nvSpPr>
        <p:spPr>
          <a:xfrm>
            <a:off x="10947400" y="6502400"/>
            <a:ext cx="558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lnSpc>
                <a:spcPct val="104000"/>
              </a:lnSpc>
            </a:pPr>
            <a:r>
              <a:rPr lang="pt-BR" sz="850" spc="80">
                <a:solidFill>
                  <a:srgbClr val="9BA1A6"/>
                </a:solidFill>
                <a:latin typeface="Instrument Sans Medium" pitchFamily="2" charset="0"/>
              </a:rPr>
              <a:t>09 / 12</a:t>
            </a:r>
          </a:p>
        </p:txBody>
      </p:sp>
    </p:spTree>
    <p:extLst>
      <p:ext uri="{BB962C8B-B14F-4D97-AF65-F5344CB8AC3E}">
        <p14:creationId xmlns:p14="http://schemas.microsoft.com/office/powerpoint/2010/main" val="239284884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044FED72-FD08-EEA7-3F38-3A1951BEA8FA}"/>
              </a:ext>
            </a:extLst>
          </p:cNvPr>
          <p:cNvSpPr txBox="1"/>
          <p:nvPr/>
        </p:nvSpPr>
        <p:spPr>
          <a:xfrm>
            <a:off x="685800" y="2413000"/>
            <a:ext cx="508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04000"/>
              </a:lnSpc>
            </a:pPr>
            <a:r>
              <a:rPr lang="pt-BR" sz="1000" spc="170">
                <a:solidFill>
                  <a:srgbClr val="0F7C47"/>
                </a:solidFill>
                <a:latin typeface="Instrument Sans Medium" pitchFamily="2" charset="0"/>
              </a:rPr>
              <a:t>COMO TRABALHAMOS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4FE38E71-D094-468C-81CE-7D96FA6C2365}"/>
              </a:ext>
            </a:extLst>
          </p:cNvPr>
          <p:cNvSpPr txBox="1"/>
          <p:nvPr/>
        </p:nvSpPr>
        <p:spPr>
          <a:xfrm>
            <a:off x="685800" y="2730500"/>
            <a:ext cx="406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90000"/>
              </a:lnSpc>
            </a:pPr>
            <a:r>
              <a:rPr lang="pt-BR" sz="5400" b="1" spc="-160">
                <a:solidFill>
                  <a:srgbClr val="0B0B0C"/>
                </a:solidFill>
                <a:latin typeface="Urbanist" panose="020B0A04040200000203" pitchFamily="34" charset="0"/>
              </a:rPr>
              <a:t>Da dor ao </a:t>
            </a:r>
            <a:r>
              <a:rPr lang="pt-BR" sz="5400" b="1" spc="-160">
                <a:solidFill>
                  <a:srgbClr val="0F7C47"/>
                </a:solidFill>
                <a:latin typeface="Urbanist" panose="020B0A04040200000203" pitchFamily="34" charset="0"/>
              </a:rPr>
              <a:t>software.</a:t>
            </a:r>
          </a:p>
        </p:txBody>
      </p:sp>
      <p:cxnSp>
        <p:nvCxnSpPr>
          <p:cNvPr id="4" name="Conector reto 3">
            <a:extLst>
              <a:ext uri="{FF2B5EF4-FFF2-40B4-BE49-F238E27FC236}">
                <a16:creationId xmlns:a16="http://schemas.microsoft.com/office/drawing/2014/main" id="{21756DE2-D36A-B3FF-6911-07FA18AE492E}"/>
              </a:ext>
            </a:extLst>
          </p:cNvPr>
          <p:cNvCxnSpPr/>
          <p:nvPr/>
        </p:nvCxnSpPr>
        <p:spPr>
          <a:xfrm>
            <a:off x="6235700" y="1435100"/>
            <a:ext cx="0" cy="3860800"/>
          </a:xfrm>
          <a:prstGeom prst="line">
            <a:avLst/>
          </a:prstGeom>
          <a:ln w="19050" cap="flat" cmpd="sng" algn="ctr">
            <a:solidFill>
              <a:srgbClr val="0B0B0C">
                <a:alpha val="14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" name="Agrupar 8">
            <a:extLst>
              <a:ext uri="{FF2B5EF4-FFF2-40B4-BE49-F238E27FC236}">
                <a16:creationId xmlns:a16="http://schemas.microsoft.com/office/drawing/2014/main" id="{5D886644-6240-9755-A3D6-559BD6327C9D}"/>
              </a:ext>
            </a:extLst>
          </p:cNvPr>
          <p:cNvGrpSpPr/>
          <p:nvPr/>
        </p:nvGrpSpPr>
        <p:grpSpPr>
          <a:xfrm>
            <a:off x="5969000" y="1168400"/>
            <a:ext cx="5334000" cy="712232"/>
            <a:chOff x="5969000" y="1168400"/>
            <a:chExt cx="5334000" cy="712232"/>
          </a:xfrm>
        </p:grpSpPr>
        <p:sp>
          <p:nvSpPr>
            <p:cNvPr id="5" name="Elipse 4">
              <a:extLst>
                <a:ext uri="{FF2B5EF4-FFF2-40B4-BE49-F238E27FC236}">
                  <a16:creationId xmlns:a16="http://schemas.microsoft.com/office/drawing/2014/main" id="{193116C0-11BA-2BB5-EC41-0B10E6E235FF}"/>
                </a:ext>
              </a:extLst>
            </p:cNvPr>
            <p:cNvSpPr/>
            <p:nvPr/>
          </p:nvSpPr>
          <p:spPr>
            <a:xfrm>
              <a:off x="5969000" y="1168400"/>
              <a:ext cx="533400" cy="533400"/>
            </a:xfrm>
            <a:prstGeom prst="ellipse">
              <a:avLst/>
            </a:prstGeom>
            <a:solidFill>
              <a:srgbClr val="FFFFFF"/>
            </a:solidFill>
            <a:ln w="19050" cap="flat" cmpd="sng" algn="ctr">
              <a:solidFill>
                <a:srgbClr val="0B0B0C">
                  <a:alpha val="18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" name="CaixaDeTexto 5">
              <a:extLst>
                <a:ext uri="{FF2B5EF4-FFF2-40B4-BE49-F238E27FC236}">
                  <a16:creationId xmlns:a16="http://schemas.microsoft.com/office/drawing/2014/main" id="{D072D2CA-8686-A972-8601-9409118BFC6D}"/>
                </a:ext>
              </a:extLst>
            </p:cNvPr>
            <p:cNvSpPr txBox="1"/>
            <p:nvPr/>
          </p:nvSpPr>
          <p:spPr>
            <a:xfrm>
              <a:off x="5969000" y="1333500"/>
              <a:ext cx="5334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pt-BR" sz="1300" b="1">
                  <a:solidFill>
                    <a:srgbClr val="0B0B0C"/>
                  </a:solidFill>
                  <a:latin typeface="Urbanist" panose="020B0A04040200000203" pitchFamily="34" charset="0"/>
                </a:rPr>
                <a:t>1</a:t>
              </a:r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C4A58302-0488-5F86-7FE6-83E37C356784}"/>
                </a:ext>
              </a:extLst>
            </p:cNvPr>
            <p:cNvSpPr txBox="1"/>
            <p:nvPr/>
          </p:nvSpPr>
          <p:spPr>
            <a:xfrm>
              <a:off x="6731000" y="1219200"/>
              <a:ext cx="4572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pt-BR" sz="1650" b="1" spc="-20">
                  <a:solidFill>
                    <a:srgbClr val="0B0B0C"/>
                  </a:solidFill>
                  <a:latin typeface="Urbanist" panose="020B0A04040200000203" pitchFamily="34" charset="0"/>
                </a:rPr>
                <a:t>Entender</a:t>
              </a:r>
            </a:p>
          </p:txBody>
        </p:sp>
        <p:sp>
          <p:nvSpPr>
            <p:cNvPr id="8" name="CaixaDeTexto 7">
              <a:extLst>
                <a:ext uri="{FF2B5EF4-FFF2-40B4-BE49-F238E27FC236}">
                  <a16:creationId xmlns:a16="http://schemas.microsoft.com/office/drawing/2014/main" id="{9A526C61-527D-2B3D-4092-76FCE5875C46}"/>
                </a:ext>
              </a:extLst>
            </p:cNvPr>
            <p:cNvSpPr txBox="1"/>
            <p:nvPr/>
          </p:nvSpPr>
          <p:spPr>
            <a:xfrm>
              <a:off x="6731000" y="1511300"/>
              <a:ext cx="4572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104000"/>
                </a:lnSpc>
              </a:pPr>
              <a:r>
                <a:rPr lang="pt-BR" sz="1050">
                  <a:solidFill>
                    <a:srgbClr val="575C61"/>
                  </a:solidFill>
                  <a:latin typeface="Instrument Sans Medium" pitchFamily="2" charset="0"/>
                </a:rPr>
                <a:t>Mapeamos problema, impacto e contexto.</a:t>
              </a:r>
            </a:p>
          </p:txBody>
        </p:sp>
      </p:grpSp>
      <p:grpSp>
        <p:nvGrpSpPr>
          <p:cNvPr id="14" name="Agrupar 13">
            <a:extLst>
              <a:ext uri="{FF2B5EF4-FFF2-40B4-BE49-F238E27FC236}">
                <a16:creationId xmlns:a16="http://schemas.microsoft.com/office/drawing/2014/main" id="{045A6D97-DFA7-2CD6-EAF4-3D8B741B56DC}"/>
              </a:ext>
            </a:extLst>
          </p:cNvPr>
          <p:cNvGrpSpPr/>
          <p:nvPr/>
        </p:nvGrpSpPr>
        <p:grpSpPr>
          <a:xfrm>
            <a:off x="5969000" y="2133600"/>
            <a:ext cx="5334000" cy="712232"/>
            <a:chOff x="5969000" y="2133600"/>
            <a:chExt cx="5334000" cy="712232"/>
          </a:xfrm>
        </p:grpSpPr>
        <p:sp>
          <p:nvSpPr>
            <p:cNvPr id="10" name="Elipse 9">
              <a:extLst>
                <a:ext uri="{FF2B5EF4-FFF2-40B4-BE49-F238E27FC236}">
                  <a16:creationId xmlns:a16="http://schemas.microsoft.com/office/drawing/2014/main" id="{2D9C7D4C-C19C-8DFB-756A-273A21B46524}"/>
                </a:ext>
              </a:extLst>
            </p:cNvPr>
            <p:cNvSpPr/>
            <p:nvPr/>
          </p:nvSpPr>
          <p:spPr>
            <a:xfrm>
              <a:off x="5969000" y="2133600"/>
              <a:ext cx="533400" cy="533400"/>
            </a:xfrm>
            <a:prstGeom prst="ellipse">
              <a:avLst/>
            </a:prstGeom>
            <a:solidFill>
              <a:srgbClr val="FFFFFF"/>
            </a:solidFill>
            <a:ln w="19050" cap="flat" cmpd="sng" algn="ctr">
              <a:solidFill>
                <a:srgbClr val="0B0B0C">
                  <a:alpha val="18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D0B4B07C-623C-CF0D-BE40-59D8147CE553}"/>
                </a:ext>
              </a:extLst>
            </p:cNvPr>
            <p:cNvSpPr txBox="1"/>
            <p:nvPr/>
          </p:nvSpPr>
          <p:spPr>
            <a:xfrm>
              <a:off x="5969000" y="2298700"/>
              <a:ext cx="5334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pt-BR" sz="1300" b="1">
                  <a:solidFill>
                    <a:srgbClr val="0B0B0C"/>
                  </a:solidFill>
                  <a:latin typeface="Urbanist" panose="020B0A04040200000203" pitchFamily="34" charset="0"/>
                </a:rPr>
                <a:t>2</a:t>
              </a:r>
            </a:p>
          </p:txBody>
        </p:sp>
        <p:sp>
          <p:nvSpPr>
            <p:cNvPr id="12" name="CaixaDeTexto 11">
              <a:extLst>
                <a:ext uri="{FF2B5EF4-FFF2-40B4-BE49-F238E27FC236}">
                  <a16:creationId xmlns:a16="http://schemas.microsoft.com/office/drawing/2014/main" id="{3D558CC3-A905-D220-11FC-FE4CE7CD866B}"/>
                </a:ext>
              </a:extLst>
            </p:cNvPr>
            <p:cNvSpPr txBox="1"/>
            <p:nvPr/>
          </p:nvSpPr>
          <p:spPr>
            <a:xfrm>
              <a:off x="6731000" y="2184400"/>
              <a:ext cx="4572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pt-BR" sz="1650" b="1" spc="-20">
                  <a:solidFill>
                    <a:srgbClr val="0B0B0C"/>
                  </a:solidFill>
                  <a:latin typeface="Urbanist" panose="020B0A04040200000203" pitchFamily="34" charset="0"/>
                </a:rPr>
                <a:t>Desenhar</a:t>
              </a:r>
            </a:p>
          </p:txBody>
        </p:sp>
        <p:sp>
          <p:nvSpPr>
            <p:cNvPr id="13" name="CaixaDeTexto 12">
              <a:extLst>
                <a:ext uri="{FF2B5EF4-FFF2-40B4-BE49-F238E27FC236}">
                  <a16:creationId xmlns:a16="http://schemas.microsoft.com/office/drawing/2014/main" id="{7093C7ED-8A1B-05C6-37F2-A96735AD6C1E}"/>
                </a:ext>
              </a:extLst>
            </p:cNvPr>
            <p:cNvSpPr txBox="1"/>
            <p:nvPr/>
          </p:nvSpPr>
          <p:spPr>
            <a:xfrm>
              <a:off x="6731000" y="2476500"/>
              <a:ext cx="4572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104000"/>
                </a:lnSpc>
              </a:pPr>
              <a:r>
                <a:rPr lang="pt-BR" sz="1050">
                  <a:solidFill>
                    <a:srgbClr val="575C61"/>
                  </a:solidFill>
                  <a:latin typeface="Instrument Sans Medium" pitchFamily="2" charset="0"/>
                </a:rPr>
                <a:t>Solução, experiência, arquitetura e integrações.</a:t>
              </a:r>
            </a:p>
          </p:txBody>
        </p:sp>
      </p:grpSp>
      <p:grpSp>
        <p:nvGrpSpPr>
          <p:cNvPr id="19" name="Agrupar 18">
            <a:extLst>
              <a:ext uri="{FF2B5EF4-FFF2-40B4-BE49-F238E27FC236}">
                <a16:creationId xmlns:a16="http://schemas.microsoft.com/office/drawing/2014/main" id="{E9E5831B-64CA-021C-D9C5-193FC2847D36}"/>
              </a:ext>
            </a:extLst>
          </p:cNvPr>
          <p:cNvGrpSpPr/>
          <p:nvPr/>
        </p:nvGrpSpPr>
        <p:grpSpPr>
          <a:xfrm>
            <a:off x="5969000" y="3098800"/>
            <a:ext cx="5334000" cy="712232"/>
            <a:chOff x="5969000" y="3098800"/>
            <a:chExt cx="5334000" cy="712232"/>
          </a:xfrm>
        </p:grpSpPr>
        <p:sp>
          <p:nvSpPr>
            <p:cNvPr id="15" name="Elipse 14">
              <a:extLst>
                <a:ext uri="{FF2B5EF4-FFF2-40B4-BE49-F238E27FC236}">
                  <a16:creationId xmlns:a16="http://schemas.microsoft.com/office/drawing/2014/main" id="{3C484B3D-843D-98C7-7900-19F060711F32}"/>
                </a:ext>
              </a:extLst>
            </p:cNvPr>
            <p:cNvSpPr/>
            <p:nvPr/>
          </p:nvSpPr>
          <p:spPr>
            <a:xfrm>
              <a:off x="5969000" y="3098800"/>
              <a:ext cx="533400" cy="533400"/>
            </a:xfrm>
            <a:prstGeom prst="ellipse">
              <a:avLst/>
            </a:prstGeom>
            <a:solidFill>
              <a:srgbClr val="FFFFFF"/>
            </a:solidFill>
            <a:ln w="19050" cap="flat" cmpd="sng" algn="ctr">
              <a:solidFill>
                <a:srgbClr val="0B0B0C">
                  <a:alpha val="18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CaixaDeTexto 15">
              <a:extLst>
                <a:ext uri="{FF2B5EF4-FFF2-40B4-BE49-F238E27FC236}">
                  <a16:creationId xmlns:a16="http://schemas.microsoft.com/office/drawing/2014/main" id="{220C12A3-96CA-5DDB-1B23-7732A315E8D3}"/>
                </a:ext>
              </a:extLst>
            </p:cNvPr>
            <p:cNvSpPr txBox="1"/>
            <p:nvPr/>
          </p:nvSpPr>
          <p:spPr>
            <a:xfrm>
              <a:off x="5969000" y="3263900"/>
              <a:ext cx="5334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pt-BR" sz="1300" b="1">
                  <a:solidFill>
                    <a:srgbClr val="0B0B0C"/>
                  </a:solidFill>
                  <a:latin typeface="Urbanist" panose="020B0A04040200000203" pitchFamily="34" charset="0"/>
                </a:rPr>
                <a:t>3</a:t>
              </a:r>
            </a:p>
          </p:txBody>
        </p:sp>
        <p:sp>
          <p:nvSpPr>
            <p:cNvPr id="17" name="CaixaDeTexto 16">
              <a:extLst>
                <a:ext uri="{FF2B5EF4-FFF2-40B4-BE49-F238E27FC236}">
                  <a16:creationId xmlns:a16="http://schemas.microsoft.com/office/drawing/2014/main" id="{330BBDEF-5400-B0A9-9415-BEB0CC4E3E51}"/>
                </a:ext>
              </a:extLst>
            </p:cNvPr>
            <p:cNvSpPr txBox="1"/>
            <p:nvPr/>
          </p:nvSpPr>
          <p:spPr>
            <a:xfrm>
              <a:off x="6731000" y="3149600"/>
              <a:ext cx="4572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pt-BR" sz="1650" b="1" spc="-20">
                  <a:solidFill>
                    <a:srgbClr val="0B0B0C"/>
                  </a:solidFill>
                  <a:latin typeface="Urbanist" panose="020B0A04040200000203" pitchFamily="34" charset="0"/>
                </a:rPr>
                <a:t>Construir</a:t>
              </a:r>
            </a:p>
          </p:txBody>
        </p:sp>
        <p:sp>
          <p:nvSpPr>
            <p:cNvPr id="18" name="CaixaDeTexto 17">
              <a:extLst>
                <a:ext uri="{FF2B5EF4-FFF2-40B4-BE49-F238E27FC236}">
                  <a16:creationId xmlns:a16="http://schemas.microsoft.com/office/drawing/2014/main" id="{B0CBDDA6-72BD-9942-5859-37768BA82A5F}"/>
                </a:ext>
              </a:extLst>
            </p:cNvPr>
            <p:cNvSpPr txBox="1"/>
            <p:nvPr/>
          </p:nvSpPr>
          <p:spPr>
            <a:xfrm>
              <a:off x="6731000" y="3441700"/>
              <a:ext cx="4572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104000"/>
                </a:lnSpc>
              </a:pPr>
              <a:r>
                <a:rPr lang="pt-BR" sz="1050">
                  <a:solidFill>
                    <a:srgbClr val="575C61"/>
                  </a:solidFill>
                  <a:latin typeface="Instrument Sans Medium" pitchFamily="2" charset="0"/>
                </a:rPr>
                <a:t>Ciclos curtos, validação contínua.</a:t>
              </a:r>
            </a:p>
          </p:txBody>
        </p:sp>
      </p:grpSp>
      <p:grpSp>
        <p:nvGrpSpPr>
          <p:cNvPr id="24" name="Agrupar 23">
            <a:extLst>
              <a:ext uri="{FF2B5EF4-FFF2-40B4-BE49-F238E27FC236}">
                <a16:creationId xmlns:a16="http://schemas.microsoft.com/office/drawing/2014/main" id="{E6DBE15C-7A36-52FD-F01F-18A46AE2FC83}"/>
              </a:ext>
            </a:extLst>
          </p:cNvPr>
          <p:cNvGrpSpPr/>
          <p:nvPr/>
        </p:nvGrpSpPr>
        <p:grpSpPr>
          <a:xfrm>
            <a:off x="5969000" y="4064000"/>
            <a:ext cx="5334000" cy="712232"/>
            <a:chOff x="5969000" y="4064000"/>
            <a:chExt cx="5334000" cy="712232"/>
          </a:xfrm>
        </p:grpSpPr>
        <p:sp>
          <p:nvSpPr>
            <p:cNvPr id="20" name="Elipse 19">
              <a:extLst>
                <a:ext uri="{FF2B5EF4-FFF2-40B4-BE49-F238E27FC236}">
                  <a16:creationId xmlns:a16="http://schemas.microsoft.com/office/drawing/2014/main" id="{C9D09402-E5B8-022A-CE33-86511E8F6F6C}"/>
                </a:ext>
              </a:extLst>
            </p:cNvPr>
            <p:cNvSpPr/>
            <p:nvPr/>
          </p:nvSpPr>
          <p:spPr>
            <a:xfrm>
              <a:off x="5969000" y="4064000"/>
              <a:ext cx="533400" cy="533400"/>
            </a:xfrm>
            <a:prstGeom prst="ellipse">
              <a:avLst/>
            </a:prstGeom>
            <a:solidFill>
              <a:srgbClr val="FFFFFF"/>
            </a:solidFill>
            <a:ln w="19050" cap="flat" cmpd="sng" algn="ctr">
              <a:solidFill>
                <a:srgbClr val="0B0B0C">
                  <a:alpha val="18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" name="CaixaDeTexto 20">
              <a:extLst>
                <a:ext uri="{FF2B5EF4-FFF2-40B4-BE49-F238E27FC236}">
                  <a16:creationId xmlns:a16="http://schemas.microsoft.com/office/drawing/2014/main" id="{F6856B17-B3A4-5377-9F79-2C420CD6885D}"/>
                </a:ext>
              </a:extLst>
            </p:cNvPr>
            <p:cNvSpPr txBox="1"/>
            <p:nvPr/>
          </p:nvSpPr>
          <p:spPr>
            <a:xfrm>
              <a:off x="5969000" y="4229100"/>
              <a:ext cx="5334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pt-BR" sz="1300" b="1">
                  <a:solidFill>
                    <a:srgbClr val="0B0B0C"/>
                  </a:solidFill>
                  <a:latin typeface="Urbanist" panose="020B0A04040200000203" pitchFamily="34" charset="0"/>
                </a:rPr>
                <a:t>4</a:t>
              </a:r>
            </a:p>
          </p:txBody>
        </p:sp>
        <p:sp>
          <p:nvSpPr>
            <p:cNvPr id="22" name="CaixaDeTexto 21">
              <a:extLst>
                <a:ext uri="{FF2B5EF4-FFF2-40B4-BE49-F238E27FC236}">
                  <a16:creationId xmlns:a16="http://schemas.microsoft.com/office/drawing/2014/main" id="{576FB0B8-1297-30AD-2D7D-BF47FBC623A5}"/>
                </a:ext>
              </a:extLst>
            </p:cNvPr>
            <p:cNvSpPr txBox="1"/>
            <p:nvPr/>
          </p:nvSpPr>
          <p:spPr>
            <a:xfrm>
              <a:off x="6731000" y="4114800"/>
              <a:ext cx="4572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pt-BR" sz="1650" b="1" spc="-20">
                  <a:solidFill>
                    <a:srgbClr val="0B0B0C"/>
                  </a:solidFill>
                  <a:latin typeface="Urbanist" panose="020B0A04040200000203" pitchFamily="34" charset="0"/>
                </a:rPr>
                <a:t>Implantar</a:t>
              </a:r>
            </a:p>
          </p:txBody>
        </p:sp>
        <p:sp>
          <p:nvSpPr>
            <p:cNvPr id="23" name="CaixaDeTexto 22">
              <a:extLst>
                <a:ext uri="{FF2B5EF4-FFF2-40B4-BE49-F238E27FC236}">
                  <a16:creationId xmlns:a16="http://schemas.microsoft.com/office/drawing/2014/main" id="{8E9339DD-59FC-E523-622E-89ACD1875DF7}"/>
                </a:ext>
              </a:extLst>
            </p:cNvPr>
            <p:cNvSpPr txBox="1"/>
            <p:nvPr/>
          </p:nvSpPr>
          <p:spPr>
            <a:xfrm>
              <a:off x="6731000" y="4406900"/>
              <a:ext cx="4572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104000"/>
                </a:lnSpc>
              </a:pPr>
              <a:r>
                <a:rPr lang="pt-BR" sz="1050">
                  <a:solidFill>
                    <a:srgbClr val="575C61"/>
                  </a:solidFill>
                  <a:latin typeface="Instrument Sans Medium" pitchFamily="2" charset="0"/>
                </a:rPr>
                <a:t>Na operação real.</a:t>
              </a:r>
            </a:p>
          </p:txBody>
        </p:sp>
      </p:grpSp>
      <p:grpSp>
        <p:nvGrpSpPr>
          <p:cNvPr id="29" name="Agrupar 28">
            <a:extLst>
              <a:ext uri="{FF2B5EF4-FFF2-40B4-BE49-F238E27FC236}">
                <a16:creationId xmlns:a16="http://schemas.microsoft.com/office/drawing/2014/main" id="{72BE8846-7DDA-00A5-2C0C-01797E85D0B5}"/>
              </a:ext>
            </a:extLst>
          </p:cNvPr>
          <p:cNvGrpSpPr/>
          <p:nvPr/>
        </p:nvGrpSpPr>
        <p:grpSpPr>
          <a:xfrm>
            <a:off x="5969000" y="5029200"/>
            <a:ext cx="5334000" cy="712232"/>
            <a:chOff x="5969000" y="5029200"/>
            <a:chExt cx="5334000" cy="712232"/>
          </a:xfrm>
        </p:grpSpPr>
        <p:sp>
          <p:nvSpPr>
            <p:cNvPr id="25" name="Elipse 24">
              <a:extLst>
                <a:ext uri="{FF2B5EF4-FFF2-40B4-BE49-F238E27FC236}">
                  <a16:creationId xmlns:a16="http://schemas.microsoft.com/office/drawing/2014/main" id="{71368D00-A135-0EB2-04B7-808B8FF00690}"/>
                </a:ext>
              </a:extLst>
            </p:cNvPr>
            <p:cNvSpPr/>
            <p:nvPr/>
          </p:nvSpPr>
          <p:spPr>
            <a:xfrm>
              <a:off x="5969000" y="5029200"/>
              <a:ext cx="533400" cy="533400"/>
            </a:xfrm>
            <a:prstGeom prst="ellipse">
              <a:avLst/>
            </a:prstGeom>
            <a:solidFill>
              <a:srgbClr val="46EB7E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" name="CaixaDeTexto 25">
              <a:extLst>
                <a:ext uri="{FF2B5EF4-FFF2-40B4-BE49-F238E27FC236}">
                  <a16:creationId xmlns:a16="http://schemas.microsoft.com/office/drawing/2014/main" id="{7DE41FB0-785C-191D-9CEA-CB1BCCC33F51}"/>
                </a:ext>
              </a:extLst>
            </p:cNvPr>
            <p:cNvSpPr txBox="1"/>
            <p:nvPr/>
          </p:nvSpPr>
          <p:spPr>
            <a:xfrm>
              <a:off x="5969000" y="5194300"/>
              <a:ext cx="5334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pt-BR" sz="1300" b="1">
                  <a:solidFill>
                    <a:srgbClr val="0B0B0C"/>
                  </a:solidFill>
                  <a:latin typeface="Urbanist" panose="020B0A04040200000203" pitchFamily="34" charset="0"/>
                </a:rPr>
                <a:t>5</a:t>
              </a:r>
            </a:p>
          </p:txBody>
        </p:sp>
        <p:sp>
          <p:nvSpPr>
            <p:cNvPr id="27" name="CaixaDeTexto 26">
              <a:extLst>
                <a:ext uri="{FF2B5EF4-FFF2-40B4-BE49-F238E27FC236}">
                  <a16:creationId xmlns:a16="http://schemas.microsoft.com/office/drawing/2014/main" id="{E8886B17-338C-52A2-C414-17389B9744C7}"/>
                </a:ext>
              </a:extLst>
            </p:cNvPr>
            <p:cNvSpPr txBox="1"/>
            <p:nvPr/>
          </p:nvSpPr>
          <p:spPr>
            <a:xfrm>
              <a:off x="6731000" y="5080000"/>
              <a:ext cx="4572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pt-BR" sz="1650" b="1" spc="-20">
                  <a:solidFill>
                    <a:srgbClr val="0B0B0C"/>
                  </a:solidFill>
                  <a:latin typeface="Urbanist" panose="020B0A04040200000203" pitchFamily="34" charset="0"/>
                </a:rPr>
                <a:t>Evoluir</a:t>
              </a:r>
            </a:p>
          </p:txBody>
        </p:sp>
        <p:sp>
          <p:nvSpPr>
            <p:cNvPr id="28" name="CaixaDeTexto 27">
              <a:extLst>
                <a:ext uri="{FF2B5EF4-FFF2-40B4-BE49-F238E27FC236}">
                  <a16:creationId xmlns:a16="http://schemas.microsoft.com/office/drawing/2014/main" id="{7C8615EF-DC9C-9531-D8EE-63D1CE3C7649}"/>
                </a:ext>
              </a:extLst>
            </p:cNvPr>
            <p:cNvSpPr txBox="1"/>
            <p:nvPr/>
          </p:nvSpPr>
          <p:spPr>
            <a:xfrm>
              <a:off x="6731000" y="5372100"/>
              <a:ext cx="4572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104000"/>
                </a:lnSpc>
              </a:pPr>
              <a:r>
                <a:rPr lang="pt-BR" sz="1050">
                  <a:solidFill>
                    <a:srgbClr val="575C61"/>
                  </a:solidFill>
                  <a:latin typeface="Instrument Sans Medium" pitchFamily="2" charset="0"/>
                </a:rPr>
                <a:t>Uso, resultados e novas oportunidades.</a:t>
              </a:r>
            </a:p>
          </p:txBody>
        </p:sp>
      </p:grpSp>
      <p:cxnSp>
        <p:nvCxnSpPr>
          <p:cNvPr id="30" name="Conector reto 29">
            <a:extLst>
              <a:ext uri="{FF2B5EF4-FFF2-40B4-BE49-F238E27FC236}">
                <a16:creationId xmlns:a16="http://schemas.microsoft.com/office/drawing/2014/main" id="{209EFDB3-9DF5-3B37-F772-A3F70E62A267}"/>
              </a:ext>
            </a:extLst>
          </p:cNvPr>
          <p:cNvCxnSpPr/>
          <p:nvPr/>
        </p:nvCxnSpPr>
        <p:spPr>
          <a:xfrm>
            <a:off x="685800" y="6578600"/>
            <a:ext cx="10147300" cy="0"/>
          </a:xfrm>
          <a:prstGeom prst="line">
            <a:avLst/>
          </a:prstGeom>
          <a:ln w="19050" cap="flat" cmpd="sng" algn="ctr">
            <a:solidFill>
              <a:srgbClr val="0B0B0C">
                <a:alpha val="14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ector reto 30">
            <a:extLst>
              <a:ext uri="{FF2B5EF4-FFF2-40B4-BE49-F238E27FC236}">
                <a16:creationId xmlns:a16="http://schemas.microsoft.com/office/drawing/2014/main" id="{01571133-E192-A670-9330-616803A4C700}"/>
              </a:ext>
            </a:extLst>
          </p:cNvPr>
          <p:cNvCxnSpPr/>
          <p:nvPr/>
        </p:nvCxnSpPr>
        <p:spPr>
          <a:xfrm>
            <a:off x="685800" y="6578600"/>
            <a:ext cx="8456083" cy="0"/>
          </a:xfrm>
          <a:prstGeom prst="line">
            <a:avLst/>
          </a:prstGeom>
          <a:ln w="19050" cap="flat" cmpd="sng" algn="ctr">
            <a:solidFill>
              <a:srgbClr val="0F7C47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Elipse 31">
            <a:extLst>
              <a:ext uri="{FF2B5EF4-FFF2-40B4-BE49-F238E27FC236}">
                <a16:creationId xmlns:a16="http://schemas.microsoft.com/office/drawing/2014/main" id="{18C0BD21-0030-9D71-5304-F3CB12D0ACD3}"/>
              </a:ext>
            </a:extLst>
          </p:cNvPr>
          <p:cNvSpPr/>
          <p:nvPr/>
        </p:nvSpPr>
        <p:spPr>
          <a:xfrm>
            <a:off x="9091083" y="6527800"/>
            <a:ext cx="101600" cy="101600"/>
          </a:xfrm>
          <a:prstGeom prst="ellipse">
            <a:avLst/>
          </a:prstGeom>
          <a:solidFill>
            <a:srgbClr val="0F7C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9DD82640-FA2C-6FBB-A558-EB3DD6CB42AA}"/>
              </a:ext>
            </a:extLst>
          </p:cNvPr>
          <p:cNvSpPr txBox="1"/>
          <p:nvPr/>
        </p:nvSpPr>
        <p:spPr>
          <a:xfrm>
            <a:off x="10947400" y="6502400"/>
            <a:ext cx="558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lnSpc>
                <a:spcPct val="104000"/>
              </a:lnSpc>
            </a:pPr>
            <a:r>
              <a:rPr lang="pt-BR" sz="850" spc="80">
                <a:solidFill>
                  <a:srgbClr val="575C61"/>
                </a:solidFill>
                <a:latin typeface="Instrument Sans Medium" pitchFamily="2" charset="0"/>
              </a:rPr>
              <a:t>10 / 12</a:t>
            </a:r>
          </a:p>
        </p:txBody>
      </p:sp>
    </p:spTree>
    <p:extLst>
      <p:ext uri="{BB962C8B-B14F-4D97-AF65-F5344CB8AC3E}">
        <p14:creationId xmlns:p14="http://schemas.microsoft.com/office/powerpoint/2010/main" val="195970899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76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89A70992-B060-D114-EDF6-1F6B918BF745}"/>
              </a:ext>
            </a:extLst>
          </p:cNvPr>
          <p:cNvSpPr txBox="1"/>
          <p:nvPr/>
        </p:nvSpPr>
        <p:spPr>
          <a:xfrm>
            <a:off x="685800" y="571500"/>
            <a:ext cx="508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04000"/>
              </a:lnSpc>
            </a:pPr>
            <a:r>
              <a:rPr lang="pt-BR" sz="1000" spc="170">
                <a:solidFill>
                  <a:srgbClr val="46EB7E"/>
                </a:solidFill>
                <a:latin typeface="Instrument Sans Medium" pitchFamily="2" charset="0"/>
              </a:rPr>
              <a:t>PARA QUEM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B2678786-AB12-6365-6291-FD6F6B294983}"/>
              </a:ext>
            </a:extLst>
          </p:cNvPr>
          <p:cNvSpPr txBox="1"/>
          <p:nvPr/>
        </p:nvSpPr>
        <p:spPr>
          <a:xfrm>
            <a:off x="685800" y="965200"/>
            <a:ext cx="10820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90000"/>
              </a:lnSpc>
            </a:pPr>
            <a:r>
              <a:rPr lang="pt-BR" sz="4300" b="1" spc="-120">
                <a:solidFill>
                  <a:srgbClr val="FFFFFF"/>
                </a:solidFill>
                <a:latin typeface="Urbanist" panose="020B0A04040200000203" pitchFamily="34" charset="0"/>
              </a:rPr>
              <a:t>Para empresas que já têm operação —
e querem chegar ao </a:t>
            </a:r>
            <a:r>
              <a:rPr lang="pt-BR" sz="4300" b="1" spc="-120">
                <a:solidFill>
                  <a:srgbClr val="46EB7E"/>
                </a:solidFill>
                <a:latin typeface="Urbanist" panose="020B0A04040200000203" pitchFamily="34" charset="0"/>
              </a:rPr>
              <a:t>próximo nível.</a:t>
            </a: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85F71FAC-34CA-13BC-4163-305AE60B3703}"/>
              </a:ext>
            </a:extLst>
          </p:cNvPr>
          <p:cNvSpPr/>
          <p:nvPr/>
        </p:nvSpPr>
        <p:spPr>
          <a:xfrm>
            <a:off x="685800" y="2946400"/>
            <a:ext cx="2413000" cy="419100"/>
          </a:xfrm>
          <a:prstGeom prst="roundRect">
            <a:avLst>
              <a:gd name="adj" fmla="val 50000"/>
            </a:avLst>
          </a:prstGeom>
          <a:solidFill>
            <a:srgbClr val="131316"/>
          </a:solidFill>
          <a:ln w="12700" cap="flat" cmpd="sng" algn="ctr">
            <a:solidFill>
              <a:srgbClr val="FFFFFF">
                <a:alpha val="20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50800" tIns="0" rIns="50800" bIns="0" rtlCol="0" anchor="ctr">
            <a:noAutofit/>
          </a:bodyPr>
          <a:lstStyle/>
          <a:p>
            <a:pPr algn="ctr"/>
            <a:r>
              <a:rPr lang="pt-BR" sz="1250">
                <a:solidFill>
                  <a:srgbClr val="E8EAEC"/>
                </a:solidFill>
                <a:latin typeface="Instrument Sans Medium" pitchFamily="2" charset="0"/>
              </a:rPr>
              <a:t>Processos que não escalam</a:t>
            </a:r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83AC4E89-F328-0C87-E7DA-B26A338A5D5E}"/>
              </a:ext>
            </a:extLst>
          </p:cNvPr>
          <p:cNvSpPr/>
          <p:nvPr/>
        </p:nvSpPr>
        <p:spPr>
          <a:xfrm>
            <a:off x="3238500" y="2946400"/>
            <a:ext cx="2184400" cy="419100"/>
          </a:xfrm>
          <a:prstGeom prst="roundRect">
            <a:avLst>
              <a:gd name="adj" fmla="val 50000"/>
            </a:avLst>
          </a:prstGeom>
          <a:solidFill>
            <a:srgbClr val="131316"/>
          </a:solidFill>
          <a:ln w="12700" cap="flat" cmpd="sng" algn="ctr">
            <a:solidFill>
              <a:srgbClr val="FFFFFF">
                <a:alpha val="20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50800" tIns="0" rIns="50800" bIns="0" rtlCol="0" anchor="ctr">
            <a:noAutofit/>
          </a:bodyPr>
          <a:lstStyle/>
          <a:p>
            <a:pPr algn="ctr"/>
            <a:r>
              <a:rPr lang="pt-BR" sz="1250">
                <a:solidFill>
                  <a:srgbClr val="E8EAEC"/>
                </a:solidFill>
                <a:latin typeface="Instrument Sans Medium" pitchFamily="2" charset="0"/>
              </a:rPr>
              <a:t>Sistemas desconectados</a:t>
            </a:r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293A235E-8A09-055B-6674-AC1756F1BD39}"/>
              </a:ext>
            </a:extLst>
          </p:cNvPr>
          <p:cNvSpPr/>
          <p:nvPr/>
        </p:nvSpPr>
        <p:spPr>
          <a:xfrm>
            <a:off x="5562600" y="2946400"/>
            <a:ext cx="1714500" cy="419100"/>
          </a:xfrm>
          <a:prstGeom prst="roundRect">
            <a:avLst>
              <a:gd name="adj" fmla="val 50000"/>
            </a:avLst>
          </a:prstGeom>
          <a:solidFill>
            <a:srgbClr val="131316"/>
          </a:solidFill>
          <a:ln w="12700" cap="flat" cmpd="sng" algn="ctr">
            <a:solidFill>
              <a:srgbClr val="FFFFFF">
                <a:alpha val="20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50800" tIns="0" rIns="50800" bIns="0" rtlCol="0" anchor="ctr">
            <a:noAutofit/>
          </a:bodyPr>
          <a:lstStyle/>
          <a:p>
            <a:pPr algn="ctr"/>
            <a:r>
              <a:rPr lang="pt-BR" sz="1250">
                <a:solidFill>
                  <a:srgbClr val="E8EAEC"/>
                </a:solidFill>
                <a:latin typeface="Instrument Sans Medium" pitchFamily="2" charset="0"/>
              </a:rPr>
              <a:t>Dados espalhados</a:t>
            </a:r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5E683AD2-5657-E04F-73F0-8B27C2625FA9}"/>
              </a:ext>
            </a:extLst>
          </p:cNvPr>
          <p:cNvSpPr/>
          <p:nvPr/>
        </p:nvSpPr>
        <p:spPr>
          <a:xfrm>
            <a:off x="7416800" y="2946400"/>
            <a:ext cx="3327400" cy="419100"/>
          </a:xfrm>
          <a:prstGeom prst="roundRect">
            <a:avLst>
              <a:gd name="adj" fmla="val 50000"/>
            </a:avLst>
          </a:prstGeom>
          <a:solidFill>
            <a:srgbClr val="131316"/>
          </a:solidFill>
          <a:ln w="12700" cap="flat" cmpd="sng" algn="ctr">
            <a:solidFill>
              <a:srgbClr val="FFFFFF">
                <a:alpha val="20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50800" tIns="0" rIns="50800" bIns="0" rtlCol="0" anchor="ctr">
            <a:noAutofit/>
          </a:bodyPr>
          <a:lstStyle/>
          <a:p>
            <a:pPr algn="ctr"/>
            <a:r>
              <a:rPr lang="pt-BR" sz="1250">
                <a:solidFill>
                  <a:srgbClr val="E8EAEC"/>
                </a:solidFill>
                <a:latin typeface="Instrument Sans Medium" pitchFamily="2" charset="0"/>
              </a:rPr>
              <a:t>Oportunidades digitais não exploradas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E14052A0-E701-AE53-048D-83A078EEF77B}"/>
              </a:ext>
            </a:extLst>
          </p:cNvPr>
          <p:cNvSpPr txBox="1"/>
          <p:nvPr/>
        </p:nvSpPr>
        <p:spPr>
          <a:xfrm>
            <a:off x="685800" y="5461000"/>
            <a:ext cx="812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30000"/>
              </a:lnSpc>
            </a:pPr>
            <a:r>
              <a:rPr lang="pt-BR" sz="1500">
                <a:solidFill>
                  <a:srgbClr val="9BA1A6"/>
                </a:solidFill>
                <a:latin typeface="Instrument Sans Medium" pitchFamily="2" charset="0"/>
              </a:rPr>
              <a:t>Se a empresa já funciona, mas a tecnologia começou a limitar o crescimento, </a:t>
            </a:r>
            <a:r>
              <a:rPr lang="pt-BR" sz="1500">
                <a:solidFill>
                  <a:srgbClr val="46EB7E"/>
                </a:solidFill>
                <a:latin typeface="Instrument Sans Medium" pitchFamily="2" charset="0"/>
              </a:rPr>
              <a:t>provavelmente existe algo que podemos construir.</a:t>
            </a:r>
          </a:p>
        </p:txBody>
      </p:sp>
      <p:cxnSp>
        <p:nvCxnSpPr>
          <p:cNvPr id="9" name="Conector reto 8">
            <a:extLst>
              <a:ext uri="{FF2B5EF4-FFF2-40B4-BE49-F238E27FC236}">
                <a16:creationId xmlns:a16="http://schemas.microsoft.com/office/drawing/2014/main" id="{932D8315-972D-6038-3A30-AA148205C0AE}"/>
              </a:ext>
            </a:extLst>
          </p:cNvPr>
          <p:cNvCxnSpPr/>
          <p:nvPr/>
        </p:nvCxnSpPr>
        <p:spPr>
          <a:xfrm>
            <a:off x="685800" y="6578600"/>
            <a:ext cx="10147300" cy="0"/>
          </a:xfrm>
          <a:prstGeom prst="line">
            <a:avLst/>
          </a:prstGeom>
          <a:ln w="19050" cap="flat" cmpd="sng" algn="ctr">
            <a:solidFill>
              <a:srgbClr val="FFFFFF">
                <a:alpha val="14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ector reto 9">
            <a:extLst>
              <a:ext uri="{FF2B5EF4-FFF2-40B4-BE49-F238E27FC236}">
                <a16:creationId xmlns:a16="http://schemas.microsoft.com/office/drawing/2014/main" id="{72032AFB-777B-7E39-9B37-4DC8635588BD}"/>
              </a:ext>
            </a:extLst>
          </p:cNvPr>
          <p:cNvCxnSpPr/>
          <p:nvPr/>
        </p:nvCxnSpPr>
        <p:spPr>
          <a:xfrm>
            <a:off x="685800" y="6578600"/>
            <a:ext cx="9301692" cy="0"/>
          </a:xfrm>
          <a:prstGeom prst="line">
            <a:avLst/>
          </a:prstGeom>
          <a:ln w="19050" cap="flat" cmpd="sng" algn="ctr">
            <a:solidFill>
              <a:srgbClr val="46EB7E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Elipse 10">
            <a:extLst>
              <a:ext uri="{FF2B5EF4-FFF2-40B4-BE49-F238E27FC236}">
                <a16:creationId xmlns:a16="http://schemas.microsoft.com/office/drawing/2014/main" id="{1292FE76-6AF3-84F6-6FEB-DDE0A136993B}"/>
              </a:ext>
            </a:extLst>
          </p:cNvPr>
          <p:cNvSpPr/>
          <p:nvPr/>
        </p:nvSpPr>
        <p:spPr>
          <a:xfrm>
            <a:off x="9936692" y="6527800"/>
            <a:ext cx="101600" cy="101600"/>
          </a:xfrm>
          <a:prstGeom prst="ellipse">
            <a:avLst/>
          </a:prstGeom>
          <a:solidFill>
            <a:srgbClr val="46EB7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7DDDED54-FBEA-942C-EC00-502EE4492CD5}"/>
              </a:ext>
            </a:extLst>
          </p:cNvPr>
          <p:cNvSpPr txBox="1"/>
          <p:nvPr/>
        </p:nvSpPr>
        <p:spPr>
          <a:xfrm>
            <a:off x="10947400" y="6502400"/>
            <a:ext cx="558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lnSpc>
                <a:spcPct val="104000"/>
              </a:lnSpc>
            </a:pPr>
            <a:r>
              <a:rPr lang="pt-BR" sz="850" spc="80">
                <a:solidFill>
                  <a:srgbClr val="9BA1A6"/>
                </a:solidFill>
                <a:latin typeface="Instrument Sans Medium" pitchFamily="2" charset="0"/>
              </a:rPr>
              <a:t>11 / 12</a:t>
            </a:r>
          </a:p>
        </p:txBody>
      </p:sp>
    </p:spTree>
    <p:extLst>
      <p:ext uri="{BB962C8B-B14F-4D97-AF65-F5344CB8AC3E}">
        <p14:creationId xmlns:p14="http://schemas.microsoft.com/office/powerpoint/2010/main" val="179331207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 animBg="1"/>
      <p:bldP spid="5" grpId="0" animBg="1"/>
      <p:bldP spid="6" grpId="0" animBg="1"/>
      <p:bldP spid="7" grpId="0" animBg="1"/>
      <p:bldP spid="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ipse 1">
            <a:extLst>
              <a:ext uri="{FF2B5EF4-FFF2-40B4-BE49-F238E27FC236}">
                <a16:creationId xmlns:a16="http://schemas.microsoft.com/office/drawing/2014/main" id="{4E553F24-ADD6-B39F-0CC8-B066311BFDE0}"/>
              </a:ext>
            </a:extLst>
          </p:cNvPr>
          <p:cNvSpPr/>
          <p:nvPr/>
        </p:nvSpPr>
        <p:spPr>
          <a:xfrm>
            <a:off x="7810500" y="2730500"/>
            <a:ext cx="6273800" cy="6273800"/>
          </a:xfrm>
          <a:prstGeom prst="ellipse">
            <a:avLst/>
          </a:prstGeom>
          <a:solidFill>
            <a:srgbClr val="46EB7E">
              <a:alpha val="6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" name="Elipse 2">
            <a:extLst>
              <a:ext uri="{FF2B5EF4-FFF2-40B4-BE49-F238E27FC236}">
                <a16:creationId xmlns:a16="http://schemas.microsoft.com/office/drawing/2014/main" id="{DADBF9B2-0414-DE41-EA26-2CAE8AC80AA4}"/>
              </a:ext>
            </a:extLst>
          </p:cNvPr>
          <p:cNvSpPr/>
          <p:nvPr/>
        </p:nvSpPr>
        <p:spPr>
          <a:xfrm>
            <a:off x="8801100" y="3721100"/>
            <a:ext cx="4292600" cy="4292600"/>
          </a:xfrm>
          <a:prstGeom prst="ellipse">
            <a:avLst/>
          </a:prstGeom>
          <a:solidFill>
            <a:srgbClr val="46EB7E">
              <a:alpha val="7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" name="Elipse 3">
            <a:extLst>
              <a:ext uri="{FF2B5EF4-FFF2-40B4-BE49-F238E27FC236}">
                <a16:creationId xmlns:a16="http://schemas.microsoft.com/office/drawing/2014/main" id="{E607B017-4A7A-2938-0229-9F3F2F65924C}"/>
              </a:ext>
            </a:extLst>
          </p:cNvPr>
          <p:cNvSpPr/>
          <p:nvPr/>
        </p:nvSpPr>
        <p:spPr>
          <a:xfrm>
            <a:off x="9715500" y="4635500"/>
            <a:ext cx="2463800" cy="2463800"/>
          </a:xfrm>
          <a:prstGeom prst="ellipse">
            <a:avLst/>
          </a:prstGeom>
          <a:solidFill>
            <a:srgbClr val="46EB7E">
              <a:alpha val="8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4F5971E6-B6AB-1409-684C-4D14FA6467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800" y="533400"/>
            <a:ext cx="1082566" cy="304800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8B3D8DBD-9B04-5511-0500-03449000FF9E}"/>
              </a:ext>
            </a:extLst>
          </p:cNvPr>
          <p:cNvSpPr txBox="1"/>
          <p:nvPr/>
        </p:nvSpPr>
        <p:spPr>
          <a:xfrm>
            <a:off x="685800" y="20955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90000"/>
              </a:lnSpc>
            </a:pPr>
            <a:r>
              <a:rPr lang="pt-BR" sz="5500" b="1" spc="-160">
                <a:solidFill>
                  <a:srgbClr val="FFFFFF"/>
                </a:solidFill>
                <a:latin typeface="Urbanist" panose="020B0A04040200000203" pitchFamily="34" charset="0"/>
              </a:rPr>
              <a:t>Qual problema da sua empresa valeria a pena </a:t>
            </a:r>
            <a:r>
              <a:rPr lang="pt-BR" sz="5500" b="1" spc="-160">
                <a:solidFill>
                  <a:srgbClr val="46EB7E"/>
                </a:solidFill>
                <a:latin typeface="Urbanist" panose="020B0A04040200000203" pitchFamily="34" charset="0"/>
              </a:rPr>
              <a:t>resolver agora?</a:t>
            </a:r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F2F0C248-28A1-AF60-C3B8-9BAC58F9A1B8}"/>
              </a:ext>
            </a:extLst>
          </p:cNvPr>
          <p:cNvSpPr/>
          <p:nvPr/>
        </p:nvSpPr>
        <p:spPr>
          <a:xfrm>
            <a:off x="685800" y="4572000"/>
            <a:ext cx="2946400" cy="482600"/>
          </a:xfrm>
          <a:prstGeom prst="roundRect">
            <a:avLst>
              <a:gd name="adj" fmla="val 50000"/>
            </a:avLst>
          </a:prstGeom>
          <a:solidFill>
            <a:srgbClr val="46EB7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50800" tIns="0" rIns="50800" bIns="0" rtlCol="0" anchor="ctr"/>
          <a:lstStyle/>
          <a:p>
            <a:pPr algn="ctr"/>
            <a:r>
              <a:rPr lang="pt-BR" sz="1300">
                <a:solidFill>
                  <a:srgbClr val="0B0B0C"/>
                </a:solidFill>
                <a:latin typeface="Instrument Sans Medium" pitchFamily="2" charset="0"/>
              </a:rPr>
              <a:t>WhatsApp +55 11 94879-3233</a:t>
            </a:r>
          </a:p>
        </p:txBody>
      </p: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7639C2D1-B35F-4B0C-E88B-BA393FDB96E6}"/>
              </a:ext>
            </a:extLst>
          </p:cNvPr>
          <p:cNvSpPr/>
          <p:nvPr/>
        </p:nvSpPr>
        <p:spPr>
          <a:xfrm>
            <a:off x="3784600" y="4572000"/>
            <a:ext cx="2184400" cy="482600"/>
          </a:xfrm>
          <a:prstGeom prst="roundRect">
            <a:avLst>
              <a:gd name="adj" fmla="val 50000"/>
            </a:avLst>
          </a:prstGeom>
          <a:solidFill>
            <a:srgbClr val="131316"/>
          </a:solidFill>
          <a:ln w="12700" cap="flat" cmpd="sng" algn="ctr">
            <a:solidFill>
              <a:srgbClr val="FFFFFF">
                <a:alpha val="20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50800" tIns="0" rIns="50800" bIns="0" rtlCol="0" anchor="ctr">
            <a:noAutofit/>
          </a:bodyPr>
          <a:lstStyle/>
          <a:p>
            <a:pPr algn="ctr"/>
            <a:r>
              <a:rPr lang="pt-BR" sz="1300">
                <a:solidFill>
                  <a:srgbClr val="E8EAEC"/>
                </a:solidFill>
                <a:latin typeface="Instrument Sans Medium" pitchFamily="2" charset="0"/>
              </a:rPr>
              <a:t>www.dreamy.app.br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BE7524C2-5DF9-63AE-8A2A-39DC52156F00}"/>
              </a:ext>
            </a:extLst>
          </p:cNvPr>
          <p:cNvSpPr txBox="1"/>
          <p:nvPr/>
        </p:nvSpPr>
        <p:spPr>
          <a:xfrm>
            <a:off x="685800" y="5257800"/>
            <a:ext cx="508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04000"/>
              </a:lnSpc>
            </a:pPr>
            <a:r>
              <a:rPr lang="pt-BR" sz="1200">
                <a:solidFill>
                  <a:srgbClr val="9BA1A6"/>
                </a:solidFill>
                <a:latin typeface="Instrument Sans Medium" pitchFamily="2" charset="0"/>
              </a:rPr>
              <a:t>Vamos falar sobre o seu negócio.</a:t>
            </a:r>
          </a:p>
        </p:txBody>
      </p:sp>
      <p:cxnSp>
        <p:nvCxnSpPr>
          <p:cNvPr id="11" name="Conector reto 10">
            <a:extLst>
              <a:ext uri="{FF2B5EF4-FFF2-40B4-BE49-F238E27FC236}">
                <a16:creationId xmlns:a16="http://schemas.microsoft.com/office/drawing/2014/main" id="{B7684167-75FE-3BC3-5049-556385336C9F}"/>
              </a:ext>
            </a:extLst>
          </p:cNvPr>
          <p:cNvCxnSpPr/>
          <p:nvPr/>
        </p:nvCxnSpPr>
        <p:spPr>
          <a:xfrm>
            <a:off x="685800" y="6578600"/>
            <a:ext cx="10147300" cy="0"/>
          </a:xfrm>
          <a:prstGeom prst="line">
            <a:avLst/>
          </a:prstGeom>
          <a:ln w="19050" cap="flat" cmpd="sng" algn="ctr">
            <a:solidFill>
              <a:srgbClr val="FFFFFF">
                <a:alpha val="14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ector reto 11">
            <a:extLst>
              <a:ext uri="{FF2B5EF4-FFF2-40B4-BE49-F238E27FC236}">
                <a16:creationId xmlns:a16="http://schemas.microsoft.com/office/drawing/2014/main" id="{CF66C08B-9039-EC32-885A-AA7E8BD78E66}"/>
              </a:ext>
            </a:extLst>
          </p:cNvPr>
          <p:cNvCxnSpPr/>
          <p:nvPr/>
        </p:nvCxnSpPr>
        <p:spPr>
          <a:xfrm>
            <a:off x="685800" y="6578600"/>
            <a:ext cx="10147300" cy="0"/>
          </a:xfrm>
          <a:prstGeom prst="line">
            <a:avLst/>
          </a:prstGeom>
          <a:ln w="19050" cap="flat" cmpd="sng" algn="ctr">
            <a:solidFill>
              <a:srgbClr val="46EB7E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Elipse 12">
            <a:extLst>
              <a:ext uri="{FF2B5EF4-FFF2-40B4-BE49-F238E27FC236}">
                <a16:creationId xmlns:a16="http://schemas.microsoft.com/office/drawing/2014/main" id="{2F948FBA-6D19-F7FC-0767-11C70F643D18}"/>
              </a:ext>
            </a:extLst>
          </p:cNvPr>
          <p:cNvSpPr/>
          <p:nvPr/>
        </p:nvSpPr>
        <p:spPr>
          <a:xfrm>
            <a:off x="10782300" y="6527800"/>
            <a:ext cx="101600" cy="101600"/>
          </a:xfrm>
          <a:prstGeom prst="ellipse">
            <a:avLst/>
          </a:prstGeom>
          <a:solidFill>
            <a:srgbClr val="46EB7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15218EA4-C97C-8D61-43A9-D14B60F4B9C5}"/>
              </a:ext>
            </a:extLst>
          </p:cNvPr>
          <p:cNvSpPr txBox="1"/>
          <p:nvPr/>
        </p:nvSpPr>
        <p:spPr>
          <a:xfrm>
            <a:off x="10947400" y="6502400"/>
            <a:ext cx="558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lnSpc>
                <a:spcPct val="104000"/>
              </a:lnSpc>
            </a:pPr>
            <a:r>
              <a:rPr lang="pt-BR" sz="850" spc="80">
                <a:solidFill>
                  <a:srgbClr val="9BA1A6"/>
                </a:solidFill>
                <a:latin typeface="Instrument Sans Medium" pitchFamily="2" charset="0"/>
              </a:rPr>
              <a:t>12 / 12</a:t>
            </a:r>
          </a:p>
        </p:txBody>
      </p:sp>
    </p:spTree>
    <p:extLst>
      <p:ext uri="{BB962C8B-B14F-4D97-AF65-F5344CB8AC3E}">
        <p14:creationId xmlns:p14="http://schemas.microsoft.com/office/powerpoint/2010/main" val="31505080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  <p:bldP spid="9" grpId="0" animBg="1"/>
      <p:bldP spid="10" grpId="0"/>
    </p:bldLst>
  </p:timing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2011</Words>
  <Application>Microsoft Office PowerPoint</Application>
  <PresentationFormat>Personalizar</PresentationFormat>
  <Paragraphs>164</Paragraphs>
  <Slides>12</Slides>
  <Notes>12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12</vt:i4>
      </vt:variant>
    </vt:vector>
  </HeadingPairs>
  <TitlesOfParts>
    <vt:vector size="18" baseType="lpstr">
      <vt:lpstr>Urbanist</vt:lpstr>
      <vt:lpstr>Aptos</vt:lpstr>
      <vt:lpstr>Aptos Display</vt:lpstr>
      <vt:lpstr>Instrument Sans Medium</vt:lpstr>
      <vt:lpstr>Arial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Dreamy — Apresentação Institucional</dc:title>
  <dc:creator>Dreamy</dc:creator>
  <cp:lastModifiedBy>Luigi Choffe</cp:lastModifiedBy>
  <cp:revision>1</cp:revision>
  <dcterms:created xsi:type="dcterms:W3CDTF">2026-08-20T02:01:45Z</dcterms:created>
  <dcterms:modified xsi:type="dcterms:W3CDTF">2026-08-20T02:01:45Z</dcterms:modified>
</cp:coreProperties>
</file>