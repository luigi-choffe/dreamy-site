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strument Sans Medium" pitchFamily="2" charset="0"/>
      <p:regular r:id="rId15"/>
    </p:embeddedFont>
    <p:embeddedFont>
      <p:font typeface="Urbanist" panose="020B0A04040200000203" pitchFamily="34" charset="0"/>
      <p:bold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F0903-87B3-402A-B2D7-54CFFD9CCBF9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3D8F5-F0D5-446F-9F12-2EF6D7824B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59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quebrar o gelo e fazer a promessa da conversa. ≈ 40s
Obrigado pelo tempo de vocês. Eu sou [seu nome], da Dreamy.
Antes de qualquer slide bonito, uma promessa: nos próximos dez minutos eu não vou falar de tecnologia pela tecnologia. Eu vou falar do negócio de vocês — de onde ele trava hoje e de onde ele pode ganhar mais.
A Dreamy constrói software sob medida e agentes de IA. Mas o nosso ponto de partida é sempre o mesmo, e está aí embaixo no slide: começamos pelo problema. A tecnologia vem depois.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07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gerar identificação — a plateia precisa se reconhecer na cena. ≈ 60s
Deixa eu descrever uma empresa, e você me diz se soa familiar.
A empresa cresce. Os processos vão ficando cada vez mais específicos. Os sistemas param de conversar entre si. Alguma planilha — geralmente uma que só uma pessoa entende — passa a sustentar decisões importantes. E lá no comercial, leads esfriam sem ninguém perceber.
[pausa — deixe a cena assentar]
Nada disso é falta de competência. É que a empresa cresceu mais rápido do que a tecnologia dela. E software pronto, de prateleira, não foi feito para o SEU processo — foi feito para a média.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915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a virada. Slide quase vazio de propósito — a força está na pausa. ≈ 15s
E é exatamente nesse ponto que a gente entra.
[pausa longa — não corra este slide]
Quando o software pronto acaba e o seu problema continua — esse é o nosso território.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426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remover a maior objeção ('não sei o que pedir') e mostrar honestidade. ≈ 50s
Uma coisa importante: você não precisa chegar para a gente sabendo o que construir.
Nenhum cliente nosso chegou com uma especificação técnica. Eles chegam com uma dor: "isso aqui demora demais", "estou desperdiçando oportunidade comercial", "não consigo enxergar a minha operação".
O nosso trabalho começa aí — nessa régua do slide: entender a dor, medir o impacto, achar a oportunidade, desenhar a solução, e só então escolher a tecnologia. E às vezes a resposta honesta do diagnóstico é: não vale a pena construir nada. Essa honestidade faz parte do serviço — ninguém aqui quer vender software que não devolve resultado.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040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dar o mapa da conversa e convidar a interrupção (engajamento). ≈ 40s
Na prática, o que a gente constrói se organiza em três frentes.
Um: receita nova — transformar o que a empresa já tem em um produto digital que os clientes dela pagariam para usar. Dois: operação — sistemas construídos em volta do seu processo, e não o contrário. Três: agentes de IA — colocar a IA para executar trabalho de verdade dentro da empresa.
Vou passar rápido pelas três. E pode me interromper na hora em que alguma fizer clique com algo que vocês vivem aí dentro — essa é a parte boa da conversa.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99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plantar a pergunta que fica na cabeça depois da reunião. ≈ 60s
Primeira frente.
A sua empresa já conquistou o mais difícil: clientes, confiança, conhecimento, distribuição. Isso levou anos. A pergunta que a gente faz é: o que MAIS essas pessoas comprariam de você?
Pode ser um portal, uma assinatura, uma ferramenta que resolve uma dor do seu cliente. Cada produto nasce da base que já existe — por isso esse gráfico é conceitual, sem números: os números vêm do diagnóstico, do SEU caso, não de uma promessa genérica minha.
Mas leva essa pergunta para casa: se uma parte dos seus clientes pagasse por um novo produto digital seu... o que valeria a pena construir?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011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inverter a lógica 'empresa se adapta ao software' e reforçar a parceria. ≈ 50s
Segunda frente.
Hoje, a informação da sua operação mora em lugares demais — está aí no slide: planilha, ERP, e-mail, documento... e na cabeça de gente boa. Software genérico obriga a SUA empresa a se adaptar a ELE. A gente inverte isso: constrói o sistema em volta do seu processo.
O resultado é um lugar só, com a informação consolidada — e decisão com visibilidade, não no feeling.
E vale repetir: você não precisa trazer a solução pronta. Você conhece o seu negócio; nós conhecemos tecnologia. O desenho a gente faz junto.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7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desfazer o mal-entendido 'agente = chatbot' e tranquilizar sobre controle. ≈ 50s
Terceira frente — e aqui eu preciso desfazer um mal-entendido.
Agente de IA não é chatbot. É software que executa etapas de um processo: interpreta informação, acessa as ferramentas que VOCÊ autorizar — CRM, ERP, WhatsApp, e-mail, documentos — e faz o trabalho.
Com escopo definido, com regras, com permissões. E quando o assunto precisa de gente, ele passa para gente — está aí na saída de baixo do diagrama.
Autonomia com controle. Sempre nessa ordem.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8698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tornar concreto — três cenas do dia a dia que a plateia reconhece. ≈ 50s
Três lugares onde isso fica concreto.
No atendimento: o agente responde, consulta as informações, registra tudo no CRM — e chama um humano quando a conversa pede um humano.
Em vendas: ele pesquisa o lead, qualifica, prepara o follow-up — o vendedor chega na conversa pronto, em vez de gastar a manhã pesquisando.
Na operação: ele lê sistemas e documentos, consolida, analisa e age.
Repara no padrão das três colunas: o agente fica com o trabalho repetitivo; as pessoas ficam com o que exige gente.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2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reduzir o risco percebido — processo claro, ciclos curtos, sem sumiço. ≈ 45s
E como é trabalhar com a gente? Cinco passos, sem mistério.
Entender: a gente senta junto e mapeia problema, impacto e contexto. Desenhar: solução, experiência, arquitetura. Construir: em ciclos curtos — você vê o software crescendo e valida no caminho; a gente não some seis meses para voltar com uma surpresa. Implantar: na operação real, com quem usa de verdade. E evoluir: porque software bom não termina — acompanha o negócio.
Em cada ciclo você sabe o que está sendo feito, por quê, e o que vem depois.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5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qualificar com franqueza — quem tem fit se reconhece e se inclina. ≈ 40s
Sendo bem direto sobre para quem isso funciona: o nosso trabalho rende mais em empresa que já funciona.
Que já tem operação, clientes, time — e sente que a tecnologia virou o freio, e não o motor.
Se, enquanto eu falava, você lembrou de um processo que não escala, de sistemas que não conversam, de dados espalhados por aí... provavelmente existe algo que a gente pode construir juntos.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990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Objetivo: uma única pergunta + próximo passo simples. Termine e deixe a plateia falar. ≈ 40s
Então eu fecho com a única pergunta que importa hoje:
qual problema da SUA empresa valeria a pena resolver agora?
[pausa — deixe alguém responder; se ninguém responder, chame pelo nome quem demonstrou mais interesse]
Não precisa ser a resposta perfeita. Me conta o contexto, e a gente avalia junto se existe uma solução com impacto de verdade — inclusive se a resposta for "ainda não".
O próximo passo é simples: uma conversa. O WhatsApp está aí no slide. E como diz o nosso site: sem apresentação genérica — na próxima conversa, o assunto é o seu negócio.
Obrigado!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8F5-F0D5-446F-9F12-2EF6D7824B5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183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2F0A0-E7E1-D028-E001-3C8C38C01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A4E1D-AD8F-31A0-67C1-18EEE83E8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EEBAA5-FFFF-15F6-A994-BAAB0D95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E5306-203D-4EC1-36DA-165CF85A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18FCE0-307C-6EE1-C37C-2A784400C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60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9A400-F636-C659-F67B-BB22D486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E8B646-ABCF-BBB4-600F-435DDB2AC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83529C-F7A2-79A9-E4AE-5D5E1E2A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0B75F-5F3B-32EF-2E35-47CCFCC6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AAAF4-BC19-7E10-4AE0-FF1E4C66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49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F2D1C-9697-1248-C796-41ADC775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2E87B2-8F61-2253-64A1-20321033A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C172D1-47D5-D8CA-2334-5038DFAA3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176DC-2971-6CB3-0178-88C0AAD0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DC02B-9960-40F6-7A0D-E07A3756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16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3CE90-C9A9-6888-72F2-EDE94421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10E77E-AD7B-7714-4591-0AE372749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CCB09E-3EAA-BBA2-7387-8D601F8A3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3DDBC4-E42E-088C-9705-7EABB085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03B7F-1877-8260-F5D5-5F396641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765728-8424-FBDF-0B32-0A8E1D6E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04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0FE9E-0564-A5AF-ED28-D502A8DD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4E1E1-71E1-7222-A47D-CD83AA8CC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089F9B-1699-32F2-4C15-D147D0FCD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683B308-4BE3-BF35-5325-AF50AB028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21A58A-903B-F3DF-E0B0-77CF8BF0B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1610F9-4A30-FF81-AD9E-EFC552C8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47FD18-EDB2-2C83-A274-7DE041E3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680074C-ADF9-C4F7-0504-D0CDBF51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10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D260E-80F0-E056-FBFD-294BC880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96926E-8F15-AF51-318B-3905D5E5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48726F9-A39D-D485-EEB0-5E4EB3A5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5B66E6-A2CF-D018-92E2-F9522F80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84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D7F8C9-A514-D4DA-C4CB-EFDA155F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59CDD1-E000-524F-2FA1-1F92BB37C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C225A2-25C5-43E7-2341-C9DA0EF9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2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308CD-7348-900A-117F-1E54B649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928FAF-ADC1-9E29-8C47-28F00B976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F704C6-0D99-FFC0-B7B9-CDD02FDDB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0540B8-031F-8A71-7B0E-B2FEF748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A94ECE-9A31-E54A-2B80-B6474755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82A5BD-350C-5218-257A-299FE9E0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871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7A77F-8BB9-9C06-6EDC-F7D4C4A2C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6F9022-95EB-0E81-DE94-EAC7696EF6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03C834-A549-E6EE-FCF5-C844583CC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8D01E3-C883-1CE3-47C1-A9E19856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9BD28-C197-C3CD-351D-A6161A8A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BB989F-0556-3198-251D-ADCBACF6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83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F2EB3-7A44-FD07-A2F2-3FE37938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7F3FAE-4BE9-FF2F-2EAC-754CA10A4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A15DFB-910E-C39C-6056-AA9632E9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B1059B-F6F8-041A-823A-CAA8B4F9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4E2AF7-4D17-2534-3711-54D7A519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97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DDFFEA-6ACE-F98F-6690-87E926111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AB1E5F-8227-9F0F-B4EB-EBCC4B403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5CEC27-8701-BB88-2B69-1951ACED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54C83-B61B-662F-DA23-70D5CDC4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24D901-E677-C5EE-8856-3962FA95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03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94B7E0-3F3C-3AC4-2076-DB62CAEB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C25DF2-F8C7-DB6B-C84F-9D1AF5816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2C780E-82E6-9462-0DB1-C6A1335E2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C8248-C4A9-4E61-9781-4EA1B2387A6F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57A781-314F-4D04-03C0-71DF51773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5BFCEE-75AA-D748-EEEE-41889C4C7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B318C-A250-4EE9-97D4-C4723DE988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41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B49C1DE-3340-AD29-1263-47C3BB7299CF}"/>
              </a:ext>
            </a:extLst>
          </p:cNvPr>
          <p:cNvSpPr/>
          <p:nvPr/>
        </p:nvSpPr>
        <p:spPr>
          <a:xfrm>
            <a:off x="8089900" y="-1435100"/>
            <a:ext cx="5715000" cy="5715000"/>
          </a:xfrm>
          <a:prstGeom prst="ellipse">
            <a:avLst/>
          </a:prstGeom>
          <a:solidFill>
            <a:srgbClr val="46EB7E">
              <a:alpha val="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EF48238-2DCE-A5F2-C903-67D8584C30A7}"/>
              </a:ext>
            </a:extLst>
          </p:cNvPr>
          <p:cNvSpPr/>
          <p:nvPr/>
        </p:nvSpPr>
        <p:spPr>
          <a:xfrm>
            <a:off x="8953500" y="-571500"/>
            <a:ext cx="3987800" cy="3987800"/>
          </a:xfrm>
          <a:prstGeom prst="ellipse">
            <a:avLst/>
          </a:prstGeom>
          <a:solidFill>
            <a:srgbClr val="46EB7E">
              <a:alpha val="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06CC60C-7551-3718-5C1D-52CDD3A260F9}"/>
              </a:ext>
            </a:extLst>
          </p:cNvPr>
          <p:cNvSpPr/>
          <p:nvPr/>
        </p:nvSpPr>
        <p:spPr>
          <a:xfrm>
            <a:off x="9804400" y="279400"/>
            <a:ext cx="2286000" cy="2286000"/>
          </a:xfrm>
          <a:prstGeom prst="ellipse">
            <a:avLst/>
          </a:prstGeom>
          <a:solidFill>
            <a:srgbClr val="46EB7E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B08315-DF01-C68A-C4D4-0F8D985BE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3400"/>
            <a:ext cx="1082566" cy="3048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801D32F-4331-27E3-3662-DA0B9E002665}"/>
              </a:ext>
            </a:extLst>
          </p:cNvPr>
          <p:cNvSpPr txBox="1"/>
          <p:nvPr/>
        </p:nvSpPr>
        <p:spPr>
          <a:xfrm>
            <a:off x="685800" y="1778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46EB7E"/>
                </a:solidFill>
                <a:latin typeface="Instrument Sans Medium" pitchFamily="2" charset="0"/>
              </a:rPr>
              <a:t>SOFTWARE + INTELIGÊNCIA ARTIFICIAL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93C9E9-E62D-7A0B-85B9-1DE0128F3F54}"/>
              </a:ext>
            </a:extLst>
          </p:cNvPr>
          <p:cNvSpPr txBox="1"/>
          <p:nvPr/>
        </p:nvSpPr>
        <p:spPr>
          <a:xfrm>
            <a:off x="685800" y="190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  <a:t>Tecnologia sob</a:t>
            </a:r>
            <a:b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</a:br>
            <a: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  <a:t>medida para</a:t>
            </a:r>
            <a:b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</a:br>
            <a:r>
              <a:rPr lang="pt-BR" sz="5200" b="1" spc="-150">
                <a:solidFill>
                  <a:srgbClr val="46EB7E"/>
                </a:solidFill>
                <a:latin typeface="Urbanist" panose="020B0A04040200000203" pitchFamily="34" charset="0"/>
              </a:rPr>
              <a:t>ganhar mais</a:t>
            </a:r>
            <a: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  <a:t> e</a:t>
            </a:r>
            <a:b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</a:br>
            <a:r>
              <a:rPr lang="pt-BR" sz="5200" b="1" spc="-150">
                <a:solidFill>
                  <a:srgbClr val="FFFFFF"/>
                </a:solidFill>
                <a:latin typeface="Urbanist" panose="020B0A04040200000203" pitchFamily="34" charset="0"/>
              </a:rPr>
              <a:t>operar melhor.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6008B5-9C68-E8F8-ACB0-84A65B35445B}"/>
              </a:ext>
            </a:extLst>
          </p:cNvPr>
          <p:cNvSpPr txBox="1"/>
          <p:nvPr/>
        </p:nvSpPr>
        <p:spPr>
          <a:xfrm>
            <a:off x="685800" y="543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00">
                <a:solidFill>
                  <a:srgbClr val="9BA1A6"/>
                </a:solidFill>
                <a:latin typeface="Instrument Sans Medium" pitchFamily="2" charset="0"/>
              </a:rPr>
              <a:t>Começamos pelo problema. A tecnologia vem depois.</a:t>
            </a: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EE28CA23-435F-8A33-E4D4-635B71928C99}"/>
              </a:ext>
            </a:extLst>
          </p:cNvPr>
          <p:cNvGrpSpPr/>
          <p:nvPr/>
        </p:nvGrpSpPr>
        <p:grpSpPr>
          <a:xfrm>
            <a:off x="7087822" y="1257300"/>
            <a:ext cx="4175856" cy="4140200"/>
            <a:chOff x="7087822" y="1257300"/>
            <a:chExt cx="4175856" cy="4140200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39624BE1-4EC7-41FB-80F1-249E154DA7CD}"/>
                </a:ext>
              </a:extLst>
            </p:cNvPr>
            <p:cNvSpPr/>
            <p:nvPr/>
          </p:nvSpPr>
          <p:spPr>
            <a:xfrm>
              <a:off x="7302500" y="1422400"/>
              <a:ext cx="3810000" cy="3810000"/>
            </a:xfrm>
            <a:prstGeom prst="ellipse">
              <a:avLst/>
            </a:prstGeom>
            <a:noFill/>
            <a:ln w="1905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4FB90413-F1D6-030B-8B56-82EAE772ED9A}"/>
                </a:ext>
              </a:extLst>
            </p:cNvPr>
            <p:cNvSpPr/>
            <p:nvPr/>
          </p:nvSpPr>
          <p:spPr>
            <a:xfrm>
              <a:off x="7785100" y="1905000"/>
              <a:ext cx="2844800" cy="2844800"/>
            </a:xfrm>
            <a:prstGeom prst="ellipse">
              <a:avLst/>
            </a:prstGeom>
            <a:solidFill>
              <a:srgbClr val="46EB7E">
                <a:alpha val="5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535A571-EDB0-A0E4-862F-605A9C62FE26}"/>
                </a:ext>
              </a:extLst>
            </p:cNvPr>
            <p:cNvSpPr/>
            <p:nvPr/>
          </p:nvSpPr>
          <p:spPr>
            <a:xfrm>
              <a:off x="8216900" y="2336800"/>
              <a:ext cx="1981200" cy="1981200"/>
            </a:xfrm>
            <a:prstGeom prst="ellipse">
              <a:avLst/>
            </a:prstGeom>
            <a:solidFill>
              <a:srgbClr val="46EB7E">
                <a:alpha val="7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D8D2D499-0458-3B4A-CA8C-2FDECE9D237E}"/>
                </a:ext>
              </a:extLst>
            </p:cNvPr>
            <p:cNvCxnSpPr/>
            <p:nvPr/>
          </p:nvCxnSpPr>
          <p:spPr>
            <a:xfrm flipV="1">
              <a:off x="9207500" y="1422400"/>
              <a:ext cx="0" cy="19050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F82907DF-01D1-D725-F205-9903B3DCBBC2}"/>
                </a:ext>
              </a:extLst>
            </p:cNvPr>
            <p:cNvCxnSpPr/>
            <p:nvPr/>
          </p:nvCxnSpPr>
          <p:spPr>
            <a:xfrm flipV="1">
              <a:off x="9207500" y="2374900"/>
              <a:ext cx="1649778" cy="9525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E88630DA-5FAA-1417-AD97-CC4F3156C51B}"/>
                </a:ext>
              </a:extLst>
            </p:cNvPr>
            <p:cNvCxnSpPr/>
            <p:nvPr/>
          </p:nvCxnSpPr>
          <p:spPr>
            <a:xfrm>
              <a:off x="9207500" y="3327400"/>
              <a:ext cx="1649778" cy="9525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D36C96F7-162A-6ECA-D698-4D08FB20038D}"/>
                </a:ext>
              </a:extLst>
            </p:cNvPr>
            <p:cNvCxnSpPr/>
            <p:nvPr/>
          </p:nvCxnSpPr>
          <p:spPr>
            <a:xfrm>
              <a:off x="9207500" y="3327400"/>
              <a:ext cx="0" cy="19050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37D69552-E169-D3DF-DCD5-53C1C29A763A}"/>
                </a:ext>
              </a:extLst>
            </p:cNvPr>
            <p:cNvCxnSpPr/>
            <p:nvPr/>
          </p:nvCxnSpPr>
          <p:spPr>
            <a:xfrm flipH="1" flipV="1">
              <a:off x="7557722" y="2374900"/>
              <a:ext cx="1649778" cy="9525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AAF484AF-4235-A232-2CC4-14D12A089685}"/>
                </a:ext>
              </a:extLst>
            </p:cNvPr>
            <p:cNvCxnSpPr/>
            <p:nvPr/>
          </p:nvCxnSpPr>
          <p:spPr>
            <a:xfrm flipH="1">
              <a:off x="7557722" y="3327400"/>
              <a:ext cx="1649778" cy="9525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EAF642D-32BB-BFD1-EFEC-3FB4BAA79AF0}"/>
                </a:ext>
              </a:extLst>
            </p:cNvPr>
            <p:cNvSpPr/>
            <p:nvPr/>
          </p:nvSpPr>
          <p:spPr>
            <a:xfrm>
              <a:off x="8737600" y="1257300"/>
              <a:ext cx="939800" cy="3302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00">
                  <a:solidFill>
                    <a:srgbClr val="E8EAEC"/>
                  </a:solidFill>
                  <a:latin typeface="Instrument Sans Medium" pitchFamily="2" charset="0"/>
                </a:rPr>
                <a:t>Clientes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76B68387-1E8E-4E98-C6A0-89524682B273}"/>
                </a:ext>
              </a:extLst>
            </p:cNvPr>
            <p:cNvSpPr/>
            <p:nvPr/>
          </p:nvSpPr>
          <p:spPr>
            <a:xfrm>
              <a:off x="10450878" y="2209800"/>
              <a:ext cx="812800" cy="3302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00">
                  <a:solidFill>
                    <a:srgbClr val="E8EAEC"/>
                  </a:solidFill>
                  <a:latin typeface="Instrument Sans Medium" pitchFamily="2" charset="0"/>
                </a:rPr>
                <a:t>Dados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E1F339C-7560-95AF-9584-905EC0AE0B94}"/>
                </a:ext>
              </a:extLst>
            </p:cNvPr>
            <p:cNvSpPr/>
            <p:nvPr/>
          </p:nvSpPr>
          <p:spPr>
            <a:xfrm>
              <a:off x="10450878" y="4114800"/>
              <a:ext cx="812800" cy="330200"/>
            </a:xfrm>
            <a:prstGeom prst="roundRect">
              <a:avLst>
                <a:gd name="adj" fmla="val 50000"/>
              </a:avLst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/>
            <a:lstStyle/>
            <a:p>
              <a:pPr algn="ctr"/>
              <a:r>
                <a:rPr lang="pt-BR" sz="1000">
                  <a:solidFill>
                    <a:srgbClr val="0B0B0C"/>
                  </a:solidFill>
                  <a:latin typeface="Instrument Sans Medium" pitchFamily="2" charset="0"/>
                </a:rPr>
                <a:t>IA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26F9603A-41CD-8151-1361-72A81744C6F9}"/>
                </a:ext>
              </a:extLst>
            </p:cNvPr>
            <p:cNvSpPr/>
            <p:nvPr/>
          </p:nvSpPr>
          <p:spPr>
            <a:xfrm>
              <a:off x="8737600" y="5067300"/>
              <a:ext cx="939800" cy="3302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00">
                  <a:solidFill>
                    <a:srgbClr val="E8EAEC"/>
                  </a:solidFill>
                  <a:latin typeface="Instrument Sans Medium" pitchFamily="2" charset="0"/>
                </a:rPr>
                <a:t>Operação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FA143951-BF7F-D8DE-61DE-0C8434BA7C3A}"/>
                </a:ext>
              </a:extLst>
            </p:cNvPr>
            <p:cNvSpPr/>
            <p:nvPr/>
          </p:nvSpPr>
          <p:spPr>
            <a:xfrm>
              <a:off x="7087822" y="2209800"/>
              <a:ext cx="939800" cy="330200"/>
            </a:xfrm>
            <a:prstGeom prst="roundRect">
              <a:avLst>
                <a:gd name="adj" fmla="val 50000"/>
              </a:avLst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/>
            <a:lstStyle/>
            <a:p>
              <a:pPr algn="ctr"/>
              <a:r>
                <a:rPr lang="pt-BR" sz="1000">
                  <a:solidFill>
                    <a:srgbClr val="0B0B0C"/>
                  </a:solidFill>
                  <a:latin typeface="Instrument Sans Medium" pitchFamily="2" charset="0"/>
                </a:rPr>
                <a:t>Receita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DDAE18E8-BB55-0BBA-35B2-BBD48A970429}"/>
                </a:ext>
              </a:extLst>
            </p:cNvPr>
            <p:cNvSpPr/>
            <p:nvPr/>
          </p:nvSpPr>
          <p:spPr>
            <a:xfrm>
              <a:off x="7087822" y="4114800"/>
              <a:ext cx="939800" cy="3302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00">
                  <a:solidFill>
                    <a:srgbClr val="E8EAEC"/>
                  </a:solidFill>
                  <a:latin typeface="Instrument Sans Medium" pitchFamily="2" charset="0"/>
                </a:rPr>
                <a:t>Sistemas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1474F19C-8378-D78D-1EE5-64C9539FF337}"/>
                </a:ext>
              </a:extLst>
            </p:cNvPr>
            <p:cNvSpPr/>
            <p:nvPr/>
          </p:nvSpPr>
          <p:spPr>
            <a:xfrm>
              <a:off x="8572500" y="2692400"/>
              <a:ext cx="1270000" cy="12700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46EB7E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D24655E5-EF5D-DB2C-A310-C4E35C3296D1}"/>
                </a:ext>
              </a:extLst>
            </p:cNvPr>
            <p:cNvSpPr txBox="1"/>
            <p:nvPr/>
          </p:nvSpPr>
          <p:spPr>
            <a:xfrm>
              <a:off x="8699500" y="3149600"/>
              <a:ext cx="1016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pt-BR" sz="1050">
                  <a:solidFill>
                    <a:srgbClr val="FFFFFF"/>
                  </a:solidFill>
                  <a:latin typeface="Instrument Sans Medium" pitchFamily="2" charset="0"/>
                </a:rPr>
                <a:t>Sua
empresa</a:t>
              </a:r>
            </a:p>
          </p:txBody>
        </p:sp>
      </p:grp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2A4DDF8-5C8E-F5EF-69AF-A3310DC3EBDF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708E683-33A5-9872-264B-727EF8467E02}"/>
              </a:ext>
            </a:extLst>
          </p:cNvPr>
          <p:cNvCxnSpPr/>
          <p:nvPr/>
        </p:nvCxnSpPr>
        <p:spPr>
          <a:xfrm>
            <a:off x="685800" y="6578600"/>
            <a:ext cx="845608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28E32B33-888A-304E-8911-71A79637F489}"/>
              </a:ext>
            </a:extLst>
          </p:cNvPr>
          <p:cNvSpPr/>
          <p:nvPr/>
        </p:nvSpPr>
        <p:spPr>
          <a:xfrm>
            <a:off x="1480608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9648782-4214-BC68-56C3-6E0E4733EBD7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074340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9984C3C-9AC8-438D-9708-BEB48BD7E2FD}"/>
              </a:ext>
            </a:extLst>
          </p:cNvPr>
          <p:cNvSpPr txBox="1"/>
          <p:nvPr/>
        </p:nvSpPr>
        <p:spPr>
          <a:xfrm>
            <a:off x="685800" y="571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9BA1A6"/>
                </a:solidFill>
                <a:latin typeface="Instrument Sans Medium" pitchFamily="2" charset="0"/>
              </a:rPr>
              <a:t>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F3ED4F-088B-41EC-0984-D063B8E0585A}"/>
              </a:ext>
            </a:extLst>
          </p:cNvPr>
          <p:cNvSpPr txBox="1"/>
          <p:nvPr/>
        </p:nvSpPr>
        <p:spPr>
          <a:xfrm>
            <a:off x="685800" y="19685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4800" b="1" spc="-140">
                <a:solidFill>
                  <a:srgbClr val="FFFFFF"/>
                </a:solidFill>
                <a:latin typeface="Urbanist" panose="020B0A04040200000203" pitchFamily="34" charset="0"/>
              </a:rPr>
              <a:t>Nem todo problema da sua empresa cabe em um </a:t>
            </a:r>
            <a:r>
              <a:rPr lang="pt-BR" sz="4800" b="1" spc="-140">
                <a:solidFill>
                  <a:srgbClr val="9BA1A6"/>
                </a:solidFill>
                <a:latin typeface="Urbanist" panose="020B0A04040200000203" pitchFamily="34" charset="0"/>
              </a:rPr>
              <a:t>software pronto.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052F13F9-71C4-B0AE-6EE1-064B602BB8E6}"/>
              </a:ext>
            </a:extLst>
          </p:cNvPr>
          <p:cNvGrpSpPr/>
          <p:nvPr/>
        </p:nvGrpSpPr>
        <p:grpSpPr>
          <a:xfrm>
            <a:off x="6616700" y="1682750"/>
            <a:ext cx="4660900" cy="3987800"/>
            <a:chOff x="6616700" y="1682750"/>
            <a:chExt cx="4660900" cy="3987800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40179326-767B-B58F-4ED5-63B5339AEE49}"/>
                </a:ext>
              </a:extLst>
            </p:cNvPr>
            <p:cNvCxnSpPr/>
            <p:nvPr/>
          </p:nvCxnSpPr>
          <p:spPr>
            <a:xfrm>
              <a:off x="7823200" y="2565400"/>
              <a:ext cx="1714500" cy="8763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0406D135-128A-AFD8-CDB8-BFF23569F3F2}"/>
                </a:ext>
              </a:extLst>
            </p:cNvPr>
            <p:cNvCxnSpPr/>
            <p:nvPr/>
          </p:nvCxnSpPr>
          <p:spPr>
            <a:xfrm flipH="1">
              <a:off x="8204200" y="3441700"/>
              <a:ext cx="1333500" cy="11430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83862B3C-578C-C6DC-9D97-08A3E6FCFF54}"/>
                </a:ext>
              </a:extLst>
            </p:cNvPr>
            <p:cNvCxnSpPr/>
            <p:nvPr/>
          </p:nvCxnSpPr>
          <p:spPr>
            <a:xfrm>
              <a:off x="8204200" y="4584700"/>
              <a:ext cx="850900" cy="8509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3761AFF9-43C1-3148-CCF0-3D1CF55DFD2F}"/>
                </a:ext>
              </a:extLst>
            </p:cNvPr>
            <p:cNvCxnSpPr/>
            <p:nvPr/>
          </p:nvCxnSpPr>
          <p:spPr>
            <a:xfrm flipH="1">
              <a:off x="9537700" y="2565400"/>
              <a:ext cx="876300" cy="8763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0F4A79D5-C5BE-40E5-AECC-783E76322CC0}"/>
                </a:ext>
              </a:extLst>
            </p:cNvPr>
            <p:cNvCxnSpPr/>
            <p:nvPr/>
          </p:nvCxnSpPr>
          <p:spPr>
            <a:xfrm flipV="1">
              <a:off x="6985000" y="2565400"/>
              <a:ext cx="838200" cy="11176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9C37F593-8108-C7AE-9B10-74D65E5B34A5}"/>
                </a:ext>
              </a:extLst>
            </p:cNvPr>
            <p:cNvCxnSpPr/>
            <p:nvPr/>
          </p:nvCxnSpPr>
          <p:spPr>
            <a:xfrm>
              <a:off x="10414000" y="2565400"/>
              <a:ext cx="469900" cy="17272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16E959C2-75A2-6A6B-8B40-281344888B0D}"/>
                </a:ext>
              </a:extLst>
            </p:cNvPr>
            <p:cNvCxnSpPr/>
            <p:nvPr/>
          </p:nvCxnSpPr>
          <p:spPr>
            <a:xfrm flipV="1">
              <a:off x="9690100" y="4292600"/>
              <a:ext cx="1193800" cy="292100"/>
            </a:xfrm>
            <a:prstGeom prst="line">
              <a:avLst/>
            </a:prstGeom>
            <a:ln w="13970" cap="flat" cmpd="sng" algn="ctr">
              <a:solidFill>
                <a:srgbClr val="FFFFFF">
                  <a:alpha val="14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5F27D3F8-D64A-794B-0AA5-3B1B9497F830}"/>
                </a:ext>
              </a:extLst>
            </p:cNvPr>
            <p:cNvSpPr/>
            <p:nvPr/>
          </p:nvSpPr>
          <p:spPr>
            <a:xfrm>
              <a:off x="6616700" y="2349500"/>
              <a:ext cx="2540000" cy="4191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100">
                  <a:solidFill>
                    <a:srgbClr val="E8EAEC"/>
                  </a:solidFill>
                  <a:latin typeface="Instrument Sans Medium" pitchFamily="2" charset="0"/>
                </a:rPr>
                <a:t>Sistemas que não conversam</a:t>
              </a: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7FAB01E-2439-7BF1-996A-FE586B2F1A51}"/>
                </a:ext>
              </a:extLst>
            </p:cNvPr>
            <p:cNvSpPr/>
            <p:nvPr/>
          </p:nvSpPr>
          <p:spPr>
            <a:xfrm>
              <a:off x="9563100" y="3225800"/>
              <a:ext cx="1714500" cy="4191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100">
                  <a:solidFill>
                    <a:srgbClr val="E8EAEC"/>
                  </a:solidFill>
                  <a:latin typeface="Instrument Sans Medium" pitchFamily="2" charset="0"/>
                </a:rPr>
                <a:t>Trabalho manual</a:t>
              </a: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B1CCF4D0-F378-8C4F-2C4D-67EF73C77FF6}"/>
                </a:ext>
              </a:extLst>
            </p:cNvPr>
            <p:cNvSpPr/>
            <p:nvPr/>
          </p:nvSpPr>
          <p:spPr>
            <a:xfrm>
              <a:off x="8839200" y="4368800"/>
              <a:ext cx="1727200" cy="4191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100">
                  <a:solidFill>
                    <a:srgbClr val="E8EAEC"/>
                  </a:solidFill>
                  <a:latin typeface="Instrument Sans Medium" pitchFamily="2" charset="0"/>
                </a:rPr>
                <a:t>Planilhas críticas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D83C8E7-8BCE-9684-6962-7E11EBA216B6}"/>
                </a:ext>
              </a:extLst>
            </p:cNvPr>
            <p:cNvSpPr/>
            <p:nvPr/>
          </p:nvSpPr>
          <p:spPr>
            <a:xfrm>
              <a:off x="7823200" y="5232400"/>
              <a:ext cx="2438400" cy="4191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100">
                  <a:solidFill>
                    <a:srgbClr val="E8EAEC"/>
                  </a:solidFill>
                  <a:latin typeface="Instrument Sans Medium" pitchFamily="2" charset="0"/>
                </a:rPr>
                <a:t>Leads sem acompanhamento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B204BDB-D749-61F1-6901-87BA233485E7}"/>
                </a:ext>
              </a:extLst>
            </p:cNvPr>
            <p:cNvSpPr/>
            <p:nvPr/>
          </p:nvSpPr>
          <p:spPr>
            <a:xfrm>
              <a:off x="6940550" y="36385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57BD1EBD-EEC2-214F-E130-32A3090010E9}"/>
                </a:ext>
              </a:extLst>
            </p:cNvPr>
            <p:cNvSpPr/>
            <p:nvPr/>
          </p:nvSpPr>
          <p:spPr>
            <a:xfrm>
              <a:off x="10839450" y="42481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1CF8EC02-FE16-AB8B-294E-AFC0A5BB6892}"/>
                </a:ext>
              </a:extLst>
            </p:cNvPr>
            <p:cNvSpPr/>
            <p:nvPr/>
          </p:nvSpPr>
          <p:spPr>
            <a:xfrm>
              <a:off x="7600950" y="16827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EE861F14-4E10-5EDF-D252-5EA491CDCC77}"/>
                </a:ext>
              </a:extLst>
            </p:cNvPr>
            <p:cNvSpPr/>
            <p:nvPr/>
          </p:nvSpPr>
          <p:spPr>
            <a:xfrm>
              <a:off x="10458450" y="16827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BE81E8B-28F3-F75D-E0FB-161A473369FF}"/>
                </a:ext>
              </a:extLst>
            </p:cNvPr>
            <p:cNvSpPr/>
            <p:nvPr/>
          </p:nvSpPr>
          <p:spPr>
            <a:xfrm>
              <a:off x="11131550" y="55816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A2412BE1-30FC-B195-E78C-E21D6F98A76A}"/>
                </a:ext>
              </a:extLst>
            </p:cNvPr>
            <p:cNvSpPr/>
            <p:nvPr/>
          </p:nvSpPr>
          <p:spPr>
            <a:xfrm>
              <a:off x="6711950" y="4730750"/>
              <a:ext cx="88900" cy="88900"/>
            </a:xfrm>
            <a:prstGeom prst="ellipse">
              <a:avLst/>
            </a:prstGeom>
            <a:solidFill>
              <a:srgbClr val="FFFFFF">
                <a:alpha val="32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089AB38E-426C-9DE2-46BA-8C6BDEBDB165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BC4A37AE-27AF-88CA-743F-C9D23F8E1B28}"/>
              </a:ext>
            </a:extLst>
          </p:cNvPr>
          <p:cNvCxnSpPr/>
          <p:nvPr/>
        </p:nvCxnSpPr>
        <p:spPr>
          <a:xfrm>
            <a:off x="685800" y="6578600"/>
            <a:ext cx="1691217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DD7B3DCE-E45A-4524-E8F9-2018C30CE8BB}"/>
              </a:ext>
            </a:extLst>
          </p:cNvPr>
          <p:cNvSpPr/>
          <p:nvPr/>
        </p:nvSpPr>
        <p:spPr>
          <a:xfrm>
            <a:off x="2326217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802FD4D-6B6E-BF5B-9F63-60BB65D7DBE0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931940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87B1C7D7-49D7-CFA4-4162-0169369E09C5}"/>
              </a:ext>
            </a:extLst>
          </p:cNvPr>
          <p:cNvSpPr/>
          <p:nvPr/>
        </p:nvSpPr>
        <p:spPr>
          <a:xfrm>
            <a:off x="-1993900" y="2578100"/>
            <a:ext cx="6654800" cy="6654800"/>
          </a:xfrm>
          <a:prstGeom prst="ellipse">
            <a:avLst/>
          </a:prstGeom>
          <a:solidFill>
            <a:srgbClr val="46EB7E">
              <a:alpha val="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35F6B66-D3EA-01D6-8DFA-FA3D5912F24E}"/>
              </a:ext>
            </a:extLst>
          </p:cNvPr>
          <p:cNvSpPr/>
          <p:nvPr/>
        </p:nvSpPr>
        <p:spPr>
          <a:xfrm>
            <a:off x="-952500" y="3619500"/>
            <a:ext cx="4572000" cy="4572000"/>
          </a:xfrm>
          <a:prstGeom prst="ellipse">
            <a:avLst/>
          </a:prstGeom>
          <a:solidFill>
            <a:srgbClr val="46EB7E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11083E2D-140A-7E48-B442-B9074D135CB8}"/>
              </a:ext>
            </a:extLst>
          </p:cNvPr>
          <p:cNvSpPr/>
          <p:nvPr/>
        </p:nvSpPr>
        <p:spPr>
          <a:xfrm>
            <a:off x="0" y="4572000"/>
            <a:ext cx="2667000" cy="2667000"/>
          </a:xfrm>
          <a:prstGeom prst="ellipse">
            <a:avLst/>
          </a:prstGeom>
          <a:solidFill>
            <a:srgbClr val="46EB7E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27AFC8-35AD-A97F-6B9A-F99D5FEDB751}"/>
              </a:ext>
            </a:extLst>
          </p:cNvPr>
          <p:cNvSpPr txBox="1"/>
          <p:nvPr/>
        </p:nvSpPr>
        <p:spPr>
          <a:xfrm>
            <a:off x="685800" y="25400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9200" b="1" spc="-270">
                <a:solidFill>
                  <a:srgbClr val="FFFFFF"/>
                </a:solidFill>
                <a:latin typeface="Urbanist" panose="020B0A04040200000203" pitchFamily="34" charset="0"/>
              </a:rPr>
              <a:t>É nesse ponto que </a:t>
            </a:r>
            <a:r>
              <a:rPr lang="pt-BR" sz="9200" b="1" spc="-270">
                <a:solidFill>
                  <a:srgbClr val="46EB7E"/>
                </a:solidFill>
                <a:latin typeface="Urbanist" panose="020B0A04040200000203" pitchFamily="34" charset="0"/>
              </a:rPr>
              <a:t>entramos.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0C51403-E26A-01E4-D9FA-5BF313AEBD44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6494ABE-0628-C0DB-1705-4D5FE00D75F6}"/>
              </a:ext>
            </a:extLst>
          </p:cNvPr>
          <p:cNvCxnSpPr/>
          <p:nvPr/>
        </p:nvCxnSpPr>
        <p:spPr>
          <a:xfrm>
            <a:off x="685800" y="6578600"/>
            <a:ext cx="2536825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3C00F6FC-5695-5A33-3DD4-145B6E435A62}"/>
              </a:ext>
            </a:extLst>
          </p:cNvPr>
          <p:cNvSpPr/>
          <p:nvPr/>
        </p:nvSpPr>
        <p:spPr>
          <a:xfrm>
            <a:off x="3171825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07B73D-EEB1-B32B-7A1D-4F32D9349AA0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2881075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0274F1-3D0F-1E43-C581-E866076149E2}"/>
              </a:ext>
            </a:extLst>
          </p:cNvPr>
          <p:cNvSpPr txBox="1"/>
          <p:nvPr/>
        </p:nvSpPr>
        <p:spPr>
          <a:xfrm>
            <a:off x="685800" y="571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0F7C47"/>
                </a:solidFill>
                <a:latin typeface="Instrument Sans Medium" pitchFamily="2" charset="0"/>
              </a:rPr>
              <a:t>DIAGNÓSTICO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E3D48F-4948-963F-AAC2-404C53A56650}"/>
              </a:ext>
            </a:extLst>
          </p:cNvPr>
          <p:cNvSpPr txBox="1"/>
          <p:nvPr/>
        </p:nvSpPr>
        <p:spPr>
          <a:xfrm>
            <a:off x="685800" y="965200"/>
            <a:ext cx="876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4800" b="1" spc="-140">
                <a:solidFill>
                  <a:srgbClr val="0B0B0C"/>
                </a:solidFill>
                <a:latin typeface="Urbanist" panose="020B0A04040200000203" pitchFamily="34" charset="0"/>
              </a:rPr>
              <a:t>Você não precisa saber </a:t>
            </a:r>
            <a:r>
              <a:rPr lang="pt-BR" sz="4800" b="1" spc="-140">
                <a:solidFill>
                  <a:srgbClr val="0F7C47"/>
                </a:solidFill>
                <a:latin typeface="Urbanist" panose="020B0A04040200000203" pitchFamily="34" charset="0"/>
              </a:rPr>
              <a:t>o que construir.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6A0BE9-4C29-E124-D4C4-3FC97026E066}"/>
              </a:ext>
            </a:extLst>
          </p:cNvPr>
          <p:cNvSpPr txBox="1"/>
          <p:nvPr/>
        </p:nvSpPr>
        <p:spPr>
          <a:xfrm>
            <a:off x="685800" y="2489200"/>
            <a:ext cx="685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500">
                <a:solidFill>
                  <a:srgbClr val="575C61"/>
                </a:solidFill>
                <a:latin typeface="Instrument Sans Medium" pitchFamily="2" charset="0"/>
              </a:rPr>
              <a:t>Nossos clientes chegam com uma dor — não com uma especificação técnica.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A7EF6A0-B101-A3E8-F341-A9E14EB86D2C}"/>
              </a:ext>
            </a:extLst>
          </p:cNvPr>
          <p:cNvCxnSpPr/>
          <p:nvPr/>
        </p:nvCxnSpPr>
        <p:spPr>
          <a:xfrm>
            <a:off x="952500" y="4191000"/>
            <a:ext cx="10287000" cy="0"/>
          </a:xfrm>
          <a:prstGeom prst="line">
            <a:avLst/>
          </a:prstGeom>
          <a:ln w="19050" cap="flat" cmpd="sng" algn="ctr">
            <a:solidFill>
              <a:srgbClr val="0B0B0C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3E9E29-3F3B-00AA-6104-C9C0D948A2A2}"/>
              </a:ext>
            </a:extLst>
          </p:cNvPr>
          <p:cNvGrpSpPr/>
          <p:nvPr/>
        </p:nvGrpSpPr>
        <p:grpSpPr>
          <a:xfrm>
            <a:off x="190500" y="3924300"/>
            <a:ext cx="1524000" cy="1067832"/>
            <a:chOff x="190500" y="3924300"/>
            <a:chExt cx="1524000" cy="1067832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5D77443F-707A-C35E-6E15-AEE6F7A48180}"/>
                </a:ext>
              </a:extLst>
            </p:cNvPr>
            <p:cNvSpPr/>
            <p:nvPr/>
          </p:nvSpPr>
          <p:spPr>
            <a:xfrm>
              <a:off x="685800" y="3924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C0F365D-F77A-5479-0FB6-7225B1644BA7}"/>
                </a:ext>
              </a:extLst>
            </p:cNvPr>
            <p:cNvSpPr txBox="1"/>
            <p:nvPr/>
          </p:nvSpPr>
          <p:spPr>
            <a:xfrm>
              <a:off x="6858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1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B2E44C0-D8AC-9263-20CE-44B70583D921}"/>
                </a:ext>
              </a:extLst>
            </p:cNvPr>
            <p:cNvSpPr txBox="1"/>
            <p:nvPr/>
          </p:nvSpPr>
          <p:spPr>
            <a:xfrm>
              <a:off x="1905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Dor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C595858-6F18-87B5-3290-1A3ED86717FA}"/>
              </a:ext>
            </a:extLst>
          </p:cNvPr>
          <p:cNvGrpSpPr/>
          <p:nvPr/>
        </p:nvGrpSpPr>
        <p:grpSpPr>
          <a:xfrm>
            <a:off x="2247900" y="3924300"/>
            <a:ext cx="1524000" cy="1067832"/>
            <a:chOff x="2247900" y="3924300"/>
            <a:chExt cx="1524000" cy="1067832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CB72B04E-B50F-B987-2400-CDCECCF28B99}"/>
                </a:ext>
              </a:extLst>
            </p:cNvPr>
            <p:cNvSpPr/>
            <p:nvPr/>
          </p:nvSpPr>
          <p:spPr>
            <a:xfrm>
              <a:off x="2743200" y="3924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8D7D51E7-87C9-A9B4-A9B2-014173515557}"/>
                </a:ext>
              </a:extLst>
            </p:cNvPr>
            <p:cNvSpPr txBox="1"/>
            <p:nvPr/>
          </p:nvSpPr>
          <p:spPr>
            <a:xfrm>
              <a:off x="27432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75F0BDFD-134D-611B-4BAD-586207B24A09}"/>
                </a:ext>
              </a:extLst>
            </p:cNvPr>
            <p:cNvSpPr txBox="1"/>
            <p:nvPr/>
          </p:nvSpPr>
          <p:spPr>
            <a:xfrm>
              <a:off x="22479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Impacto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05739CC-88FD-A986-D835-9BCAE923E03C}"/>
              </a:ext>
            </a:extLst>
          </p:cNvPr>
          <p:cNvGrpSpPr/>
          <p:nvPr/>
        </p:nvGrpSpPr>
        <p:grpSpPr>
          <a:xfrm>
            <a:off x="4305300" y="3924300"/>
            <a:ext cx="1524000" cy="1067832"/>
            <a:chOff x="4305300" y="3924300"/>
            <a:chExt cx="1524000" cy="106783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0724020-5CD0-D952-83B6-C5D82B889510}"/>
                </a:ext>
              </a:extLst>
            </p:cNvPr>
            <p:cNvSpPr/>
            <p:nvPr/>
          </p:nvSpPr>
          <p:spPr>
            <a:xfrm>
              <a:off x="4800600" y="3924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545E6CB1-1BF2-E61F-B305-F5C5974D9A7B}"/>
                </a:ext>
              </a:extLst>
            </p:cNvPr>
            <p:cNvSpPr txBox="1"/>
            <p:nvPr/>
          </p:nvSpPr>
          <p:spPr>
            <a:xfrm>
              <a:off x="48006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3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BE06E503-67F7-90F6-C53A-F130A38B51A8}"/>
                </a:ext>
              </a:extLst>
            </p:cNvPr>
            <p:cNvSpPr txBox="1"/>
            <p:nvPr/>
          </p:nvSpPr>
          <p:spPr>
            <a:xfrm>
              <a:off x="43053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Oportunidade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FCC3DE1-9CD2-613D-8E78-1CAE04D054C2}"/>
              </a:ext>
            </a:extLst>
          </p:cNvPr>
          <p:cNvGrpSpPr/>
          <p:nvPr/>
        </p:nvGrpSpPr>
        <p:grpSpPr>
          <a:xfrm>
            <a:off x="6362700" y="3924300"/>
            <a:ext cx="1524000" cy="1067832"/>
            <a:chOff x="6362700" y="3924300"/>
            <a:chExt cx="1524000" cy="1067832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06179899-FAE3-3B98-53D7-C151608A1D7E}"/>
                </a:ext>
              </a:extLst>
            </p:cNvPr>
            <p:cNvSpPr/>
            <p:nvPr/>
          </p:nvSpPr>
          <p:spPr>
            <a:xfrm>
              <a:off x="6858000" y="3924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372CB457-2567-71DA-C33A-1C71B8608817}"/>
                </a:ext>
              </a:extLst>
            </p:cNvPr>
            <p:cNvSpPr txBox="1"/>
            <p:nvPr/>
          </p:nvSpPr>
          <p:spPr>
            <a:xfrm>
              <a:off x="68580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4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87832F7-E6E1-94FA-C5E6-921102044901}"/>
                </a:ext>
              </a:extLst>
            </p:cNvPr>
            <p:cNvSpPr txBox="1"/>
            <p:nvPr/>
          </p:nvSpPr>
          <p:spPr>
            <a:xfrm>
              <a:off x="63627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Solução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17BD084-ECE8-CE5C-F0D6-43F7EBC7E683}"/>
              </a:ext>
            </a:extLst>
          </p:cNvPr>
          <p:cNvGrpSpPr/>
          <p:nvPr/>
        </p:nvGrpSpPr>
        <p:grpSpPr>
          <a:xfrm>
            <a:off x="8420100" y="3924300"/>
            <a:ext cx="1524000" cy="1067832"/>
            <a:chOff x="8420100" y="3924300"/>
            <a:chExt cx="1524000" cy="1067832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EAF939C8-C114-990A-DAC0-C5DB2FED9E62}"/>
                </a:ext>
              </a:extLst>
            </p:cNvPr>
            <p:cNvSpPr/>
            <p:nvPr/>
          </p:nvSpPr>
          <p:spPr>
            <a:xfrm>
              <a:off x="8915400" y="39243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DD05D572-F8C8-6DFA-BADB-55B96F08EC7D}"/>
                </a:ext>
              </a:extLst>
            </p:cNvPr>
            <p:cNvSpPr txBox="1"/>
            <p:nvPr/>
          </p:nvSpPr>
          <p:spPr>
            <a:xfrm>
              <a:off x="89154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5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3BD96FCC-B6CD-D27D-ED31-8D0BF4BB0AC6}"/>
                </a:ext>
              </a:extLst>
            </p:cNvPr>
            <p:cNvSpPr txBox="1"/>
            <p:nvPr/>
          </p:nvSpPr>
          <p:spPr>
            <a:xfrm>
              <a:off x="84201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Tecnologia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4446032-6B4C-FA40-D800-2B28B1D3B2C6}"/>
              </a:ext>
            </a:extLst>
          </p:cNvPr>
          <p:cNvGrpSpPr/>
          <p:nvPr/>
        </p:nvGrpSpPr>
        <p:grpSpPr>
          <a:xfrm>
            <a:off x="10477500" y="3924300"/>
            <a:ext cx="1524000" cy="1067832"/>
            <a:chOff x="10477500" y="3924300"/>
            <a:chExt cx="1524000" cy="1067832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3CCC75-35A9-92E8-4847-9ABE0EBB9AAA}"/>
                </a:ext>
              </a:extLst>
            </p:cNvPr>
            <p:cNvSpPr/>
            <p:nvPr/>
          </p:nvSpPr>
          <p:spPr>
            <a:xfrm>
              <a:off x="10972800" y="3924300"/>
              <a:ext cx="533400" cy="5334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9C3E18A7-EB54-1191-2709-095BA5858CB7}"/>
                </a:ext>
              </a:extLst>
            </p:cNvPr>
            <p:cNvSpPr txBox="1"/>
            <p:nvPr/>
          </p:nvSpPr>
          <p:spPr>
            <a:xfrm>
              <a:off x="10972800" y="40894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6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F733B094-2E72-7724-BB61-6B9485D26A13}"/>
                </a:ext>
              </a:extLst>
            </p:cNvPr>
            <p:cNvSpPr txBox="1"/>
            <p:nvPr/>
          </p:nvSpPr>
          <p:spPr>
            <a:xfrm>
              <a:off x="10477500" y="4622800"/>
              <a:ext cx="152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300">
                  <a:solidFill>
                    <a:srgbClr val="0B0B0C"/>
                  </a:solidFill>
                  <a:latin typeface="Instrument Sans Medium" pitchFamily="2" charset="0"/>
                </a:rPr>
                <a:t>Resultado</a:t>
              </a:r>
            </a:p>
          </p:txBody>
        </p:sp>
      </p:grp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2A2AB8A-C77C-55F2-EDD3-1730C7772016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0B0B0C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F22B7C99-9D9A-254E-08F2-435B12B8603D}"/>
              </a:ext>
            </a:extLst>
          </p:cNvPr>
          <p:cNvCxnSpPr/>
          <p:nvPr/>
        </p:nvCxnSpPr>
        <p:spPr>
          <a:xfrm>
            <a:off x="685800" y="6578600"/>
            <a:ext cx="3382433" cy="0"/>
          </a:xfrm>
          <a:prstGeom prst="line">
            <a:avLst/>
          </a:prstGeom>
          <a:ln w="19050" cap="flat" cmpd="sng" algn="ctr">
            <a:solidFill>
              <a:srgbClr val="0F7C4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966AA287-4C13-FDA0-FE5B-2E2ADA72A3A9}"/>
              </a:ext>
            </a:extLst>
          </p:cNvPr>
          <p:cNvSpPr/>
          <p:nvPr/>
        </p:nvSpPr>
        <p:spPr>
          <a:xfrm>
            <a:off x="4017433" y="6527800"/>
            <a:ext cx="101600" cy="101600"/>
          </a:xfrm>
          <a:prstGeom prst="ellipse">
            <a:avLst/>
          </a:prstGeom>
          <a:solidFill>
            <a:srgbClr val="0F7C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9E37322-A390-4E6C-37C5-02CC83B7F47A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575C61"/>
                </a:solidFill>
                <a:latin typeface="Instrument Sans Medium" pitchFamily="2" charset="0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50456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C62FB5-A865-18E4-BA48-DE9BBBAF6F1B}"/>
              </a:ext>
            </a:extLst>
          </p:cNvPr>
          <p:cNvSpPr txBox="1"/>
          <p:nvPr/>
        </p:nvSpPr>
        <p:spPr>
          <a:xfrm>
            <a:off x="685800" y="571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46EB7E"/>
                </a:solidFill>
                <a:latin typeface="Instrument Sans Medium" pitchFamily="2" charset="0"/>
              </a:rPr>
              <a:t>SOLUÇÕES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8271DF-723C-1151-623D-98D90875CC66}"/>
              </a:ext>
            </a:extLst>
          </p:cNvPr>
          <p:cNvSpPr txBox="1"/>
          <p:nvPr/>
        </p:nvSpPr>
        <p:spPr>
          <a:xfrm>
            <a:off x="685800" y="990600"/>
            <a:ext cx="838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4000" b="1" spc="-120">
                <a:solidFill>
                  <a:srgbClr val="FFFFFF"/>
                </a:solidFill>
                <a:latin typeface="Urbanist" panose="020B0A04040200000203" pitchFamily="34" charset="0"/>
              </a:rPr>
              <a:t>Três formas de transformar tecnologia em </a:t>
            </a:r>
            <a:r>
              <a:rPr lang="pt-BR" sz="4000" b="1" spc="-120">
                <a:solidFill>
                  <a:srgbClr val="46EB7E"/>
                </a:solidFill>
                <a:latin typeface="Urbanist" panose="020B0A04040200000203" pitchFamily="34" charset="0"/>
              </a:rPr>
              <a:t>resultado.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1ABDE52-B41A-0CFC-0161-564162C2563E}"/>
              </a:ext>
            </a:extLst>
          </p:cNvPr>
          <p:cNvGrpSpPr/>
          <p:nvPr/>
        </p:nvGrpSpPr>
        <p:grpSpPr>
          <a:xfrm>
            <a:off x="685800" y="2984500"/>
            <a:ext cx="3073400" cy="2071132"/>
            <a:chOff x="685800" y="2984500"/>
            <a:chExt cx="3073400" cy="207113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D007B679-BD54-ADE1-8AB8-2791A23095A1}"/>
                </a:ext>
              </a:extLst>
            </p:cNvPr>
            <p:cNvSpPr txBox="1"/>
            <p:nvPr/>
          </p:nvSpPr>
          <p:spPr>
            <a:xfrm>
              <a:off x="685800" y="2984500"/>
              <a:ext cx="254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7800" b="1" spc="-15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01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0C036BA-2067-4E24-009B-5E54F2CA01A5}"/>
                </a:ext>
              </a:extLst>
            </p:cNvPr>
            <p:cNvSpPr txBox="1"/>
            <p:nvPr/>
          </p:nvSpPr>
          <p:spPr>
            <a:xfrm>
              <a:off x="685800" y="4254500"/>
              <a:ext cx="292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2100" b="1" spc="-40">
                  <a:solidFill>
                    <a:srgbClr val="FFFFFF"/>
                  </a:solidFill>
                  <a:latin typeface="Urbanist" panose="020B0A04040200000203" pitchFamily="34" charset="0"/>
                </a:rPr>
                <a:t>Nova Receita Digital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3D582374-2B31-1176-37AB-0D11DE8C76D5}"/>
                </a:ext>
              </a:extLst>
            </p:cNvPr>
            <p:cNvSpPr txBox="1"/>
            <p:nvPr/>
          </p:nvSpPr>
          <p:spPr>
            <a:xfrm>
              <a:off x="685800" y="4686300"/>
              <a:ext cx="307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35000"/>
                </a:lnSpc>
              </a:pPr>
              <a:r>
                <a:rPr lang="pt-BR" sz="1250">
                  <a:solidFill>
                    <a:srgbClr val="9BA1A6"/>
                  </a:solidFill>
                  <a:latin typeface="Instrument Sans Medium" pitchFamily="2" charset="0"/>
                </a:rPr>
                <a:t>Novos produtos digitais a partir dos ativos que a empresa já tem.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018A23BC-B6B7-BEE5-F80C-C3894FA23EB4}"/>
              </a:ext>
            </a:extLst>
          </p:cNvPr>
          <p:cNvGrpSpPr/>
          <p:nvPr/>
        </p:nvGrpSpPr>
        <p:grpSpPr>
          <a:xfrm>
            <a:off x="4673600" y="2984500"/>
            <a:ext cx="3073400" cy="2071132"/>
            <a:chOff x="4673600" y="2984500"/>
            <a:chExt cx="3073400" cy="2071132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33E6AAD1-C427-78D7-CAD1-9132BEF544F8}"/>
                </a:ext>
              </a:extLst>
            </p:cNvPr>
            <p:cNvSpPr txBox="1"/>
            <p:nvPr/>
          </p:nvSpPr>
          <p:spPr>
            <a:xfrm>
              <a:off x="4673600" y="2984500"/>
              <a:ext cx="254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7800" b="1" spc="-15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02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27F930A-84E9-4914-0FF4-8F4067F2CED0}"/>
                </a:ext>
              </a:extLst>
            </p:cNvPr>
            <p:cNvSpPr txBox="1"/>
            <p:nvPr/>
          </p:nvSpPr>
          <p:spPr>
            <a:xfrm>
              <a:off x="4673600" y="4254500"/>
              <a:ext cx="292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2100" b="1" spc="-40">
                  <a:solidFill>
                    <a:srgbClr val="FFFFFF"/>
                  </a:solidFill>
                  <a:latin typeface="Urbanist" panose="020B0A04040200000203" pitchFamily="34" charset="0"/>
                </a:rPr>
                <a:t>Sistemas Sob Medida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A1A03E8-8B60-5711-FD70-2A77D93DF60A}"/>
                </a:ext>
              </a:extLst>
            </p:cNvPr>
            <p:cNvSpPr txBox="1"/>
            <p:nvPr/>
          </p:nvSpPr>
          <p:spPr>
            <a:xfrm>
              <a:off x="4673600" y="4686300"/>
              <a:ext cx="307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35000"/>
                </a:lnSpc>
              </a:pPr>
              <a:r>
                <a:rPr lang="pt-BR" sz="1250">
                  <a:solidFill>
                    <a:srgbClr val="9BA1A6"/>
                  </a:solidFill>
                  <a:latin typeface="Instrument Sans Medium" pitchFamily="2" charset="0"/>
                </a:rPr>
                <a:t>Sistemas específicos para eliminar gargalos e centralizar a operação.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F258DF3-DB61-1CD5-FDC1-23120120ED93}"/>
              </a:ext>
            </a:extLst>
          </p:cNvPr>
          <p:cNvGrpSpPr/>
          <p:nvPr/>
        </p:nvGrpSpPr>
        <p:grpSpPr>
          <a:xfrm>
            <a:off x="8280400" y="2984500"/>
            <a:ext cx="3073400" cy="2071132"/>
            <a:chOff x="8280400" y="2984500"/>
            <a:chExt cx="3073400" cy="2071132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AE1D844-DDF8-A221-8546-D04946DD3825}"/>
                </a:ext>
              </a:extLst>
            </p:cNvPr>
            <p:cNvSpPr txBox="1"/>
            <p:nvPr/>
          </p:nvSpPr>
          <p:spPr>
            <a:xfrm>
              <a:off x="8280400" y="2984500"/>
              <a:ext cx="254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7800" b="1" spc="-15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03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7B49C4-D7B6-C030-4822-3D668783CF0A}"/>
                </a:ext>
              </a:extLst>
            </p:cNvPr>
            <p:cNvSpPr txBox="1"/>
            <p:nvPr/>
          </p:nvSpPr>
          <p:spPr>
            <a:xfrm>
              <a:off x="8280400" y="4254500"/>
              <a:ext cx="292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2100" b="1" spc="-40">
                  <a:solidFill>
                    <a:srgbClr val="FFFFFF"/>
                  </a:solidFill>
                  <a:latin typeface="Urbanist" panose="020B0A04040200000203" pitchFamily="34" charset="0"/>
                </a:rPr>
                <a:t>Agentes de IA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6A001BA8-71BE-9E14-359A-E90E63028E83}"/>
                </a:ext>
              </a:extLst>
            </p:cNvPr>
            <p:cNvSpPr txBox="1"/>
            <p:nvPr/>
          </p:nvSpPr>
          <p:spPr>
            <a:xfrm>
              <a:off x="8280400" y="4686300"/>
              <a:ext cx="307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35000"/>
                </a:lnSpc>
              </a:pPr>
              <a:r>
                <a:rPr lang="pt-BR" sz="1250">
                  <a:solidFill>
                    <a:srgbClr val="9BA1A6"/>
                  </a:solidFill>
                  <a:latin typeface="Instrument Sans Medium" pitchFamily="2" charset="0"/>
                </a:rPr>
                <a:t>IA conectada aos dados e sistemas da empresa, executando trabalho real.</a:t>
              </a:r>
            </a:p>
          </p:txBody>
        </p:sp>
      </p:grp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76713C4-1ACC-7AF5-4180-F826E8F03F38}"/>
              </a:ext>
            </a:extLst>
          </p:cNvPr>
          <p:cNvCxnSpPr/>
          <p:nvPr/>
        </p:nvCxnSpPr>
        <p:spPr>
          <a:xfrm>
            <a:off x="4292600" y="2984500"/>
            <a:ext cx="0" cy="2476500"/>
          </a:xfrm>
          <a:prstGeom prst="line">
            <a:avLst/>
          </a:prstGeom>
          <a:ln w="1270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658651B-B56C-74A2-634D-FAAFB10E0859}"/>
              </a:ext>
            </a:extLst>
          </p:cNvPr>
          <p:cNvCxnSpPr/>
          <p:nvPr/>
        </p:nvCxnSpPr>
        <p:spPr>
          <a:xfrm>
            <a:off x="7899400" y="2984500"/>
            <a:ext cx="0" cy="2476500"/>
          </a:xfrm>
          <a:prstGeom prst="line">
            <a:avLst/>
          </a:prstGeom>
          <a:ln w="1270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91510A7C-B1B5-DA37-E34A-29A8EE2799C7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50CD7E2-0E79-FAC2-C9E0-9C784CCB27A8}"/>
              </a:ext>
            </a:extLst>
          </p:cNvPr>
          <p:cNvCxnSpPr/>
          <p:nvPr/>
        </p:nvCxnSpPr>
        <p:spPr>
          <a:xfrm>
            <a:off x="685800" y="6578600"/>
            <a:ext cx="4228042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86F41FAA-7B34-F947-6517-240B06840106}"/>
              </a:ext>
            </a:extLst>
          </p:cNvPr>
          <p:cNvSpPr/>
          <p:nvPr/>
        </p:nvSpPr>
        <p:spPr>
          <a:xfrm>
            <a:off x="4863042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E533BBC-22D1-697C-77B5-A6EEB3B2C98D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843964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857D7F92-A535-BCA8-2C29-2871467F3786}"/>
              </a:ext>
            </a:extLst>
          </p:cNvPr>
          <p:cNvGrpSpPr/>
          <p:nvPr/>
        </p:nvGrpSpPr>
        <p:grpSpPr>
          <a:xfrm>
            <a:off x="685800" y="609600"/>
            <a:ext cx="10134600" cy="699532"/>
            <a:chOff x="685800" y="609600"/>
            <a:chExt cx="10134600" cy="699532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6FB048D7-015D-5DCB-19A3-1A4A8D311BD6}"/>
                </a:ext>
              </a:extLst>
            </p:cNvPr>
            <p:cNvSpPr txBox="1"/>
            <p:nvPr/>
          </p:nvSpPr>
          <p:spPr>
            <a:xfrm>
              <a:off x="685800" y="609600"/>
              <a:ext cx="142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6800" b="1" spc="-12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01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5B127231-C6A4-CF99-B10D-6B9A605A670D}"/>
                </a:ext>
              </a:extLst>
            </p:cNvPr>
            <p:cNvSpPr txBox="1"/>
            <p:nvPr/>
          </p:nvSpPr>
          <p:spPr>
            <a:xfrm>
              <a:off x="2438400" y="660400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00" spc="170">
                  <a:solidFill>
                    <a:srgbClr val="46EB7E"/>
                  </a:solidFill>
                  <a:latin typeface="Instrument Sans Medium" pitchFamily="2" charset="0"/>
                </a:rPr>
                <a:t>NOVA RECEITA DIGITAL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D48CE4EC-B53B-5255-B03E-5518165BDE44}"/>
                </a:ext>
              </a:extLst>
            </p:cNvPr>
            <p:cNvSpPr txBox="1"/>
            <p:nvPr/>
          </p:nvSpPr>
          <p:spPr>
            <a:xfrm>
              <a:off x="2438400" y="939800"/>
              <a:ext cx="838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3800" b="1" spc="-110">
                  <a:solidFill>
                    <a:srgbClr val="FFFFFF"/>
                  </a:solidFill>
                  <a:latin typeface="Urbanist" panose="020B0A04040200000203" pitchFamily="34" charset="0"/>
                </a:rPr>
                <a:t>Transforme sua base de clientes em uma </a:t>
              </a:r>
              <a:r>
                <a:rPr lang="pt-BR" sz="3800" b="1" spc="-110">
                  <a:solidFill>
                    <a:srgbClr val="46EB7E"/>
                  </a:solidFill>
                  <a:latin typeface="Urbanist" panose="020B0A04040200000203" pitchFamily="34" charset="0"/>
                </a:rPr>
                <a:t>nova fonte de receita.</a:t>
              </a: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C5032F-4878-86C0-3613-7FA4C18E0BF4}"/>
              </a:ext>
            </a:extLst>
          </p:cNvPr>
          <p:cNvSpPr txBox="1"/>
          <p:nvPr/>
        </p:nvSpPr>
        <p:spPr>
          <a:xfrm>
            <a:off x="9601200" y="660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140">
                <a:solidFill>
                  <a:srgbClr val="9BA1A6"/>
                </a:solidFill>
                <a:latin typeface="Instrument Sans Medium" pitchFamily="2" charset="0"/>
              </a:rPr>
              <a:t>ILUSTRATIVO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0EDB75D1-03A2-371D-4008-678A6E653EAA}"/>
              </a:ext>
            </a:extLst>
          </p:cNvPr>
          <p:cNvGrpSpPr/>
          <p:nvPr/>
        </p:nvGrpSpPr>
        <p:grpSpPr>
          <a:xfrm>
            <a:off x="654050" y="2260600"/>
            <a:ext cx="10045700" cy="3239532"/>
            <a:chOff x="654050" y="2260600"/>
            <a:chExt cx="10045700" cy="3239532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A3173595-404F-BD45-A173-D7533DF4F315}"/>
                </a:ext>
              </a:extLst>
            </p:cNvPr>
            <p:cNvCxnSpPr/>
            <p:nvPr/>
          </p:nvCxnSpPr>
          <p:spPr>
            <a:xfrm>
              <a:off x="723900" y="4724400"/>
              <a:ext cx="9906000" cy="0"/>
            </a:xfrm>
            <a:prstGeom prst="line">
              <a:avLst/>
            </a:prstGeom>
            <a:ln w="15240" cap="flat" cmpd="sng" algn="ctr">
              <a:solidFill>
                <a:srgbClr val="FFFFFF">
                  <a:alpha val="1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3F220D97-13DB-0692-E4C2-C55DD8A8960F}"/>
                </a:ext>
              </a:extLst>
            </p:cNvPr>
            <p:cNvCxnSpPr/>
            <p:nvPr/>
          </p:nvCxnSpPr>
          <p:spPr>
            <a:xfrm flipV="1">
              <a:off x="723900" y="4305300"/>
              <a:ext cx="9906000" cy="177800"/>
            </a:xfrm>
            <a:prstGeom prst="line">
              <a:avLst/>
            </a:prstGeom>
            <a:ln w="17780" cap="flat" cmpd="sng" algn="ctr">
              <a:solidFill>
                <a:srgbClr val="FFFFFF">
                  <a:alpha val="28000"/>
                </a:srgbClr>
              </a:solidFill>
              <a:prstDash val="dash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0D9E6F3D-C964-A6A0-D762-E03729576C86}"/>
                </a:ext>
              </a:extLst>
            </p:cNvPr>
            <p:cNvSpPr txBox="1"/>
            <p:nvPr/>
          </p:nvSpPr>
          <p:spPr>
            <a:xfrm>
              <a:off x="8763000" y="4089400"/>
              <a:ext cx="18669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receita atual</a:t>
              </a:r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A02B1ED5-9BDF-1339-0AE2-9E5EBD6A6533}"/>
                </a:ext>
              </a:extLst>
            </p:cNvPr>
            <p:cNvSpPr/>
            <p:nvPr/>
          </p:nvSpPr>
          <p:spPr>
            <a:xfrm>
              <a:off x="723900" y="2565400"/>
              <a:ext cx="9906001" cy="2159001"/>
            </a:xfrm>
            <a:custGeom>
              <a:avLst/>
              <a:gdLst/>
              <a:ahLst/>
              <a:cxnLst/>
              <a:rect l="0" t="0" r="0" b="0"/>
              <a:pathLst>
                <a:path w="9906001" h="2159001">
                  <a:moveTo>
                    <a:pt x="0" y="1879600"/>
                  </a:moveTo>
                  <a:cubicBezTo>
                    <a:pt x="1244600" y="1854200"/>
                    <a:pt x="2197100" y="1803400"/>
                    <a:pt x="3302000" y="1689100"/>
                  </a:cubicBezTo>
                  <a:cubicBezTo>
                    <a:pt x="4445000" y="1562100"/>
                    <a:pt x="5499100" y="1270000"/>
                    <a:pt x="6604000" y="889000"/>
                  </a:cubicBezTo>
                  <a:cubicBezTo>
                    <a:pt x="7747000" y="508000"/>
                    <a:pt x="8890000" y="254000"/>
                    <a:pt x="9906000" y="0"/>
                  </a:cubicBezTo>
                  <a:lnTo>
                    <a:pt x="9906000" y="2159000"/>
                  </a:lnTo>
                  <a:lnTo>
                    <a:pt x="0" y="2159000"/>
                  </a:lnTo>
                </a:path>
              </a:pathLst>
            </a:custGeom>
            <a:solidFill>
              <a:srgbClr val="46EB7E">
                <a:alpha val="1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07D6711F-170C-F3C5-1B1D-49DD14E27AC0}"/>
                </a:ext>
              </a:extLst>
            </p:cNvPr>
            <p:cNvSpPr/>
            <p:nvPr/>
          </p:nvSpPr>
          <p:spPr>
            <a:xfrm>
              <a:off x="723900" y="2565400"/>
              <a:ext cx="9906001" cy="1879601"/>
            </a:xfrm>
            <a:custGeom>
              <a:avLst/>
              <a:gdLst/>
              <a:ahLst/>
              <a:cxnLst/>
              <a:rect l="0" t="0" r="0" b="0"/>
              <a:pathLst>
                <a:path w="9906001" h="1879601">
                  <a:moveTo>
                    <a:pt x="0" y="1879600"/>
                  </a:moveTo>
                  <a:cubicBezTo>
                    <a:pt x="1244600" y="1854200"/>
                    <a:pt x="2197100" y="1803400"/>
                    <a:pt x="3302000" y="1689100"/>
                  </a:cubicBezTo>
                  <a:cubicBezTo>
                    <a:pt x="4445000" y="1562100"/>
                    <a:pt x="5499100" y="1270000"/>
                    <a:pt x="6604000" y="889000"/>
                  </a:cubicBezTo>
                  <a:cubicBezTo>
                    <a:pt x="7747000" y="508000"/>
                    <a:pt x="8890000" y="254000"/>
                    <a:pt x="9906000" y="0"/>
                  </a:cubicBezTo>
                </a:path>
              </a:pathLst>
            </a:custGeom>
            <a:ln w="30480" cap="flat" cmpd="sng" algn="ctr">
              <a:solidFill>
                <a:srgbClr val="46EB7E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5F54ABE0-9180-3176-3D01-FF4C7A881F1B}"/>
                </a:ext>
              </a:extLst>
            </p:cNvPr>
            <p:cNvSpPr txBox="1"/>
            <p:nvPr/>
          </p:nvSpPr>
          <p:spPr>
            <a:xfrm>
              <a:off x="8763000" y="2260600"/>
              <a:ext cx="18669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>
                <a:lnSpc>
                  <a:spcPct val="104000"/>
                </a:lnSpc>
              </a:pPr>
              <a:r>
                <a:rPr lang="pt-BR" sz="950">
                  <a:solidFill>
                    <a:srgbClr val="46EB7E"/>
                  </a:solidFill>
                  <a:latin typeface="Instrument Sans Medium" pitchFamily="2" charset="0"/>
                </a:rPr>
                <a:t>nova receita digital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6F3A6E7-DF70-130C-6B3B-005040AC3628}"/>
                </a:ext>
              </a:extLst>
            </p:cNvPr>
            <p:cNvSpPr/>
            <p:nvPr/>
          </p:nvSpPr>
          <p:spPr>
            <a:xfrm>
              <a:off x="654050" y="43751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FFFFFF">
                  <a:alpha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A90FA618-5C44-5F5B-AAA1-17914F0C7399}"/>
                </a:ext>
              </a:extLst>
            </p:cNvPr>
            <p:cNvSpPr txBox="1"/>
            <p:nvPr/>
          </p:nvSpPr>
          <p:spPr>
            <a:xfrm>
              <a:off x="723900" y="49022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00">
                  <a:solidFill>
                    <a:srgbClr val="E8EAEC"/>
                  </a:solidFill>
                  <a:latin typeface="Instrument Sans Medium" pitchFamily="2" charset="0"/>
                </a:rPr>
                <a:t>Base atual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ABF8CC32-D2CF-FCCB-4F5F-E924F515B80A}"/>
                </a:ext>
              </a:extLst>
            </p:cNvPr>
            <p:cNvSpPr txBox="1"/>
            <p:nvPr/>
          </p:nvSpPr>
          <p:spPr>
            <a:xfrm>
              <a:off x="723900" y="51308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clientes, conhecimento, dados</a:t>
              </a: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3EE1D227-533E-702C-2F01-B4CC235E93EF}"/>
                </a:ext>
              </a:extLst>
            </p:cNvPr>
            <p:cNvSpPr/>
            <p:nvPr/>
          </p:nvSpPr>
          <p:spPr>
            <a:xfrm>
              <a:off x="3956050" y="41846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FFFFFF">
                  <a:alpha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AC7BC273-D961-692B-516A-5F90647F981A}"/>
                </a:ext>
              </a:extLst>
            </p:cNvPr>
            <p:cNvSpPr txBox="1"/>
            <p:nvPr/>
          </p:nvSpPr>
          <p:spPr>
            <a:xfrm>
              <a:off x="3073400" y="49022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200">
                  <a:solidFill>
                    <a:srgbClr val="E8EAEC"/>
                  </a:solidFill>
                  <a:latin typeface="Instrument Sans Medium" pitchFamily="2" charset="0"/>
                </a:rPr>
                <a:t>Produto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B203C9B0-219D-5F4D-42AA-613F94AE0E75}"/>
                </a:ext>
              </a:extLst>
            </p:cNvPr>
            <p:cNvSpPr txBox="1"/>
            <p:nvPr/>
          </p:nvSpPr>
          <p:spPr>
            <a:xfrm>
              <a:off x="3073400" y="51308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novo produto digital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0F9CF92A-B3B4-C478-6195-DF5FC5127786}"/>
                </a:ext>
              </a:extLst>
            </p:cNvPr>
            <p:cNvSpPr/>
            <p:nvPr/>
          </p:nvSpPr>
          <p:spPr>
            <a:xfrm>
              <a:off x="7258050" y="33845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FFFFFF">
                  <a:alpha val="5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16AC99EE-FD94-F78E-95D7-6A0EF4920D73}"/>
                </a:ext>
              </a:extLst>
            </p:cNvPr>
            <p:cNvSpPr txBox="1"/>
            <p:nvPr/>
          </p:nvSpPr>
          <p:spPr>
            <a:xfrm>
              <a:off x="6375400" y="49022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1200">
                  <a:solidFill>
                    <a:srgbClr val="E8EAEC"/>
                  </a:solidFill>
                  <a:latin typeface="Instrument Sans Medium" pitchFamily="2" charset="0"/>
                </a:rPr>
                <a:t>Assinatura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F540D18-361A-1748-895E-E1E230096CF5}"/>
                </a:ext>
              </a:extLst>
            </p:cNvPr>
            <p:cNvSpPr txBox="1"/>
            <p:nvPr/>
          </p:nvSpPr>
          <p:spPr>
            <a:xfrm>
              <a:off x="6375400" y="51308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modelo de cobrança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50AD8ABB-5E56-0C45-7A41-52142A867C95}"/>
                </a:ext>
              </a:extLst>
            </p:cNvPr>
            <p:cNvSpPr/>
            <p:nvPr/>
          </p:nvSpPr>
          <p:spPr>
            <a:xfrm>
              <a:off x="10560050" y="2495550"/>
              <a:ext cx="139700" cy="1397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BF07D623-0978-89E2-A46D-AA98247DDA15}"/>
                </a:ext>
              </a:extLst>
            </p:cNvPr>
            <p:cNvSpPr txBox="1"/>
            <p:nvPr/>
          </p:nvSpPr>
          <p:spPr>
            <a:xfrm>
              <a:off x="8724900" y="49022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>
                <a:lnSpc>
                  <a:spcPct val="104000"/>
                </a:lnSpc>
              </a:pPr>
              <a:r>
                <a:rPr lang="pt-BR" sz="1200">
                  <a:solidFill>
                    <a:srgbClr val="46EB7E"/>
                  </a:solidFill>
                  <a:latin typeface="Instrument Sans Medium" pitchFamily="2" charset="0"/>
                </a:rPr>
                <a:t>Receita recorrente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995ED24A-A8C5-8BB2-8765-ABAAE910AB5C}"/>
                </a:ext>
              </a:extLst>
            </p:cNvPr>
            <p:cNvSpPr txBox="1"/>
            <p:nvPr/>
          </p:nvSpPr>
          <p:spPr>
            <a:xfrm>
              <a:off x="8724900" y="5130800"/>
              <a:ext cx="1905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r"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nova linha de receita</a:t>
              </a:r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9820BCB-581E-3172-E39F-9DA7947595FF}"/>
              </a:ext>
            </a:extLst>
          </p:cNvPr>
          <p:cNvSpPr txBox="1"/>
          <p:nvPr/>
        </p:nvSpPr>
        <p:spPr>
          <a:xfrm>
            <a:off x="685800" y="5816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400">
                <a:solidFill>
                  <a:srgbClr val="9BA1A6"/>
                </a:solidFill>
                <a:latin typeface="Instrument Sans Medium" pitchFamily="2" charset="0"/>
              </a:rPr>
              <a:t>Se parte dos seus clientes pagasse por um novo produto digital, </a:t>
            </a:r>
            <a:r>
              <a:rPr lang="pt-BR" sz="1400">
                <a:solidFill>
                  <a:srgbClr val="FFFFFF"/>
                </a:solidFill>
                <a:latin typeface="Instrument Sans Medium" pitchFamily="2" charset="0"/>
              </a:rPr>
              <a:t>o que valeria a pena construir?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CA68399-1A97-BC28-81FB-5B65D7AFC60A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4F4693A-4867-6805-4ABC-3BA272A637A6}"/>
              </a:ext>
            </a:extLst>
          </p:cNvPr>
          <p:cNvCxnSpPr/>
          <p:nvPr/>
        </p:nvCxnSpPr>
        <p:spPr>
          <a:xfrm>
            <a:off x="685800" y="6578600"/>
            <a:ext cx="5073650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D5B4A8C-F26D-C9E0-26FA-114325C053C0}"/>
              </a:ext>
            </a:extLst>
          </p:cNvPr>
          <p:cNvSpPr/>
          <p:nvPr/>
        </p:nvSpPr>
        <p:spPr>
          <a:xfrm>
            <a:off x="5708650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6B2CC90-00D6-D02A-2CDB-67B0A60ED1F0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2125563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98B8CC2B-314F-07CB-550D-4BF7E86B9D02}"/>
              </a:ext>
            </a:extLst>
          </p:cNvPr>
          <p:cNvGrpSpPr/>
          <p:nvPr/>
        </p:nvGrpSpPr>
        <p:grpSpPr>
          <a:xfrm>
            <a:off x="685800" y="609600"/>
            <a:ext cx="10134600" cy="699532"/>
            <a:chOff x="685800" y="609600"/>
            <a:chExt cx="10134600" cy="699532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69BB250A-28D6-EEDC-0BFD-6CE9FE4F11C9}"/>
                </a:ext>
              </a:extLst>
            </p:cNvPr>
            <p:cNvSpPr txBox="1"/>
            <p:nvPr/>
          </p:nvSpPr>
          <p:spPr>
            <a:xfrm>
              <a:off x="685800" y="609600"/>
              <a:ext cx="142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6800" b="1" spc="-12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02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40824C5C-FAEE-EC7A-13DC-76FB102188A5}"/>
                </a:ext>
              </a:extLst>
            </p:cNvPr>
            <p:cNvSpPr txBox="1"/>
            <p:nvPr/>
          </p:nvSpPr>
          <p:spPr>
            <a:xfrm>
              <a:off x="2438400" y="660400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00" spc="170">
                  <a:solidFill>
                    <a:srgbClr val="46EB7E"/>
                  </a:solidFill>
                  <a:latin typeface="Instrument Sans Medium" pitchFamily="2" charset="0"/>
                </a:rPr>
                <a:t>SISTEMAS SOB MEDIDA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F745928C-953F-D909-C642-EF04399611A0}"/>
                </a:ext>
              </a:extLst>
            </p:cNvPr>
            <p:cNvSpPr txBox="1"/>
            <p:nvPr/>
          </p:nvSpPr>
          <p:spPr>
            <a:xfrm>
              <a:off x="2438400" y="939800"/>
              <a:ext cx="838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3800" b="1" spc="-110">
                  <a:solidFill>
                    <a:srgbClr val="FFFFFF"/>
                  </a:solidFill>
                  <a:latin typeface="Urbanist" panose="020B0A04040200000203" pitchFamily="34" charset="0"/>
                </a:rPr>
                <a:t>Sua operação é única. </a:t>
              </a:r>
              <a:r>
                <a:rPr lang="pt-BR" sz="3800" b="1" spc="-110">
                  <a:solidFill>
                    <a:srgbClr val="46EB7E"/>
                  </a:solidFill>
                  <a:latin typeface="Urbanist" panose="020B0A04040200000203" pitchFamily="34" charset="0"/>
                </a:rPr>
                <a:t>Seu sistema também pode ser.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E48F87B-1832-3BF8-6249-EE0F628D5F6B}"/>
              </a:ext>
            </a:extLst>
          </p:cNvPr>
          <p:cNvGrpSpPr/>
          <p:nvPr/>
        </p:nvGrpSpPr>
        <p:grpSpPr>
          <a:xfrm>
            <a:off x="685800" y="2628900"/>
            <a:ext cx="10045700" cy="2844800"/>
            <a:chOff x="685800" y="2628900"/>
            <a:chExt cx="10045700" cy="2844800"/>
          </a:xfrm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A91B4A8E-A2C0-5263-0912-19636934E5D1}"/>
                </a:ext>
              </a:extLst>
            </p:cNvPr>
            <p:cNvSpPr/>
            <p:nvPr/>
          </p:nvSpPr>
          <p:spPr>
            <a:xfrm>
              <a:off x="1866900" y="2819400"/>
              <a:ext cx="2692401" cy="927101"/>
            </a:xfrm>
            <a:custGeom>
              <a:avLst/>
              <a:gdLst/>
              <a:ahLst/>
              <a:cxnLst/>
              <a:rect l="0" t="0" r="0" b="0"/>
              <a:pathLst>
                <a:path w="2692401" h="927101">
                  <a:moveTo>
                    <a:pt x="0" y="0"/>
                  </a:moveTo>
                  <a:cubicBezTo>
                    <a:pt x="1727200" y="0"/>
                    <a:pt x="2184400" y="927100"/>
                    <a:pt x="2692400" y="927100"/>
                  </a:cubicBezTo>
                </a:path>
              </a:pathLst>
            </a:custGeom>
            <a:ln w="13970" cap="flat" cmpd="sng" algn="ctr">
              <a:solidFill>
                <a:srgbClr val="FFFFFF">
                  <a:alpha val="2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8515DED0-E9D6-AF53-5888-C13004E221CD}"/>
                </a:ext>
              </a:extLst>
            </p:cNvPr>
            <p:cNvSpPr/>
            <p:nvPr/>
          </p:nvSpPr>
          <p:spPr>
            <a:xfrm>
              <a:off x="2679700" y="3403600"/>
              <a:ext cx="1879601" cy="393701"/>
            </a:xfrm>
            <a:custGeom>
              <a:avLst/>
              <a:gdLst/>
              <a:ahLst/>
              <a:cxnLst/>
              <a:rect l="0" t="0" r="0" b="0"/>
              <a:pathLst>
                <a:path w="1879601" h="393701">
                  <a:moveTo>
                    <a:pt x="0" y="0"/>
                  </a:moveTo>
                  <a:cubicBezTo>
                    <a:pt x="1320800" y="0"/>
                    <a:pt x="1371600" y="393700"/>
                    <a:pt x="1879600" y="393700"/>
                  </a:cubicBezTo>
                </a:path>
              </a:pathLst>
            </a:custGeom>
            <a:ln w="13970" cap="flat" cmpd="sng" algn="ctr">
              <a:solidFill>
                <a:srgbClr val="FFFFFF">
                  <a:alpha val="2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4CA3CE9F-ECE3-8EB7-59D0-A1FA811D4900}"/>
                </a:ext>
              </a:extLst>
            </p:cNvPr>
            <p:cNvSpPr/>
            <p:nvPr/>
          </p:nvSpPr>
          <p:spPr>
            <a:xfrm>
              <a:off x="1930400" y="3848100"/>
              <a:ext cx="2628901" cy="177801"/>
            </a:xfrm>
            <a:custGeom>
              <a:avLst/>
              <a:gdLst/>
              <a:ahLst/>
              <a:cxnLst/>
              <a:rect l="0" t="0" r="0" b="0"/>
              <a:pathLst>
                <a:path w="2628901" h="177801">
                  <a:moveTo>
                    <a:pt x="0" y="177800"/>
                  </a:moveTo>
                  <a:cubicBezTo>
                    <a:pt x="1695450" y="177800"/>
                    <a:pt x="2120900" y="0"/>
                    <a:pt x="2628900" y="0"/>
                  </a:cubicBezTo>
                </a:path>
              </a:pathLst>
            </a:custGeom>
            <a:ln w="13970" cap="flat" cmpd="sng" algn="ctr">
              <a:solidFill>
                <a:srgbClr val="FFFFFF">
                  <a:alpha val="2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EA0F9C8D-43D8-9BED-ACF2-26E2E5CF2733}"/>
                </a:ext>
              </a:extLst>
            </p:cNvPr>
            <p:cNvSpPr/>
            <p:nvPr/>
          </p:nvSpPr>
          <p:spPr>
            <a:xfrm>
              <a:off x="3289300" y="3911600"/>
              <a:ext cx="1270001" cy="736601"/>
            </a:xfrm>
            <a:custGeom>
              <a:avLst/>
              <a:gdLst/>
              <a:ahLst/>
              <a:cxnLst/>
              <a:rect l="0" t="0" r="0" b="0"/>
              <a:pathLst>
                <a:path w="1270001" h="736601">
                  <a:moveTo>
                    <a:pt x="0" y="736600"/>
                  </a:moveTo>
                  <a:cubicBezTo>
                    <a:pt x="1016000" y="736600"/>
                    <a:pt x="762000" y="0"/>
                    <a:pt x="1270000" y="0"/>
                  </a:cubicBezTo>
                </a:path>
              </a:pathLst>
            </a:custGeom>
            <a:ln w="13970" cap="flat" cmpd="sng" algn="ctr">
              <a:solidFill>
                <a:srgbClr val="FFFFFF">
                  <a:alpha val="2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5261B891-2EB2-E711-26D7-16EE238AE75B}"/>
                </a:ext>
              </a:extLst>
            </p:cNvPr>
            <p:cNvSpPr/>
            <p:nvPr/>
          </p:nvSpPr>
          <p:spPr>
            <a:xfrm>
              <a:off x="2159000" y="3962400"/>
              <a:ext cx="2400301" cy="1320801"/>
            </a:xfrm>
            <a:custGeom>
              <a:avLst/>
              <a:gdLst/>
              <a:ahLst/>
              <a:cxnLst/>
              <a:rect l="0" t="0" r="0" b="0"/>
              <a:pathLst>
                <a:path w="2400301" h="1320801">
                  <a:moveTo>
                    <a:pt x="0" y="1320800"/>
                  </a:moveTo>
                  <a:cubicBezTo>
                    <a:pt x="1581150" y="1320800"/>
                    <a:pt x="1892300" y="0"/>
                    <a:pt x="2400300" y="0"/>
                  </a:cubicBezTo>
                </a:path>
              </a:pathLst>
            </a:custGeom>
            <a:ln w="13970" cap="flat" cmpd="sng" algn="ctr">
              <a:solidFill>
                <a:srgbClr val="FFFFFF">
                  <a:alpha val="2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598A6783-30B0-647D-1CF6-57E750CA3FA8}"/>
                </a:ext>
              </a:extLst>
            </p:cNvPr>
            <p:cNvSpPr/>
            <p:nvPr/>
          </p:nvSpPr>
          <p:spPr>
            <a:xfrm>
              <a:off x="685800" y="2628900"/>
              <a:ext cx="1181100" cy="3810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Planilhas</a:t>
              </a: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2EF2D678-FBA0-5E2A-94BD-E8E8289108CE}"/>
                </a:ext>
              </a:extLst>
            </p:cNvPr>
            <p:cNvSpPr/>
            <p:nvPr/>
          </p:nvSpPr>
          <p:spPr>
            <a:xfrm>
              <a:off x="1765300" y="3213100"/>
              <a:ext cx="914400" cy="3810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ERP</a:t>
              </a: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53390427-3BF9-4EB6-C096-8213AB7298F6}"/>
                </a:ext>
              </a:extLst>
            </p:cNvPr>
            <p:cNvSpPr/>
            <p:nvPr/>
          </p:nvSpPr>
          <p:spPr>
            <a:xfrm>
              <a:off x="876300" y="3835400"/>
              <a:ext cx="1054100" cy="3810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E-mail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73A8114-138A-BA29-0213-A97BF9285E71}"/>
                </a:ext>
              </a:extLst>
            </p:cNvPr>
            <p:cNvSpPr/>
            <p:nvPr/>
          </p:nvSpPr>
          <p:spPr>
            <a:xfrm>
              <a:off x="1955800" y="4457700"/>
              <a:ext cx="1333500" cy="3810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Documentos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3BBFE925-554F-2359-2383-0CBFED5EA7C6}"/>
                </a:ext>
              </a:extLst>
            </p:cNvPr>
            <p:cNvSpPr/>
            <p:nvPr/>
          </p:nvSpPr>
          <p:spPr>
            <a:xfrm>
              <a:off x="1104900" y="5092700"/>
              <a:ext cx="1054100" cy="3810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Pessoas</a:t>
              </a: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FF198F2E-E9A9-61F8-0E2B-3F007D68D089}"/>
                </a:ext>
              </a:extLst>
            </p:cNvPr>
            <p:cNvSpPr/>
            <p:nvPr/>
          </p:nvSpPr>
          <p:spPr>
            <a:xfrm>
              <a:off x="4559300" y="3327400"/>
              <a:ext cx="2768600" cy="1104900"/>
            </a:xfrm>
            <a:prstGeom prst="roundRect">
              <a:avLst>
                <a:gd name="adj" fmla="val 22000"/>
              </a:avLst>
            </a:prstGeom>
            <a:solidFill>
              <a:srgbClr val="46EB7E">
                <a:alpha val="6000"/>
              </a:srgbClr>
            </a:solidFill>
            <a:ln w="19050" cap="flat" cmpd="sng" algn="ctr">
              <a:solidFill>
                <a:srgbClr val="46EB7E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7FD2B33-EFFA-A756-97AE-D420F62ECF0D}"/>
                </a:ext>
              </a:extLst>
            </p:cNvPr>
            <p:cNvSpPr txBox="1"/>
            <p:nvPr/>
          </p:nvSpPr>
          <p:spPr>
            <a:xfrm>
              <a:off x="4559300" y="3657600"/>
              <a:ext cx="27686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Urbanist" panose="020B0A04040200000203" pitchFamily="34" charset="0"/>
                </a:rPr>
                <a:t>Sistema sob medida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2AC80D3-359D-7332-163D-20A1851FE49F}"/>
                </a:ext>
              </a:extLst>
            </p:cNvPr>
            <p:cNvSpPr txBox="1"/>
            <p:nvPr/>
          </p:nvSpPr>
          <p:spPr>
            <a:xfrm>
              <a:off x="4559300" y="3987800"/>
              <a:ext cx="27686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104000"/>
                </a:lnSpc>
              </a:pPr>
              <a:r>
                <a:rPr lang="pt-BR" sz="950">
                  <a:solidFill>
                    <a:srgbClr val="9BA1A6"/>
                  </a:solidFill>
                  <a:latin typeface="Instrument Sans Medium" pitchFamily="2" charset="0"/>
                </a:rPr>
                <a:t>construído em torno da operação</a:t>
              </a:r>
            </a:p>
          </p:txBody>
        </p: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08584888-C504-0B1E-629F-956574E11D5A}"/>
                </a:ext>
              </a:extLst>
            </p:cNvPr>
            <p:cNvCxnSpPr/>
            <p:nvPr/>
          </p:nvCxnSpPr>
          <p:spPr>
            <a:xfrm>
              <a:off x="7327900" y="3873500"/>
              <a:ext cx="711200" cy="0"/>
            </a:xfrm>
            <a:prstGeom prst="line">
              <a:avLst/>
            </a:prstGeom>
            <a:ln w="15240" cap="flat" cmpd="sng" algn="ctr">
              <a:solidFill>
                <a:srgbClr val="FFFFFF">
                  <a:alpha val="3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4B3323E0-2B9F-82E9-AC91-56330DF2B6DB}"/>
                </a:ext>
              </a:extLst>
            </p:cNvPr>
            <p:cNvSpPr/>
            <p:nvPr/>
          </p:nvSpPr>
          <p:spPr>
            <a:xfrm>
              <a:off x="7645400" y="3835400"/>
              <a:ext cx="76200" cy="762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E1598A5-E7EB-4B16-6900-67257485E564}"/>
                </a:ext>
              </a:extLst>
            </p:cNvPr>
            <p:cNvSpPr/>
            <p:nvPr/>
          </p:nvSpPr>
          <p:spPr>
            <a:xfrm>
              <a:off x="8064500" y="3644900"/>
              <a:ext cx="2667000" cy="457200"/>
            </a:xfrm>
            <a:prstGeom prst="roundRect">
              <a:avLst>
                <a:gd name="adj" fmla="val 50000"/>
              </a:avLst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/>
            <a:lstStyle/>
            <a:p>
              <a:pPr algn="ctr"/>
              <a:r>
                <a:rPr lang="pt-BR" sz="1250">
                  <a:solidFill>
                    <a:srgbClr val="0B0B0C"/>
                  </a:solidFill>
                  <a:latin typeface="Instrument Sans Medium" pitchFamily="2" charset="0"/>
                </a:rPr>
                <a:t>Decisão com visibilidade</a:t>
              </a: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6C25BC9-AEA9-87EB-3834-FDE91E940869}"/>
              </a:ext>
            </a:extLst>
          </p:cNvPr>
          <p:cNvSpPr txBox="1"/>
          <p:nvPr/>
        </p:nvSpPr>
        <p:spPr>
          <a:xfrm>
            <a:off x="685800" y="5816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400">
                <a:solidFill>
                  <a:srgbClr val="FFFFFF"/>
                </a:solidFill>
                <a:latin typeface="Instrument Sans Medium" pitchFamily="2" charset="0"/>
              </a:rPr>
              <a:t>Você conhece seu negócio; nós conhecemos tecnologia.</a:t>
            </a: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94384EF-8D72-06DC-3A39-18B86420FB26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ACE9E08-64DB-B69E-F607-640FD2601690}"/>
              </a:ext>
            </a:extLst>
          </p:cNvPr>
          <p:cNvCxnSpPr/>
          <p:nvPr/>
        </p:nvCxnSpPr>
        <p:spPr>
          <a:xfrm>
            <a:off x="685800" y="6578600"/>
            <a:ext cx="5919258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2D0AE428-F28C-3943-6A20-EA43A75471B3}"/>
              </a:ext>
            </a:extLst>
          </p:cNvPr>
          <p:cNvSpPr/>
          <p:nvPr/>
        </p:nvSpPr>
        <p:spPr>
          <a:xfrm>
            <a:off x="6554258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20D5758-BD66-9737-47AF-BF98AA529B88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2296775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Agrupar 4">
            <a:extLst>
              <a:ext uri="{FF2B5EF4-FFF2-40B4-BE49-F238E27FC236}">
                <a16:creationId xmlns:a16="http://schemas.microsoft.com/office/drawing/2014/main" id="{72EBEDC5-4CED-C4F3-9981-3FD37A1C2FA5}"/>
              </a:ext>
            </a:extLst>
          </p:cNvPr>
          <p:cNvGrpSpPr/>
          <p:nvPr/>
        </p:nvGrpSpPr>
        <p:grpSpPr>
          <a:xfrm>
            <a:off x="685800" y="609600"/>
            <a:ext cx="10134600" cy="699532"/>
            <a:chOff x="685800" y="609600"/>
            <a:chExt cx="10134600" cy="699532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326A3D60-D501-2FD2-B9F0-1F26370AD053}"/>
                </a:ext>
              </a:extLst>
            </p:cNvPr>
            <p:cNvSpPr txBox="1"/>
            <p:nvPr/>
          </p:nvSpPr>
          <p:spPr>
            <a:xfrm>
              <a:off x="685800" y="609600"/>
              <a:ext cx="142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6800" b="1" spc="-120">
                  <a:ln w="13970" cap="flat" cmpd="sng" algn="ctr">
                    <a:solidFill>
                      <a:srgbClr val="46EB7E">
                        <a:alpha val="65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noFill/>
                  <a:latin typeface="Urbanist" panose="020B0A04040200000203" pitchFamily="34" charset="0"/>
                </a:rPr>
                <a:t>03</a:t>
              </a:r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FBDA0B3E-1A6D-2BD7-7BED-D615FFAD7247}"/>
                </a:ext>
              </a:extLst>
            </p:cNvPr>
            <p:cNvSpPr txBox="1"/>
            <p:nvPr/>
          </p:nvSpPr>
          <p:spPr>
            <a:xfrm>
              <a:off x="2438400" y="660400"/>
              <a:ext cx="508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00" spc="170">
                  <a:solidFill>
                    <a:srgbClr val="46EB7E"/>
                  </a:solidFill>
                  <a:latin typeface="Instrument Sans Medium" pitchFamily="2" charset="0"/>
                </a:rPr>
                <a:t>AGENTES DE IA</a:t>
              </a: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0C057885-D483-E7EB-879C-62199DC7C633}"/>
                </a:ext>
              </a:extLst>
            </p:cNvPr>
            <p:cNvSpPr txBox="1"/>
            <p:nvPr/>
          </p:nvSpPr>
          <p:spPr>
            <a:xfrm>
              <a:off x="2438400" y="939800"/>
              <a:ext cx="838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3800" b="1" spc="-110">
                  <a:solidFill>
                    <a:srgbClr val="FFFFFF"/>
                  </a:solidFill>
                  <a:latin typeface="Urbanist" panose="020B0A04040200000203" pitchFamily="34" charset="0"/>
                </a:rPr>
                <a:t>Coloque a IA para </a:t>
              </a:r>
              <a:r>
                <a:rPr lang="pt-BR" sz="3800" b="1" spc="-110">
                  <a:solidFill>
                    <a:srgbClr val="46EB7E"/>
                  </a:solidFill>
                  <a:latin typeface="Urbanist" panose="020B0A04040200000203" pitchFamily="34" charset="0"/>
                </a:rPr>
                <a:t>executar trabalho</a:t>
              </a:r>
              <a:r>
                <a:rPr lang="pt-BR" sz="3800" b="1" spc="-110">
                  <a:solidFill>
                    <a:srgbClr val="FFFFFF"/>
                  </a:solidFill>
                  <a:latin typeface="Urbanist" panose="020B0A04040200000203" pitchFamily="34" charset="0"/>
                </a:rPr>
                <a:t> dentro da sua empresa.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6FAA94B-85B5-D49C-4345-7BA092F9DD0C}"/>
              </a:ext>
            </a:extLst>
          </p:cNvPr>
          <p:cNvGrpSpPr/>
          <p:nvPr/>
        </p:nvGrpSpPr>
        <p:grpSpPr>
          <a:xfrm>
            <a:off x="666750" y="2514600"/>
            <a:ext cx="8616950" cy="2743200"/>
            <a:chOff x="666750" y="2514600"/>
            <a:chExt cx="8616950" cy="274320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97CB11A8-13B1-A4F7-E665-8F1C26657FBD}"/>
                </a:ext>
              </a:extLst>
            </p:cNvPr>
            <p:cNvSpPr/>
            <p:nvPr/>
          </p:nvSpPr>
          <p:spPr>
            <a:xfrm>
              <a:off x="2222500" y="2654300"/>
              <a:ext cx="2514600" cy="2514600"/>
            </a:xfrm>
            <a:prstGeom prst="ellipse">
              <a:avLst/>
            </a:prstGeom>
            <a:noFill/>
            <a:ln w="15240" cap="flat" cmpd="sng" algn="ctr">
              <a:solidFill>
                <a:srgbClr val="FFFFFF">
                  <a:alpha val="1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3ABAE398-4190-11FA-4223-3A2EDCEEB4B7}"/>
                </a:ext>
              </a:extLst>
            </p:cNvPr>
            <p:cNvCxnSpPr/>
            <p:nvPr/>
          </p:nvCxnSpPr>
          <p:spPr>
            <a:xfrm flipV="1">
              <a:off x="3479800" y="2781300"/>
              <a:ext cx="635000" cy="1130300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id="{05794715-0100-5EA1-7F4F-457FB8CA8CE1}"/>
                </a:ext>
              </a:extLst>
            </p:cNvPr>
            <p:cNvCxnSpPr/>
            <p:nvPr/>
          </p:nvCxnSpPr>
          <p:spPr>
            <a:xfrm flipH="1" flipV="1">
              <a:off x="2305050" y="2686050"/>
              <a:ext cx="1174750" cy="1225550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F4E0D399-332F-C87A-DDC2-E70EEDF5805A}"/>
                </a:ext>
              </a:extLst>
            </p:cNvPr>
            <p:cNvCxnSpPr/>
            <p:nvPr/>
          </p:nvCxnSpPr>
          <p:spPr>
            <a:xfrm flipH="1" flipV="1">
              <a:off x="1352550" y="3476625"/>
              <a:ext cx="2127250" cy="434975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D05D7CD0-90D4-D103-2472-7719EE4A061A}"/>
                </a:ext>
              </a:extLst>
            </p:cNvPr>
            <p:cNvCxnSpPr/>
            <p:nvPr/>
          </p:nvCxnSpPr>
          <p:spPr>
            <a:xfrm flipH="1">
              <a:off x="1352550" y="3911600"/>
              <a:ext cx="2127250" cy="422275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3FE55DF4-8B6B-43BC-74B4-A994D64FE9B0}"/>
                </a:ext>
              </a:extLst>
            </p:cNvPr>
            <p:cNvCxnSpPr/>
            <p:nvPr/>
          </p:nvCxnSpPr>
          <p:spPr>
            <a:xfrm flipH="1">
              <a:off x="2305050" y="3911600"/>
              <a:ext cx="1174750" cy="1174750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704DC3E9-2E4A-20B1-19B6-944C4C177BB4}"/>
                </a:ext>
              </a:extLst>
            </p:cNvPr>
            <p:cNvCxnSpPr/>
            <p:nvPr/>
          </p:nvCxnSpPr>
          <p:spPr>
            <a:xfrm>
              <a:off x="3479800" y="3911600"/>
              <a:ext cx="635000" cy="1079500"/>
            </a:xfrm>
            <a:prstGeom prst="line">
              <a:avLst/>
            </a:prstGeom>
            <a:ln w="15240" cap="flat" cmpd="sng" algn="ctr">
              <a:solidFill>
                <a:srgbClr val="FFFFFF">
                  <a:alpha val="22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26BA1B85-8C5B-C232-E0CA-FE20E6EBF68E}"/>
                </a:ext>
              </a:extLst>
            </p:cNvPr>
            <p:cNvCxnSpPr/>
            <p:nvPr/>
          </p:nvCxnSpPr>
          <p:spPr>
            <a:xfrm flipV="1">
              <a:off x="3987800" y="3441700"/>
              <a:ext cx="2146300" cy="292100"/>
            </a:xfrm>
            <a:prstGeom prst="line">
              <a:avLst/>
            </a:prstGeom>
            <a:ln w="15240" cap="flat" cmpd="sng" algn="ctr">
              <a:solidFill>
                <a:srgbClr val="FFFFFF">
                  <a:alpha val="3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CC9A1781-ED71-9D19-EF3B-0B5436B7756B}"/>
                </a:ext>
              </a:extLst>
            </p:cNvPr>
            <p:cNvCxnSpPr/>
            <p:nvPr/>
          </p:nvCxnSpPr>
          <p:spPr>
            <a:xfrm>
              <a:off x="3987800" y="4089400"/>
              <a:ext cx="2146300" cy="266700"/>
            </a:xfrm>
            <a:prstGeom prst="line">
              <a:avLst/>
            </a:prstGeom>
            <a:ln w="15240" cap="flat" cmpd="sng" algn="ctr">
              <a:solidFill>
                <a:srgbClr val="FFFFFF">
                  <a:alpha val="3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3245A5A-01DF-DB41-EF39-23810821F1CC}"/>
                </a:ext>
              </a:extLst>
            </p:cNvPr>
            <p:cNvSpPr/>
            <p:nvPr/>
          </p:nvSpPr>
          <p:spPr>
            <a:xfrm>
              <a:off x="4787900" y="3594100"/>
              <a:ext cx="76200" cy="762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394E640-7CD8-8837-C6E0-69DF4AB6B84A}"/>
                </a:ext>
              </a:extLst>
            </p:cNvPr>
            <p:cNvSpPr/>
            <p:nvPr/>
          </p:nvSpPr>
          <p:spPr>
            <a:xfrm>
              <a:off x="3619500" y="2609850"/>
              <a:ext cx="9906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CRM</a:t>
              </a: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1F5EC1F5-2D69-DE01-527C-59A339F40A84}"/>
                </a:ext>
              </a:extLst>
            </p:cNvPr>
            <p:cNvSpPr/>
            <p:nvPr/>
          </p:nvSpPr>
          <p:spPr>
            <a:xfrm>
              <a:off x="1809750" y="2514600"/>
              <a:ext cx="9906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ERP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C5988DE8-9B68-F56E-C2EC-1F946FD276AE}"/>
                </a:ext>
              </a:extLst>
            </p:cNvPr>
            <p:cNvSpPr/>
            <p:nvPr/>
          </p:nvSpPr>
          <p:spPr>
            <a:xfrm>
              <a:off x="666750" y="3305175"/>
              <a:ext cx="13716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WhatsApp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10BC62BF-C885-55C0-D468-C3143C123DE4}"/>
                </a:ext>
              </a:extLst>
            </p:cNvPr>
            <p:cNvSpPr/>
            <p:nvPr/>
          </p:nvSpPr>
          <p:spPr>
            <a:xfrm>
              <a:off x="666750" y="4162425"/>
              <a:ext cx="13716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E-mail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738FEDB-AA20-BDAC-6C67-1C71488598A0}"/>
                </a:ext>
              </a:extLst>
            </p:cNvPr>
            <p:cNvSpPr/>
            <p:nvPr/>
          </p:nvSpPr>
          <p:spPr>
            <a:xfrm>
              <a:off x="1714500" y="4914900"/>
              <a:ext cx="11811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Documentos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B0C69E4-82BD-56C3-6548-154FCB7303D7}"/>
                </a:ext>
              </a:extLst>
            </p:cNvPr>
            <p:cNvSpPr/>
            <p:nvPr/>
          </p:nvSpPr>
          <p:spPr>
            <a:xfrm>
              <a:off x="3619500" y="4819650"/>
              <a:ext cx="990600" cy="342900"/>
            </a:xfrm>
            <a:prstGeom prst="roundRect">
              <a:avLst>
                <a:gd name="adj" fmla="val 50000"/>
              </a:avLst>
            </a:prstGeom>
            <a:solidFill>
              <a:srgbClr val="131316"/>
            </a:solidFill>
            <a:ln w="12700" cap="flat" cmpd="sng" algn="ctr">
              <a:solidFill>
                <a:srgbClr val="FFFFFF">
                  <a:alpha val="2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>
              <a:noAutofit/>
            </a:bodyPr>
            <a:lstStyle/>
            <a:p>
              <a:pPr algn="ctr"/>
              <a:r>
                <a:rPr lang="pt-BR" sz="1050">
                  <a:solidFill>
                    <a:srgbClr val="E8EAEC"/>
                  </a:solidFill>
                  <a:latin typeface="Instrument Sans Medium" pitchFamily="2" charset="0"/>
                </a:rPr>
                <a:t>APIs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C1E9C24A-94F9-4046-438C-15AF6BA999F3}"/>
                </a:ext>
              </a:extLst>
            </p:cNvPr>
            <p:cNvSpPr/>
            <p:nvPr/>
          </p:nvSpPr>
          <p:spPr>
            <a:xfrm>
              <a:off x="2933700" y="3365500"/>
              <a:ext cx="1092200" cy="1092200"/>
            </a:xfrm>
            <a:prstGeom prst="ellipse">
              <a:avLst/>
            </a:prstGeom>
            <a:solidFill>
              <a:srgbClr val="101711"/>
            </a:solidFill>
            <a:ln w="19050" cap="flat" cmpd="sng" algn="ctr">
              <a:solidFill>
                <a:srgbClr val="46EB7E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8B99E90F-B1BC-9161-A6F3-2488CB2A035D}"/>
                </a:ext>
              </a:extLst>
            </p:cNvPr>
            <p:cNvSpPr txBox="1"/>
            <p:nvPr/>
          </p:nvSpPr>
          <p:spPr>
            <a:xfrm>
              <a:off x="2971800" y="3797300"/>
              <a:ext cx="1016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400" b="1">
                  <a:solidFill>
                    <a:srgbClr val="FFFFFF"/>
                  </a:solidFill>
                  <a:latin typeface="Urbanist" panose="020B0A04040200000203" pitchFamily="34" charset="0"/>
                </a:rPr>
                <a:t>Agente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2B09E470-4ABC-2B0A-66A4-40B2B5691E98}"/>
                </a:ext>
              </a:extLst>
            </p:cNvPr>
            <p:cNvSpPr/>
            <p:nvPr/>
          </p:nvSpPr>
          <p:spPr>
            <a:xfrm>
              <a:off x="6134100" y="3213100"/>
              <a:ext cx="2565400" cy="457200"/>
            </a:xfrm>
            <a:prstGeom prst="roundRect">
              <a:avLst>
                <a:gd name="adj" fmla="val 50000"/>
              </a:avLst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/>
            <a:lstStyle/>
            <a:p>
              <a:pPr algn="ctr"/>
              <a:r>
                <a:rPr lang="pt-BR" sz="1250">
                  <a:solidFill>
                    <a:srgbClr val="0B0B0C"/>
                  </a:solidFill>
                  <a:latin typeface="Instrument Sans Medium" pitchFamily="2" charset="0"/>
                </a:rPr>
                <a:t>Trabalho executado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EA891FE2-2DBF-94DB-D343-F44D5026E2B4}"/>
                </a:ext>
              </a:extLst>
            </p:cNvPr>
            <p:cNvSpPr/>
            <p:nvPr/>
          </p:nvSpPr>
          <p:spPr>
            <a:xfrm>
              <a:off x="6134100" y="4127500"/>
              <a:ext cx="3149600" cy="4572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rgbClr val="FFFFFF">
                  <a:alpha val="3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0800" tIns="0" rIns="50800" bIns="0" rtlCol="0" anchor="ctr"/>
            <a:lstStyle/>
            <a:p>
              <a:pPr algn="ctr"/>
              <a:r>
                <a:rPr lang="pt-BR" sz="1200">
                  <a:solidFill>
                    <a:srgbClr val="E8EAEC"/>
                  </a:solidFill>
                  <a:latin typeface="Instrument Sans Medium" pitchFamily="2" charset="0"/>
                </a:rPr>
                <a:t>Humano quando necessário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708FB4A-968A-5226-A301-8E1CD1BF88ED}"/>
              </a:ext>
            </a:extLst>
          </p:cNvPr>
          <p:cNvSpPr txBox="1"/>
          <p:nvPr/>
        </p:nvSpPr>
        <p:spPr>
          <a:xfrm>
            <a:off x="685800" y="5816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400">
                <a:solidFill>
                  <a:srgbClr val="FFFFFF"/>
                </a:solidFill>
                <a:latin typeface="Instrument Sans Medium" pitchFamily="2" charset="0"/>
              </a:rPr>
              <a:t>Não é um chatbot.</a:t>
            </a:r>
            <a:r>
              <a:rPr lang="pt-BR" sz="1400">
                <a:solidFill>
                  <a:srgbClr val="9BA1A6"/>
                </a:solidFill>
                <a:latin typeface="Instrument Sans Medium" pitchFamily="2" charset="0"/>
              </a:rPr>
              <a:t> É software que executa etapas de processos — com escopo, regras e permissões.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F04C12C-2C32-4D46-A365-135390E92B88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B887F58B-34CD-9282-90D7-58C4455DDC97}"/>
              </a:ext>
            </a:extLst>
          </p:cNvPr>
          <p:cNvCxnSpPr/>
          <p:nvPr/>
        </p:nvCxnSpPr>
        <p:spPr>
          <a:xfrm>
            <a:off x="685800" y="6578600"/>
            <a:ext cx="6764867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740DDD79-FAE4-6EAA-84C2-BEDF5148A3B3}"/>
              </a:ext>
            </a:extLst>
          </p:cNvPr>
          <p:cNvSpPr/>
          <p:nvPr/>
        </p:nvSpPr>
        <p:spPr>
          <a:xfrm>
            <a:off x="7399867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996F6DF-5B2A-E2E7-3895-1118C997748A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2509500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BDF4ECF-20D7-8929-C027-0A26C0E6EE41}"/>
              </a:ext>
            </a:extLst>
          </p:cNvPr>
          <p:cNvSpPr txBox="1"/>
          <p:nvPr/>
        </p:nvSpPr>
        <p:spPr>
          <a:xfrm>
            <a:off x="685800" y="571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46EB7E"/>
                </a:solidFill>
                <a:latin typeface="Instrument Sans Medium" pitchFamily="2" charset="0"/>
              </a:rPr>
              <a:t>ONDE OS AGENTES ATUAM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87AAEA-9FE7-A85D-9864-2876A5135C37}"/>
              </a:ext>
            </a:extLst>
          </p:cNvPr>
          <p:cNvSpPr txBox="1"/>
          <p:nvPr/>
        </p:nvSpPr>
        <p:spPr>
          <a:xfrm>
            <a:off x="685800" y="965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3800" b="1" spc="-110">
                <a:solidFill>
                  <a:srgbClr val="FFFFFF"/>
                </a:solidFill>
                <a:latin typeface="Urbanist" panose="020B0A04040200000203" pitchFamily="34" charset="0"/>
              </a:rPr>
              <a:t>Atendimento, vendas e </a:t>
            </a:r>
            <a:r>
              <a:rPr lang="pt-BR" sz="3800" b="1" spc="-110">
                <a:solidFill>
                  <a:srgbClr val="46EB7E"/>
                </a:solidFill>
                <a:latin typeface="Urbanist" panose="020B0A04040200000203" pitchFamily="34" charset="0"/>
              </a:rPr>
              <a:t>operação.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408BCE43-6806-9776-BDA8-E1DFBCF82162}"/>
              </a:ext>
            </a:extLst>
          </p:cNvPr>
          <p:cNvGrpSpPr/>
          <p:nvPr/>
        </p:nvGrpSpPr>
        <p:grpSpPr>
          <a:xfrm>
            <a:off x="679450" y="2476500"/>
            <a:ext cx="3308350" cy="2210832"/>
            <a:chOff x="679450" y="2476500"/>
            <a:chExt cx="3308350" cy="221083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21E03B3-F807-971A-EA7E-26E274349872}"/>
                </a:ext>
              </a:extLst>
            </p:cNvPr>
            <p:cNvSpPr txBox="1"/>
            <p:nvPr/>
          </p:nvSpPr>
          <p:spPr>
            <a:xfrm>
              <a:off x="685800" y="2476500"/>
              <a:ext cx="279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b="1" spc="-30">
                  <a:solidFill>
                    <a:srgbClr val="FFFFFF"/>
                  </a:solidFill>
                  <a:latin typeface="Urbanist" panose="020B0A04040200000203" pitchFamily="34" charset="0"/>
                </a:rPr>
                <a:t>Atendimento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01248E1-3EFC-D99F-54EF-6DE56054C333}"/>
                </a:ext>
              </a:extLst>
            </p:cNvPr>
            <p:cNvCxnSpPr/>
            <p:nvPr/>
          </p:nvCxnSpPr>
          <p:spPr>
            <a:xfrm>
              <a:off x="749300" y="3136900"/>
              <a:ext cx="0" cy="1282700"/>
            </a:xfrm>
            <a:prstGeom prst="line">
              <a:avLst/>
            </a:prstGeom>
            <a:ln w="19050" cap="flat" cmpd="sng" algn="ctr">
              <a:solidFill>
                <a:srgbClr val="FFFFFF">
                  <a:alpha val="1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9541685-1389-2012-FF82-79FDC8A7BECA}"/>
                </a:ext>
              </a:extLst>
            </p:cNvPr>
            <p:cNvSpPr/>
            <p:nvPr/>
          </p:nvSpPr>
          <p:spPr>
            <a:xfrm>
              <a:off x="679450" y="30797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8F7B6BC8-5785-03FF-4605-820B7500074D}"/>
                </a:ext>
              </a:extLst>
            </p:cNvPr>
            <p:cNvSpPr txBox="1"/>
            <p:nvPr/>
          </p:nvSpPr>
          <p:spPr>
            <a:xfrm>
              <a:off x="939800" y="30607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Cliente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D4A62-8B0C-134A-7DF9-AA4C0D2BE439}"/>
                </a:ext>
              </a:extLst>
            </p:cNvPr>
            <p:cNvSpPr/>
            <p:nvPr/>
          </p:nvSpPr>
          <p:spPr>
            <a:xfrm>
              <a:off x="679450" y="34988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3972117-56D0-7DA6-24DB-CF9D83853199}"/>
                </a:ext>
              </a:extLst>
            </p:cNvPr>
            <p:cNvSpPr txBox="1"/>
            <p:nvPr/>
          </p:nvSpPr>
          <p:spPr>
            <a:xfrm>
              <a:off x="939800" y="34798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Agente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C1F6D2F-4B64-3126-5DC1-52B357992D65}"/>
                </a:ext>
              </a:extLst>
            </p:cNvPr>
            <p:cNvSpPr/>
            <p:nvPr/>
          </p:nvSpPr>
          <p:spPr>
            <a:xfrm>
              <a:off x="679450" y="39179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E9F70E61-22F3-2C2C-C924-D44277A8CE1F}"/>
                </a:ext>
              </a:extLst>
            </p:cNvPr>
            <p:cNvSpPr txBox="1"/>
            <p:nvPr/>
          </p:nvSpPr>
          <p:spPr>
            <a:xfrm>
              <a:off x="939800" y="38989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CRM atualizado</a:t>
              </a: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705DBA8-92E7-9D1D-A4B4-57B2849B4C15}"/>
                </a:ext>
              </a:extLst>
            </p:cNvPr>
            <p:cNvSpPr/>
            <p:nvPr/>
          </p:nvSpPr>
          <p:spPr>
            <a:xfrm>
              <a:off x="679450" y="4337050"/>
              <a:ext cx="139700" cy="1397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7C19594D-63C5-397B-E336-4A08C0D4F4CA}"/>
                </a:ext>
              </a:extLst>
            </p:cNvPr>
            <p:cNvSpPr txBox="1"/>
            <p:nvPr/>
          </p:nvSpPr>
          <p:spPr>
            <a:xfrm>
              <a:off x="939800" y="43180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46EB7E"/>
                  </a:solidFill>
                  <a:latin typeface="Instrument Sans Medium" pitchFamily="2" charset="0"/>
                </a:rPr>
                <a:t>Humano quando necessário</a:t>
              </a:r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4EB3FDA9-BBF5-B6E1-57EF-ADA507C36B1D}"/>
              </a:ext>
            </a:extLst>
          </p:cNvPr>
          <p:cNvGrpSpPr/>
          <p:nvPr/>
        </p:nvGrpSpPr>
        <p:grpSpPr>
          <a:xfrm>
            <a:off x="4667250" y="2476500"/>
            <a:ext cx="3308350" cy="2210832"/>
            <a:chOff x="4667250" y="2476500"/>
            <a:chExt cx="3308350" cy="2210832"/>
          </a:xfrm>
        </p:grpSpPr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B84DC44-6BFB-71A5-2C6C-5626E0C07CED}"/>
                </a:ext>
              </a:extLst>
            </p:cNvPr>
            <p:cNvSpPr txBox="1"/>
            <p:nvPr/>
          </p:nvSpPr>
          <p:spPr>
            <a:xfrm>
              <a:off x="4673600" y="2476500"/>
              <a:ext cx="279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b="1" spc="-30">
                  <a:solidFill>
                    <a:srgbClr val="FFFFFF"/>
                  </a:solidFill>
                  <a:latin typeface="Urbanist" panose="020B0A04040200000203" pitchFamily="34" charset="0"/>
                </a:rPr>
                <a:t>Vendas</a:t>
              </a:r>
            </a:p>
          </p:txBody>
        </p:sp>
        <p:cxnSp>
          <p:nvCxnSpPr>
            <p:cNvPr id="16" name="Conector reto 15">
              <a:extLst>
                <a:ext uri="{FF2B5EF4-FFF2-40B4-BE49-F238E27FC236}">
                  <a16:creationId xmlns:a16="http://schemas.microsoft.com/office/drawing/2014/main" id="{B15B3A64-C44B-56A1-5DC8-66BAFE5D10B2}"/>
                </a:ext>
              </a:extLst>
            </p:cNvPr>
            <p:cNvCxnSpPr/>
            <p:nvPr/>
          </p:nvCxnSpPr>
          <p:spPr>
            <a:xfrm>
              <a:off x="4737100" y="3136900"/>
              <a:ext cx="0" cy="1282700"/>
            </a:xfrm>
            <a:prstGeom prst="line">
              <a:avLst/>
            </a:prstGeom>
            <a:ln w="19050" cap="flat" cmpd="sng" algn="ctr">
              <a:solidFill>
                <a:srgbClr val="FFFFFF">
                  <a:alpha val="1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F7B2AE7E-416E-B31A-9BCD-F1A8E32EF3CC}"/>
                </a:ext>
              </a:extLst>
            </p:cNvPr>
            <p:cNvSpPr/>
            <p:nvPr/>
          </p:nvSpPr>
          <p:spPr>
            <a:xfrm>
              <a:off x="4667250" y="30797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84FBC208-E7BA-0547-EB04-BD4092F2D5A1}"/>
                </a:ext>
              </a:extLst>
            </p:cNvPr>
            <p:cNvSpPr txBox="1"/>
            <p:nvPr/>
          </p:nvSpPr>
          <p:spPr>
            <a:xfrm>
              <a:off x="4927600" y="30607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Lead</a:t>
              </a: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E83A0F39-2EC4-8221-E87E-AB188A8C0746}"/>
                </a:ext>
              </a:extLst>
            </p:cNvPr>
            <p:cNvSpPr/>
            <p:nvPr/>
          </p:nvSpPr>
          <p:spPr>
            <a:xfrm>
              <a:off x="4667250" y="34988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29056667-EC2D-A85D-B731-F06A0A20CD2D}"/>
                </a:ext>
              </a:extLst>
            </p:cNvPr>
            <p:cNvSpPr txBox="1"/>
            <p:nvPr/>
          </p:nvSpPr>
          <p:spPr>
            <a:xfrm>
              <a:off x="4927600" y="34798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Qualificação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07696CF-4391-5417-4863-A92C0E4EEA40}"/>
                </a:ext>
              </a:extLst>
            </p:cNvPr>
            <p:cNvSpPr/>
            <p:nvPr/>
          </p:nvSpPr>
          <p:spPr>
            <a:xfrm>
              <a:off x="4667250" y="39179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DFF265B-9412-1DD5-E98E-B3A83D209344}"/>
                </a:ext>
              </a:extLst>
            </p:cNvPr>
            <p:cNvSpPr txBox="1"/>
            <p:nvPr/>
          </p:nvSpPr>
          <p:spPr>
            <a:xfrm>
              <a:off x="4927600" y="38989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Follow-up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DE5920D-6A27-BCE2-108F-71E2436CE255}"/>
                </a:ext>
              </a:extLst>
            </p:cNvPr>
            <p:cNvSpPr/>
            <p:nvPr/>
          </p:nvSpPr>
          <p:spPr>
            <a:xfrm>
              <a:off x="4667250" y="4337050"/>
              <a:ext cx="139700" cy="1397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4B2736AF-25AE-8BD7-392B-B5818FBC7767}"/>
                </a:ext>
              </a:extLst>
            </p:cNvPr>
            <p:cNvSpPr txBox="1"/>
            <p:nvPr/>
          </p:nvSpPr>
          <p:spPr>
            <a:xfrm>
              <a:off x="4927600" y="43180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46EB7E"/>
                  </a:solidFill>
                  <a:latin typeface="Instrument Sans Medium" pitchFamily="2" charset="0"/>
                </a:rPr>
                <a:t>Vendedor preparado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9DE2B92-A08A-A149-03AD-AFDF94D79918}"/>
              </a:ext>
            </a:extLst>
          </p:cNvPr>
          <p:cNvGrpSpPr/>
          <p:nvPr/>
        </p:nvGrpSpPr>
        <p:grpSpPr>
          <a:xfrm>
            <a:off x="8274050" y="2476500"/>
            <a:ext cx="3308350" cy="2210832"/>
            <a:chOff x="8274050" y="2476500"/>
            <a:chExt cx="3308350" cy="2210832"/>
          </a:xfrm>
        </p:grpSpPr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7860B93-6F32-5BC6-2440-B0BE54C303A3}"/>
                </a:ext>
              </a:extLst>
            </p:cNvPr>
            <p:cNvSpPr txBox="1"/>
            <p:nvPr/>
          </p:nvSpPr>
          <p:spPr>
            <a:xfrm>
              <a:off x="8280400" y="2476500"/>
              <a:ext cx="2794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b="1" spc="-30">
                  <a:solidFill>
                    <a:srgbClr val="FFFFFF"/>
                  </a:solidFill>
                  <a:latin typeface="Urbanist" panose="020B0A04040200000203" pitchFamily="34" charset="0"/>
                </a:rPr>
                <a:t>Operação</a:t>
              </a:r>
            </a:p>
          </p:txBody>
        </p:sp>
        <p:cxnSp>
          <p:nvCxnSpPr>
            <p:cNvPr id="27" name="Conector reto 26">
              <a:extLst>
                <a:ext uri="{FF2B5EF4-FFF2-40B4-BE49-F238E27FC236}">
                  <a16:creationId xmlns:a16="http://schemas.microsoft.com/office/drawing/2014/main" id="{63607EF0-2370-5EFB-3AF4-6D55001A735C}"/>
                </a:ext>
              </a:extLst>
            </p:cNvPr>
            <p:cNvCxnSpPr/>
            <p:nvPr/>
          </p:nvCxnSpPr>
          <p:spPr>
            <a:xfrm>
              <a:off x="8343900" y="3136900"/>
              <a:ext cx="0" cy="1282700"/>
            </a:xfrm>
            <a:prstGeom prst="line">
              <a:avLst/>
            </a:prstGeom>
            <a:ln w="19050" cap="flat" cmpd="sng" algn="ctr">
              <a:solidFill>
                <a:srgbClr val="FFFFFF">
                  <a:alpha val="14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9A9052A5-C357-C6FB-0501-29DD340A486E}"/>
                </a:ext>
              </a:extLst>
            </p:cNvPr>
            <p:cNvSpPr/>
            <p:nvPr/>
          </p:nvSpPr>
          <p:spPr>
            <a:xfrm>
              <a:off x="8274050" y="30797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D147C383-29A5-E453-975C-6B60C47B3C3F}"/>
                </a:ext>
              </a:extLst>
            </p:cNvPr>
            <p:cNvSpPr txBox="1"/>
            <p:nvPr/>
          </p:nvSpPr>
          <p:spPr>
            <a:xfrm>
              <a:off x="8534400" y="30607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Sistemas + dados</a:t>
              </a: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0E89E328-0614-4AB8-FD73-7E46417541B1}"/>
                </a:ext>
              </a:extLst>
            </p:cNvPr>
            <p:cNvSpPr/>
            <p:nvPr/>
          </p:nvSpPr>
          <p:spPr>
            <a:xfrm>
              <a:off x="8274050" y="34988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E769D5A-4E65-CB28-EFD4-0EC15910D529}"/>
                </a:ext>
              </a:extLst>
            </p:cNvPr>
            <p:cNvSpPr txBox="1"/>
            <p:nvPr/>
          </p:nvSpPr>
          <p:spPr>
            <a:xfrm>
              <a:off x="8534400" y="34798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Agente</a:t>
              </a: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A8B704F-1DA2-BDF2-9A23-9120C34F399D}"/>
                </a:ext>
              </a:extLst>
            </p:cNvPr>
            <p:cNvSpPr/>
            <p:nvPr/>
          </p:nvSpPr>
          <p:spPr>
            <a:xfrm>
              <a:off x="8274050" y="3917950"/>
              <a:ext cx="139700" cy="139700"/>
            </a:xfrm>
            <a:prstGeom prst="ellipse">
              <a:avLst/>
            </a:prstGeom>
            <a:solidFill>
              <a:srgbClr val="0B0B0C"/>
            </a:solidFill>
            <a:ln w="19050" cap="flat" cmpd="sng" algn="ctr">
              <a:solidFill>
                <a:srgbClr val="9BA1A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1486CD59-B4FD-4C00-4373-71ED3A8EB34F}"/>
                </a:ext>
              </a:extLst>
            </p:cNvPr>
            <p:cNvSpPr txBox="1"/>
            <p:nvPr/>
          </p:nvSpPr>
          <p:spPr>
            <a:xfrm>
              <a:off x="8534400" y="38989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E8EAEC"/>
                  </a:solidFill>
                  <a:latin typeface="Instrument Sans Medium" pitchFamily="2" charset="0"/>
                </a:rPr>
                <a:t>Análise</a:t>
              </a:r>
            </a:p>
          </p:txBody>
        </p:sp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1173A857-CBAC-E48C-5E71-8712D0FDCD35}"/>
                </a:ext>
              </a:extLst>
            </p:cNvPr>
            <p:cNvSpPr/>
            <p:nvPr/>
          </p:nvSpPr>
          <p:spPr>
            <a:xfrm>
              <a:off x="8274050" y="4337050"/>
              <a:ext cx="139700" cy="1397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6B20372-BFBD-83FF-85F0-EC3EF14F5DFA}"/>
                </a:ext>
              </a:extLst>
            </p:cNvPr>
            <p:cNvSpPr txBox="1"/>
            <p:nvPr/>
          </p:nvSpPr>
          <p:spPr>
            <a:xfrm>
              <a:off x="8534400" y="4318000"/>
              <a:ext cx="3048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250">
                  <a:solidFill>
                    <a:srgbClr val="46EB7E"/>
                  </a:solidFill>
                  <a:latin typeface="Instrument Sans Medium" pitchFamily="2" charset="0"/>
                </a:rPr>
                <a:t>Ação</a:t>
              </a:r>
            </a:p>
          </p:txBody>
        </p:sp>
      </p:grp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55B8B814-A174-769B-3507-571119D42555}"/>
              </a:ext>
            </a:extLst>
          </p:cNvPr>
          <p:cNvCxnSpPr/>
          <p:nvPr/>
        </p:nvCxnSpPr>
        <p:spPr>
          <a:xfrm>
            <a:off x="4292600" y="2476500"/>
            <a:ext cx="0" cy="2413000"/>
          </a:xfrm>
          <a:prstGeom prst="line">
            <a:avLst/>
          </a:prstGeom>
          <a:ln w="1270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D27F91E3-3DEC-ACE3-5DF2-A7689A5C814B}"/>
              </a:ext>
            </a:extLst>
          </p:cNvPr>
          <p:cNvCxnSpPr/>
          <p:nvPr/>
        </p:nvCxnSpPr>
        <p:spPr>
          <a:xfrm>
            <a:off x="7899400" y="2476500"/>
            <a:ext cx="0" cy="2413000"/>
          </a:xfrm>
          <a:prstGeom prst="line">
            <a:avLst/>
          </a:prstGeom>
          <a:ln w="1270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0D875FFE-DFF4-45B2-C923-4CAA78B62476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2AD1415A-0456-D645-5028-1E8B1D0791E2}"/>
              </a:ext>
            </a:extLst>
          </p:cNvPr>
          <p:cNvCxnSpPr/>
          <p:nvPr/>
        </p:nvCxnSpPr>
        <p:spPr>
          <a:xfrm>
            <a:off x="685800" y="6578600"/>
            <a:ext cx="7610475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Elipse 40">
            <a:extLst>
              <a:ext uri="{FF2B5EF4-FFF2-40B4-BE49-F238E27FC236}">
                <a16:creationId xmlns:a16="http://schemas.microsoft.com/office/drawing/2014/main" id="{AF1144BF-15AD-F06D-5B3D-BD228B0E59F4}"/>
              </a:ext>
            </a:extLst>
          </p:cNvPr>
          <p:cNvSpPr/>
          <p:nvPr/>
        </p:nvSpPr>
        <p:spPr>
          <a:xfrm>
            <a:off x="8245475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6BC4329-306A-4B70-5FE2-78B91E23BC3F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423490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125F5FC-13B1-330D-C8BE-7B58FF54200E}"/>
              </a:ext>
            </a:extLst>
          </p:cNvPr>
          <p:cNvSpPr txBox="1"/>
          <p:nvPr/>
        </p:nvSpPr>
        <p:spPr>
          <a:xfrm>
            <a:off x="685800" y="2413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0F7C47"/>
                </a:solidFill>
                <a:latin typeface="Instrument Sans Medium" pitchFamily="2" charset="0"/>
              </a:rPr>
              <a:t>COMO TRABALHAMOS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56E912-E165-4DF9-B073-04B47C86A55C}"/>
              </a:ext>
            </a:extLst>
          </p:cNvPr>
          <p:cNvSpPr txBox="1"/>
          <p:nvPr/>
        </p:nvSpPr>
        <p:spPr>
          <a:xfrm>
            <a:off x="685800" y="27305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5400" b="1" spc="-160">
                <a:solidFill>
                  <a:srgbClr val="0B0B0C"/>
                </a:solidFill>
                <a:latin typeface="Urbanist" panose="020B0A04040200000203" pitchFamily="34" charset="0"/>
              </a:rPr>
              <a:t>Da dor ao </a:t>
            </a:r>
            <a:r>
              <a:rPr lang="pt-BR" sz="5400" b="1" spc="-160">
                <a:solidFill>
                  <a:srgbClr val="0F7C47"/>
                </a:solidFill>
                <a:latin typeface="Urbanist" panose="020B0A04040200000203" pitchFamily="34" charset="0"/>
              </a:rPr>
              <a:t>software.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8379A60-D483-5386-126F-D26070EAF9DF}"/>
              </a:ext>
            </a:extLst>
          </p:cNvPr>
          <p:cNvCxnSpPr/>
          <p:nvPr/>
        </p:nvCxnSpPr>
        <p:spPr>
          <a:xfrm>
            <a:off x="6235700" y="1435100"/>
            <a:ext cx="0" cy="3860800"/>
          </a:xfrm>
          <a:prstGeom prst="line">
            <a:avLst/>
          </a:prstGeom>
          <a:ln w="19050" cap="flat" cmpd="sng" algn="ctr">
            <a:solidFill>
              <a:srgbClr val="0B0B0C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9EDD258-E36D-2B0F-8D43-4DD9E364ED9E}"/>
              </a:ext>
            </a:extLst>
          </p:cNvPr>
          <p:cNvGrpSpPr/>
          <p:nvPr/>
        </p:nvGrpSpPr>
        <p:grpSpPr>
          <a:xfrm>
            <a:off x="5969000" y="1168400"/>
            <a:ext cx="5334000" cy="712232"/>
            <a:chOff x="5969000" y="1168400"/>
            <a:chExt cx="5334000" cy="71223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350689B-9C5F-2E19-7629-7D1D5283B457}"/>
                </a:ext>
              </a:extLst>
            </p:cNvPr>
            <p:cNvSpPr/>
            <p:nvPr/>
          </p:nvSpPr>
          <p:spPr>
            <a:xfrm>
              <a:off x="5969000" y="11684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CF45A653-1273-03C2-3781-70FFBF2934BA}"/>
                </a:ext>
              </a:extLst>
            </p:cNvPr>
            <p:cNvSpPr txBox="1"/>
            <p:nvPr/>
          </p:nvSpPr>
          <p:spPr>
            <a:xfrm>
              <a:off x="5969000" y="13335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1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AAE0E09-C48C-ED8A-1E5A-BCBA97CA669D}"/>
                </a:ext>
              </a:extLst>
            </p:cNvPr>
            <p:cNvSpPr txBox="1"/>
            <p:nvPr/>
          </p:nvSpPr>
          <p:spPr>
            <a:xfrm>
              <a:off x="6731000" y="12192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50" b="1" spc="-20">
                  <a:solidFill>
                    <a:srgbClr val="0B0B0C"/>
                  </a:solidFill>
                  <a:latin typeface="Urbanist" panose="020B0A04040200000203" pitchFamily="34" charset="0"/>
                </a:rPr>
                <a:t>Entender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0E51D56-A4F0-465C-5663-7803D5F56EAF}"/>
                </a:ext>
              </a:extLst>
            </p:cNvPr>
            <p:cNvSpPr txBox="1"/>
            <p:nvPr/>
          </p:nvSpPr>
          <p:spPr>
            <a:xfrm>
              <a:off x="6731000" y="15113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50">
                  <a:solidFill>
                    <a:srgbClr val="575C61"/>
                  </a:solidFill>
                  <a:latin typeface="Instrument Sans Medium" pitchFamily="2" charset="0"/>
                </a:rPr>
                <a:t>Mapeamos problema, impacto e contexto.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BF999BF-29C4-A595-86A6-B6F2D4D9EB5B}"/>
              </a:ext>
            </a:extLst>
          </p:cNvPr>
          <p:cNvGrpSpPr/>
          <p:nvPr/>
        </p:nvGrpSpPr>
        <p:grpSpPr>
          <a:xfrm>
            <a:off x="5969000" y="2133600"/>
            <a:ext cx="5334000" cy="712232"/>
            <a:chOff x="5969000" y="2133600"/>
            <a:chExt cx="5334000" cy="712232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6390E58F-8DF0-41F1-DDFF-26E90A731926}"/>
                </a:ext>
              </a:extLst>
            </p:cNvPr>
            <p:cNvSpPr/>
            <p:nvPr/>
          </p:nvSpPr>
          <p:spPr>
            <a:xfrm>
              <a:off x="5969000" y="21336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0E9EF02-BC53-1FE8-A52F-553EE1C1428F}"/>
                </a:ext>
              </a:extLst>
            </p:cNvPr>
            <p:cNvSpPr txBox="1"/>
            <p:nvPr/>
          </p:nvSpPr>
          <p:spPr>
            <a:xfrm>
              <a:off x="5969000" y="22987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2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3C02DA8B-9CFF-29C7-916D-5F821298288E}"/>
                </a:ext>
              </a:extLst>
            </p:cNvPr>
            <p:cNvSpPr txBox="1"/>
            <p:nvPr/>
          </p:nvSpPr>
          <p:spPr>
            <a:xfrm>
              <a:off x="6731000" y="21844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50" b="1" spc="-20">
                  <a:solidFill>
                    <a:srgbClr val="0B0B0C"/>
                  </a:solidFill>
                  <a:latin typeface="Urbanist" panose="020B0A04040200000203" pitchFamily="34" charset="0"/>
                </a:rPr>
                <a:t>Desenhar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BAFAB00-E94A-46AF-686E-74B4B949F927}"/>
                </a:ext>
              </a:extLst>
            </p:cNvPr>
            <p:cNvSpPr txBox="1"/>
            <p:nvPr/>
          </p:nvSpPr>
          <p:spPr>
            <a:xfrm>
              <a:off x="6731000" y="24765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50">
                  <a:solidFill>
                    <a:srgbClr val="575C61"/>
                  </a:solidFill>
                  <a:latin typeface="Instrument Sans Medium" pitchFamily="2" charset="0"/>
                </a:rPr>
                <a:t>Solução, experiência, arquitetura e integrações.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55344D0-D274-CF85-ED79-313E2A613963}"/>
              </a:ext>
            </a:extLst>
          </p:cNvPr>
          <p:cNvGrpSpPr/>
          <p:nvPr/>
        </p:nvGrpSpPr>
        <p:grpSpPr>
          <a:xfrm>
            <a:off x="5969000" y="3098800"/>
            <a:ext cx="5334000" cy="712232"/>
            <a:chOff x="5969000" y="3098800"/>
            <a:chExt cx="5334000" cy="712232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58DD874-CBCE-3F0F-BC8A-611A7132972C}"/>
                </a:ext>
              </a:extLst>
            </p:cNvPr>
            <p:cNvSpPr/>
            <p:nvPr/>
          </p:nvSpPr>
          <p:spPr>
            <a:xfrm>
              <a:off x="5969000" y="30988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3C7CF717-FFF8-159F-FBEB-F60E03883297}"/>
                </a:ext>
              </a:extLst>
            </p:cNvPr>
            <p:cNvSpPr txBox="1"/>
            <p:nvPr/>
          </p:nvSpPr>
          <p:spPr>
            <a:xfrm>
              <a:off x="5969000" y="32639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3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95646C33-7294-29B5-AE92-F150408F11F3}"/>
                </a:ext>
              </a:extLst>
            </p:cNvPr>
            <p:cNvSpPr txBox="1"/>
            <p:nvPr/>
          </p:nvSpPr>
          <p:spPr>
            <a:xfrm>
              <a:off x="6731000" y="31496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50" b="1" spc="-20">
                  <a:solidFill>
                    <a:srgbClr val="0B0B0C"/>
                  </a:solidFill>
                  <a:latin typeface="Urbanist" panose="020B0A04040200000203" pitchFamily="34" charset="0"/>
                </a:rPr>
                <a:t>Construir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9C219B1D-A4EA-7E15-D5D4-0202BC0FC170}"/>
                </a:ext>
              </a:extLst>
            </p:cNvPr>
            <p:cNvSpPr txBox="1"/>
            <p:nvPr/>
          </p:nvSpPr>
          <p:spPr>
            <a:xfrm>
              <a:off x="6731000" y="34417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50">
                  <a:solidFill>
                    <a:srgbClr val="575C61"/>
                  </a:solidFill>
                  <a:latin typeface="Instrument Sans Medium" pitchFamily="2" charset="0"/>
                </a:rPr>
                <a:t>Ciclos curtos, validação contínua.</a:t>
              </a: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A1D3EE18-F8D5-36B7-1882-D08685757ABB}"/>
              </a:ext>
            </a:extLst>
          </p:cNvPr>
          <p:cNvGrpSpPr/>
          <p:nvPr/>
        </p:nvGrpSpPr>
        <p:grpSpPr>
          <a:xfrm>
            <a:off x="5969000" y="4064000"/>
            <a:ext cx="5334000" cy="712232"/>
            <a:chOff x="5969000" y="4064000"/>
            <a:chExt cx="5334000" cy="712232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E0E0A97D-5661-ADDC-D80D-6C037A9F30EE}"/>
                </a:ext>
              </a:extLst>
            </p:cNvPr>
            <p:cNvSpPr/>
            <p:nvPr/>
          </p:nvSpPr>
          <p:spPr>
            <a:xfrm>
              <a:off x="5969000" y="406400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 cap="flat" cmpd="sng" algn="ctr">
              <a:solidFill>
                <a:srgbClr val="0B0B0C">
                  <a:alpha val="18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D48EDAB5-B859-03DC-FE9A-B18310EE5F36}"/>
                </a:ext>
              </a:extLst>
            </p:cNvPr>
            <p:cNvSpPr txBox="1"/>
            <p:nvPr/>
          </p:nvSpPr>
          <p:spPr>
            <a:xfrm>
              <a:off x="5969000" y="42291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4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FEC7A3D5-CD6B-417D-B0AB-29DEB04560E5}"/>
                </a:ext>
              </a:extLst>
            </p:cNvPr>
            <p:cNvSpPr txBox="1"/>
            <p:nvPr/>
          </p:nvSpPr>
          <p:spPr>
            <a:xfrm>
              <a:off x="6731000" y="41148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50" b="1" spc="-20">
                  <a:solidFill>
                    <a:srgbClr val="0B0B0C"/>
                  </a:solidFill>
                  <a:latin typeface="Urbanist" panose="020B0A04040200000203" pitchFamily="34" charset="0"/>
                </a:rPr>
                <a:t>Implantar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B08CCD0-D821-B269-5B51-F050DBDCBE48}"/>
                </a:ext>
              </a:extLst>
            </p:cNvPr>
            <p:cNvSpPr txBox="1"/>
            <p:nvPr/>
          </p:nvSpPr>
          <p:spPr>
            <a:xfrm>
              <a:off x="6731000" y="44069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50">
                  <a:solidFill>
                    <a:srgbClr val="575C61"/>
                  </a:solidFill>
                  <a:latin typeface="Instrument Sans Medium" pitchFamily="2" charset="0"/>
                </a:rPr>
                <a:t>Na operação real.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746B24E-F423-13CB-3CF8-0A138E09EE2F}"/>
              </a:ext>
            </a:extLst>
          </p:cNvPr>
          <p:cNvGrpSpPr/>
          <p:nvPr/>
        </p:nvGrpSpPr>
        <p:grpSpPr>
          <a:xfrm>
            <a:off x="5969000" y="5029200"/>
            <a:ext cx="5334000" cy="712232"/>
            <a:chOff x="5969000" y="5029200"/>
            <a:chExt cx="5334000" cy="712232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CCDCC44-ACAC-AD1F-6578-EF263F89D7F1}"/>
                </a:ext>
              </a:extLst>
            </p:cNvPr>
            <p:cNvSpPr/>
            <p:nvPr/>
          </p:nvSpPr>
          <p:spPr>
            <a:xfrm>
              <a:off x="5969000" y="5029200"/>
              <a:ext cx="533400" cy="533400"/>
            </a:xfrm>
            <a:prstGeom prst="ellipse">
              <a:avLst/>
            </a:prstGeom>
            <a:solidFill>
              <a:srgbClr val="46EB7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35AA982-7FCB-9128-64BD-F69440D4AE4E}"/>
                </a:ext>
              </a:extLst>
            </p:cNvPr>
            <p:cNvSpPr txBox="1"/>
            <p:nvPr/>
          </p:nvSpPr>
          <p:spPr>
            <a:xfrm>
              <a:off x="5969000" y="5194300"/>
              <a:ext cx="533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pt-BR" sz="1300" b="1">
                  <a:solidFill>
                    <a:srgbClr val="0B0B0C"/>
                  </a:solidFill>
                  <a:latin typeface="Urbanist" panose="020B0A04040200000203" pitchFamily="34" charset="0"/>
                </a:rPr>
                <a:t>5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7436ADF-4140-6336-DECD-328100FED3C4}"/>
                </a:ext>
              </a:extLst>
            </p:cNvPr>
            <p:cNvSpPr txBox="1"/>
            <p:nvPr/>
          </p:nvSpPr>
          <p:spPr>
            <a:xfrm>
              <a:off x="6731000" y="50800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50" b="1" spc="-20">
                  <a:solidFill>
                    <a:srgbClr val="0B0B0C"/>
                  </a:solidFill>
                  <a:latin typeface="Urbanist" panose="020B0A04040200000203" pitchFamily="34" charset="0"/>
                </a:rPr>
                <a:t>Evoluir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2CEB8315-9240-6F7F-455B-668BADFA3F3B}"/>
                </a:ext>
              </a:extLst>
            </p:cNvPr>
            <p:cNvSpPr txBox="1"/>
            <p:nvPr/>
          </p:nvSpPr>
          <p:spPr>
            <a:xfrm>
              <a:off x="6731000" y="5372100"/>
              <a:ext cx="4572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>
                <a:lnSpc>
                  <a:spcPct val="104000"/>
                </a:lnSpc>
              </a:pPr>
              <a:r>
                <a:rPr lang="pt-BR" sz="1050">
                  <a:solidFill>
                    <a:srgbClr val="575C61"/>
                  </a:solidFill>
                  <a:latin typeface="Instrument Sans Medium" pitchFamily="2" charset="0"/>
                </a:rPr>
                <a:t>Uso, resultados e novas oportunidades.</a:t>
              </a:r>
            </a:p>
          </p:txBody>
        </p:sp>
      </p:grp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ECB3DB3-D18B-EA16-FBA8-326FDC200A42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0B0B0C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DEF96C48-B43B-8BDA-CC23-C94302185ABB}"/>
              </a:ext>
            </a:extLst>
          </p:cNvPr>
          <p:cNvCxnSpPr/>
          <p:nvPr/>
        </p:nvCxnSpPr>
        <p:spPr>
          <a:xfrm>
            <a:off x="685800" y="6578600"/>
            <a:ext cx="8456083" cy="0"/>
          </a:xfrm>
          <a:prstGeom prst="line">
            <a:avLst/>
          </a:prstGeom>
          <a:ln w="19050" cap="flat" cmpd="sng" algn="ctr">
            <a:solidFill>
              <a:srgbClr val="0F7C4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87EB9825-47D6-F9FB-12E2-5E0FDF9E7ACA}"/>
              </a:ext>
            </a:extLst>
          </p:cNvPr>
          <p:cNvSpPr/>
          <p:nvPr/>
        </p:nvSpPr>
        <p:spPr>
          <a:xfrm>
            <a:off x="9091083" y="6527800"/>
            <a:ext cx="101600" cy="101600"/>
          </a:xfrm>
          <a:prstGeom prst="ellipse">
            <a:avLst/>
          </a:prstGeom>
          <a:solidFill>
            <a:srgbClr val="0F7C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921178B-1D5A-4A10-EB61-118EDFF64320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575C61"/>
                </a:solidFill>
                <a:latin typeface="Instrument Sans Medium" pitchFamily="2" charset="0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3791430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8CDAC83-5C27-35DB-F3B5-5F9857375775}"/>
              </a:ext>
            </a:extLst>
          </p:cNvPr>
          <p:cNvSpPr txBox="1"/>
          <p:nvPr/>
        </p:nvSpPr>
        <p:spPr>
          <a:xfrm>
            <a:off x="685800" y="5715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000" spc="170">
                <a:solidFill>
                  <a:srgbClr val="46EB7E"/>
                </a:solidFill>
                <a:latin typeface="Instrument Sans Medium" pitchFamily="2" charset="0"/>
              </a:rPr>
              <a:t>PARA QUEM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AABF11-F77C-C8BC-9939-B03476088F01}"/>
              </a:ext>
            </a:extLst>
          </p:cNvPr>
          <p:cNvSpPr txBox="1"/>
          <p:nvPr/>
        </p:nvSpPr>
        <p:spPr>
          <a:xfrm>
            <a:off x="685800" y="965200"/>
            <a:ext cx="10820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4300" b="1" spc="-120">
                <a:solidFill>
                  <a:srgbClr val="FFFFFF"/>
                </a:solidFill>
                <a:latin typeface="Urbanist" panose="020B0A04040200000203" pitchFamily="34" charset="0"/>
              </a:rPr>
              <a:t>Para empresas que já têm operação —
e querem chegar ao </a:t>
            </a:r>
            <a:r>
              <a:rPr lang="pt-BR" sz="4300" b="1" spc="-120">
                <a:solidFill>
                  <a:srgbClr val="46EB7E"/>
                </a:solidFill>
                <a:latin typeface="Urbanist" panose="020B0A04040200000203" pitchFamily="34" charset="0"/>
              </a:rPr>
              <a:t>próximo nível.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0ECB634-CA9B-C082-BCE7-104F44470B68}"/>
              </a:ext>
            </a:extLst>
          </p:cNvPr>
          <p:cNvSpPr/>
          <p:nvPr/>
        </p:nvSpPr>
        <p:spPr>
          <a:xfrm>
            <a:off x="685800" y="2946400"/>
            <a:ext cx="2413000" cy="419100"/>
          </a:xfrm>
          <a:prstGeom prst="roundRect">
            <a:avLst>
              <a:gd name="adj" fmla="val 50000"/>
            </a:avLst>
          </a:prstGeom>
          <a:solidFill>
            <a:srgbClr val="131316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>
            <a:noAutofit/>
          </a:bodyPr>
          <a:lstStyle/>
          <a:p>
            <a:pPr algn="ctr"/>
            <a:r>
              <a:rPr lang="pt-BR" sz="1250">
                <a:solidFill>
                  <a:srgbClr val="E8EAEC"/>
                </a:solidFill>
                <a:latin typeface="Instrument Sans Medium" pitchFamily="2" charset="0"/>
              </a:rPr>
              <a:t>Processos que não escalam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CAB61CA-D0E8-3B70-387F-B477ED1ED624}"/>
              </a:ext>
            </a:extLst>
          </p:cNvPr>
          <p:cNvSpPr/>
          <p:nvPr/>
        </p:nvSpPr>
        <p:spPr>
          <a:xfrm>
            <a:off x="3238500" y="2946400"/>
            <a:ext cx="2184400" cy="419100"/>
          </a:xfrm>
          <a:prstGeom prst="roundRect">
            <a:avLst>
              <a:gd name="adj" fmla="val 50000"/>
            </a:avLst>
          </a:prstGeom>
          <a:solidFill>
            <a:srgbClr val="131316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>
            <a:noAutofit/>
          </a:bodyPr>
          <a:lstStyle/>
          <a:p>
            <a:pPr algn="ctr"/>
            <a:r>
              <a:rPr lang="pt-BR" sz="1250">
                <a:solidFill>
                  <a:srgbClr val="E8EAEC"/>
                </a:solidFill>
                <a:latin typeface="Instrument Sans Medium" pitchFamily="2" charset="0"/>
              </a:rPr>
              <a:t>Sistemas desconectados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EBE5E52-FCE9-21E9-3F67-6EF3CA898333}"/>
              </a:ext>
            </a:extLst>
          </p:cNvPr>
          <p:cNvSpPr/>
          <p:nvPr/>
        </p:nvSpPr>
        <p:spPr>
          <a:xfrm>
            <a:off x="5562600" y="294640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131316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>
            <a:noAutofit/>
          </a:bodyPr>
          <a:lstStyle/>
          <a:p>
            <a:pPr algn="ctr"/>
            <a:r>
              <a:rPr lang="pt-BR" sz="1250">
                <a:solidFill>
                  <a:srgbClr val="E8EAEC"/>
                </a:solidFill>
                <a:latin typeface="Instrument Sans Medium" pitchFamily="2" charset="0"/>
              </a:rPr>
              <a:t>Dados espalhados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0A0944E-40E1-28E0-C583-3D34E5F0E2FD}"/>
              </a:ext>
            </a:extLst>
          </p:cNvPr>
          <p:cNvSpPr/>
          <p:nvPr/>
        </p:nvSpPr>
        <p:spPr>
          <a:xfrm>
            <a:off x="7416800" y="2946400"/>
            <a:ext cx="3327400" cy="419100"/>
          </a:xfrm>
          <a:prstGeom prst="roundRect">
            <a:avLst>
              <a:gd name="adj" fmla="val 50000"/>
            </a:avLst>
          </a:prstGeom>
          <a:solidFill>
            <a:srgbClr val="131316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>
            <a:noAutofit/>
          </a:bodyPr>
          <a:lstStyle/>
          <a:p>
            <a:pPr algn="ctr"/>
            <a:r>
              <a:rPr lang="pt-BR" sz="1250">
                <a:solidFill>
                  <a:srgbClr val="E8EAEC"/>
                </a:solidFill>
                <a:latin typeface="Instrument Sans Medium" pitchFamily="2" charset="0"/>
              </a:rPr>
              <a:t>Oportunidades digitais não exploradas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CC37D9-4C4B-FBFA-0C0F-9BEDCA712097}"/>
              </a:ext>
            </a:extLst>
          </p:cNvPr>
          <p:cNvSpPr txBox="1"/>
          <p:nvPr/>
        </p:nvSpPr>
        <p:spPr>
          <a:xfrm>
            <a:off x="685800" y="54610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pt-BR" sz="1500">
                <a:solidFill>
                  <a:srgbClr val="9BA1A6"/>
                </a:solidFill>
                <a:latin typeface="Instrument Sans Medium" pitchFamily="2" charset="0"/>
              </a:rPr>
              <a:t>Se a empresa já funciona, mas a tecnologia começou a limitar o crescimento, </a:t>
            </a:r>
            <a:r>
              <a:rPr lang="pt-BR" sz="1500">
                <a:solidFill>
                  <a:srgbClr val="46EB7E"/>
                </a:solidFill>
                <a:latin typeface="Instrument Sans Medium" pitchFamily="2" charset="0"/>
              </a:rPr>
              <a:t>provavelmente existe algo que podemos construir.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9ECEBB5-BFFE-3050-B325-8F9EDF8B88D8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00452E-F9F5-40A8-8E3A-C6C596416033}"/>
              </a:ext>
            </a:extLst>
          </p:cNvPr>
          <p:cNvCxnSpPr/>
          <p:nvPr/>
        </p:nvCxnSpPr>
        <p:spPr>
          <a:xfrm>
            <a:off x="685800" y="6578600"/>
            <a:ext cx="9301692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E63DFFC9-F8D7-61FD-5AF7-CC39DFC2B758}"/>
              </a:ext>
            </a:extLst>
          </p:cNvPr>
          <p:cNvSpPr/>
          <p:nvPr/>
        </p:nvSpPr>
        <p:spPr>
          <a:xfrm>
            <a:off x="9936692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B7C43E-A3AA-9183-08AA-FECA2FBC475D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544573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CF8956B-329B-21E9-717F-59E731FEEF94}"/>
              </a:ext>
            </a:extLst>
          </p:cNvPr>
          <p:cNvSpPr/>
          <p:nvPr/>
        </p:nvSpPr>
        <p:spPr>
          <a:xfrm>
            <a:off x="7810500" y="2730500"/>
            <a:ext cx="6273800" cy="6273800"/>
          </a:xfrm>
          <a:prstGeom prst="ellipse">
            <a:avLst/>
          </a:prstGeom>
          <a:solidFill>
            <a:srgbClr val="46EB7E">
              <a:alpha val="6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ADC80204-522B-7C72-FD8A-C013973F7DC8}"/>
              </a:ext>
            </a:extLst>
          </p:cNvPr>
          <p:cNvSpPr/>
          <p:nvPr/>
        </p:nvSpPr>
        <p:spPr>
          <a:xfrm>
            <a:off x="8801100" y="3721100"/>
            <a:ext cx="4292600" cy="4292600"/>
          </a:xfrm>
          <a:prstGeom prst="ellipse">
            <a:avLst/>
          </a:prstGeom>
          <a:solidFill>
            <a:srgbClr val="46EB7E">
              <a:alpha val="7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776BA94-579E-0D06-D28D-819676EE59F4}"/>
              </a:ext>
            </a:extLst>
          </p:cNvPr>
          <p:cNvSpPr/>
          <p:nvPr/>
        </p:nvSpPr>
        <p:spPr>
          <a:xfrm>
            <a:off x="9715500" y="4635500"/>
            <a:ext cx="2463800" cy="2463800"/>
          </a:xfrm>
          <a:prstGeom prst="ellipse">
            <a:avLst/>
          </a:prstGeom>
          <a:solidFill>
            <a:srgbClr val="46EB7E">
              <a:alpha val="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C617CB-28D2-4B3A-825D-F674FC3CD7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3400"/>
            <a:ext cx="1082566" cy="3048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FA265E1-1D7C-AE2A-52B3-BD10DA3DEFEB}"/>
              </a:ext>
            </a:extLst>
          </p:cNvPr>
          <p:cNvSpPr txBox="1"/>
          <p:nvPr/>
        </p:nvSpPr>
        <p:spPr>
          <a:xfrm>
            <a:off x="685800" y="20955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5500" b="1" spc="-160">
                <a:solidFill>
                  <a:srgbClr val="FFFFFF"/>
                </a:solidFill>
                <a:latin typeface="Urbanist" panose="020B0A04040200000203" pitchFamily="34" charset="0"/>
              </a:rPr>
              <a:t>Qual problema da sua empresa valeria a pena </a:t>
            </a:r>
            <a:r>
              <a:rPr lang="pt-BR" sz="5500" b="1" spc="-160">
                <a:solidFill>
                  <a:srgbClr val="46EB7E"/>
                </a:solidFill>
                <a:latin typeface="Urbanist" panose="020B0A04040200000203" pitchFamily="34" charset="0"/>
              </a:rPr>
              <a:t>resolver agora?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2E8E083-F239-F532-8139-89AEDA443718}"/>
              </a:ext>
            </a:extLst>
          </p:cNvPr>
          <p:cNvSpPr/>
          <p:nvPr/>
        </p:nvSpPr>
        <p:spPr>
          <a:xfrm>
            <a:off x="685800" y="4572000"/>
            <a:ext cx="2946400" cy="482600"/>
          </a:xfrm>
          <a:prstGeom prst="roundRect">
            <a:avLst>
              <a:gd name="adj" fmla="val 50000"/>
            </a:avLst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lang="pt-BR" sz="1300">
                <a:solidFill>
                  <a:srgbClr val="0B0B0C"/>
                </a:solidFill>
                <a:latin typeface="Instrument Sans Medium" pitchFamily="2" charset="0"/>
              </a:rPr>
              <a:t>WhatsApp +55 11 94879-3233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960571D-A6B4-62D4-7C7B-048A97DCC869}"/>
              </a:ext>
            </a:extLst>
          </p:cNvPr>
          <p:cNvSpPr/>
          <p:nvPr/>
        </p:nvSpPr>
        <p:spPr>
          <a:xfrm>
            <a:off x="3784600" y="4572000"/>
            <a:ext cx="2184400" cy="482600"/>
          </a:xfrm>
          <a:prstGeom prst="roundRect">
            <a:avLst>
              <a:gd name="adj" fmla="val 50000"/>
            </a:avLst>
          </a:prstGeom>
          <a:solidFill>
            <a:srgbClr val="131316"/>
          </a:solidFill>
          <a:ln w="12700" cap="flat" cmpd="sng" algn="ctr">
            <a:solidFill>
              <a:srgbClr val="FFFFFF">
                <a:alpha val="2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>
            <a:noAutofit/>
          </a:bodyPr>
          <a:lstStyle/>
          <a:p>
            <a:pPr algn="ctr"/>
            <a:r>
              <a:rPr lang="pt-BR" sz="1300">
                <a:solidFill>
                  <a:srgbClr val="E8EAEC"/>
                </a:solidFill>
                <a:latin typeface="Instrument Sans Medium" pitchFamily="2" charset="0"/>
              </a:rPr>
              <a:t>www.dreamy.app.br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DFC8EAD-5162-FE2E-66A6-E6101E002CAC}"/>
              </a:ext>
            </a:extLst>
          </p:cNvPr>
          <p:cNvSpPr txBox="1"/>
          <p:nvPr/>
        </p:nvSpPr>
        <p:spPr>
          <a:xfrm>
            <a:off x="685800" y="5257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4000"/>
              </a:lnSpc>
            </a:pPr>
            <a:r>
              <a:rPr lang="pt-BR" sz="1200">
                <a:solidFill>
                  <a:srgbClr val="9BA1A6"/>
                </a:solidFill>
                <a:latin typeface="Instrument Sans Medium" pitchFamily="2" charset="0"/>
              </a:rPr>
              <a:t>Vamos falar sobre o seu negócio.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83A63E5-4B27-65FB-49C4-A4A5FECEC6A8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FFFFFF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B5A0085-8AAF-B73F-2B40-51FB551C8BC5}"/>
              </a:ext>
            </a:extLst>
          </p:cNvPr>
          <p:cNvCxnSpPr/>
          <p:nvPr/>
        </p:nvCxnSpPr>
        <p:spPr>
          <a:xfrm>
            <a:off x="685800" y="6578600"/>
            <a:ext cx="10147300" cy="0"/>
          </a:xfrm>
          <a:prstGeom prst="line">
            <a:avLst/>
          </a:prstGeom>
          <a:ln w="19050" cap="flat" cmpd="sng" algn="ctr">
            <a:solidFill>
              <a:srgbClr val="46EB7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A40AB93C-18A5-06D8-D1A1-D4FDD643C41D}"/>
              </a:ext>
            </a:extLst>
          </p:cNvPr>
          <p:cNvSpPr/>
          <p:nvPr/>
        </p:nvSpPr>
        <p:spPr>
          <a:xfrm>
            <a:off x="10782300" y="6527800"/>
            <a:ext cx="101600" cy="101600"/>
          </a:xfrm>
          <a:prstGeom prst="ellipse">
            <a:avLst/>
          </a:prstGeom>
          <a:solidFill>
            <a:srgbClr val="46EB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10AB831-EF8B-E9E3-7942-B79EDC6E77AB}"/>
              </a:ext>
            </a:extLst>
          </p:cNvPr>
          <p:cNvSpPr txBox="1"/>
          <p:nvPr/>
        </p:nvSpPr>
        <p:spPr>
          <a:xfrm>
            <a:off x="10947400" y="65024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04000"/>
              </a:lnSpc>
            </a:pPr>
            <a:r>
              <a:rPr lang="pt-BR" sz="850" spc="80">
                <a:solidFill>
                  <a:srgbClr val="9BA1A6"/>
                </a:solidFill>
                <a:latin typeface="Instrument Sans Medium" pitchFamily="2" charset="0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698729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Office PowerPoint</Application>
  <PresentationFormat>Personalizar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Aptos Display</vt:lpstr>
      <vt:lpstr>Aptos</vt:lpstr>
      <vt:lpstr>Instrument Sans Medium</vt:lpstr>
      <vt:lpstr>Urbanist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Dreamy — Apresentação Institucional</dc:title>
  <dc:creator>Dreamy</dc:creator>
  <cp:lastModifiedBy>Luigi Choffe</cp:lastModifiedBy>
  <cp:revision>1</cp:revision>
  <dcterms:created xsi:type="dcterms:W3CDTF">2026-08-20T01:05:41Z</dcterms:created>
  <dcterms:modified xsi:type="dcterms:W3CDTF">2026-08-20T01:05:41Z</dcterms:modified>
</cp:coreProperties>
</file>