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strument Sans Medium" pitchFamily="2" charset="0"/>
      <p:regular r:id="rId17"/>
    </p:embeddedFont>
    <p:embeddedFont>
      <p:font typeface="Urbanist" panose="020B0A04040200000203" pitchFamily="34" charset="0"/>
      <p:bold r:id="rId18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319F1A-04F8-4E34-9BA8-5888D93E68BD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FB6B7F-753C-481F-8D28-DB298048683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76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quebrar o gelo e fazer a promessa da conversa. ≈ 40s
Obrigado pelo tempo de vocês. Eu sou [seu nome], da Dreamy.
Antes de qualquer slide bonito, uma promessa: nos próximos dez minutos eu não vou falar de tecnologia pela tecnologia. Eu vou falar do negócio de vocês — de onde ele trava hoje e de onde ele pode ganhar mais.
A Dreamy constrói software sob medida e agentes de IA. Mas o nosso ponto de partida é sempre o mesmo, e está aí embaixo no slide: começamos pelo problema. A tecnologia vem depois.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2708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Urgência com dados de mercado — deixe os números falarem e não se alongue. ≈ 40s
Antes de falar da Dreamy, trinta segundos sobre o momento.
88% das empresas no mundo já usam IA em pelo menos uma função — eram 78% há um ano. Só em 2024, foram 252 bilhões de dólares investidos em IA. E quem investe está tendo retorno: em média, 3,7 dólares de volta para cada 1 investido.
[pausa curta]
Ou seja: a pergunta deixou de ser SE vale a pena. A pergunta agora é ONDE — no seu negócio. E é exatamente isso que a gente veio responder.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93529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gerar identificação — a plateia precisa se reconhecer na cena. ≈ 60s
Deixa eu descrever uma empresa, e você me diz se soa familiar.
A empresa cresce. Os processos vão ficando cada vez mais específicos. Os sistemas param de conversar entre si. Alguma planilha — geralmente uma que só uma pessoa entende — passa a sustentar decisões importantes. E lá no comercial, leads esfriam sem ninguém perceber.
[pausa — deixe a cena assentar]
Nada disso é falta de competência. É que a empresa cresceu mais rápido do que a tecnologia dela. E software pronto, de prateleira, não foi feito para o SEU processo — foi feito para a média.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3176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a virada. Slide quase vazio de propósito — a força está na pausa. ≈ 15s
E é exatamente nesse ponto que a gente entra.
[pausa longa — não corra este slide]
Quando o software pronto acaba e o seu problema continua — esse é o nosso território.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6720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remover a maior objeção ('não sei o que pedir') e mostrar honestidade. ≈ 50s
Uma coisa importante: você não precisa chegar para a gente sabendo o que construir.
Nenhum cliente nosso chegou com uma especificação técnica. Eles chegam com uma dor: "isso aqui demora demais", "estou desperdiçando oportunidade comercial", "não consigo enxergar a minha operação".
O nosso trabalho começa aí — nessa régua do slide: entender a dor, medir o impacto, achar a oportunidade, desenhar a solução, e só então escolher a tecnologia. E às vezes a resposta honesta do diagnóstico é: não vale a pena construir nada. Essa honestidade faz parte do serviço — ninguém aqui quer vender software que não devolve resultado.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50486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dar o mapa da conversa e convidar a interrupção (engajamento). ≈ 40s
Na prática, o que a gente constrói se organiza em três frentes.
Um: receita nova — transformar o que a empresa já tem em um produto digital que os clientes dela pagariam para usar. Dois: operação — sistemas construídos em volta do seu processo, e não o contrário. Três: agentes de IA — colocar a IA para executar trabalho de verdade dentro da empresa.
Vou passar rápido pelas três. E pode me interromper na hora em que alguma fizer clique com algo que vocês vivem aí dentro — essa é a parte boa da conversa.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68682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plantar a pergunta que fica na cabeça depois da reunião. ≈ 60s
Primeira frente.
A sua empresa já conquistou o mais difícil: clientes, confiança, conhecimento, distribuição. Isso levou anos. A pergunta que a gente faz é: o que MAIS essas pessoas comprariam de você?
Pode ser um portal, uma assinatura, uma ferramenta que resolve uma dor do seu cliente. Cada produto nasce da base que já existe — por isso esse gráfico é conceitual, sem números: os números vêm do diagnóstico, do SEU caso, não de uma promessa genérica minha.
Mas leva essa pergunta para casa: se uma parte dos seus clientes pagasse por um novo produto digital seu... o que valeria a pena construir?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375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No material enviado, este slide se explica sozinho. Ao vivo, prefira o simulador interativo do pitch HTML. ≈ 30s
Um exemplo com números redondos: uma empresa com 500 clientes ativos, um produto digital de R$ 149 por mês, e um cenário conservador — só 30% da base aderindo.
Isso já significa R$ 22.350 novos por mês — R$ 268.200 por ano. E cada mês sem o produto no ar é esse valor que fica na mesa.
No diagnóstico, a simulação é refeita com os números reais da empresa.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7150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inverter a lógica 'empresa se adapta ao software' e reforçar a parceria. ≈ 50s
Segunda frente.
Hoje, a informação da sua operação mora em lugares demais — está aí no slide: planilha, ERP, e-mail, documento... e na cabeça de gente boa. Software genérico obriga a SUA empresa a se adaptar a ELE. A gente inverte isso: constrói o sistema em volta do seu processo.
O resultado é um lugar só, com a informação consolidada — e decisão com visibilidade, não no feeling.
E vale repetir: você não precisa trazer a solução pronta. Você conhece o seu negócio; nós conhecemos tecnologia. O desenho a gente faz junto.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53763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desfazer o mal-entendido 'agente = chatbot' e tranquilizar sobre controle. ≈ 50s
Terceira frente — e aqui eu preciso desfazer um mal-entendido.
Agente de IA não é chatbot. É software que executa etapas de um processo: interpreta informação, acessa as ferramentas que VOCÊ autorizar — CRM, ERP, WhatsApp, e-mail, documentos — e faz o trabalho.
Com escopo definido, com regras, com permissões. E quando o assunto precisa de gente, ele passa para gente — está aí na saída de baixo do diagrama.
Autonomia com controle. Sempre nessa ordem.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36603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tornar concreto — três cenas do dia a dia que a plateia reconhece. ≈ 50s
Três lugares onde isso fica concreto.
No atendimento: o agente responde, consulta as informações, registra tudo no CRM — e chama um humano quando a conversa pede um humano.
Em vendas: ele pesquisa o lead, qualifica, prepara o follow-up — o vendedor chega na conversa pronto, em vez de gastar a manhã pesquisando.
Na operação: ele lê sistemas e documentos, consolida, analisa e age.
Repara no padrão das três colunas: o agente fica com o trabalho repetitivo; as pessoas ficam com o que exige gente.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6170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reduzir o risco percebido — processo claro, ciclos curtos, sem sumiço. ≈ 45s
E como é trabalhar com a gente? Cinco passos, sem mistério.
Entender: a gente senta junto e mapeia problema, impacto e contexto. Desenhar: solução, experiência, arquitetura. Construir: em ciclos curtos — você vê o software crescendo e valida no caminho; a gente não some seis meses para voltar com uma surpresa. Implantar: na operação real, com quem usa de verdade. E evoluir: porque software bom não termina — acompanha o negócio.
Em cada ciclo você sabe o que está sendo feito, por quê, e o que vem depois.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76458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qualificar com franqueza — quem tem fit se reconhece e se inclina. ≈ 40s
Sendo bem direto sobre para quem isso funciona: o nosso trabalho rende mais em empresa que já funciona.
Que já tem operação, clientes, time — e sente que a tecnologia virou o freio, e não o motor.
Se, enquanto eu falava, você lembrou de um processo que não escala, de sistemas que não conversam, de dados espalhados por aí... provavelmente existe algo que a gente pode construir juntos.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386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Objetivo: uma única pergunta + próximo passo simples. Termine e deixe a plateia falar. ≈ 40s
Então eu fecho com a única pergunta que importa hoje:
qual problema da SUA empresa valeria a pena resolver agora?
[pausa — deixe alguém responder; se ninguém responder, chame pelo nome quem demonstrou mais interesse]
Não precisa ser a resposta perfeita. Me conta o contexto, e a gente avalia junto se existe uma solução com impacto de verdade — inclusive se a resposta for "ainda não".
O próximo passo é simples: uma conversa. O WhatsApp está aí no slide. E como diz o nosso site: sem apresentação genérica — na próxima conversa, o assunto é o seu negócio.
Obrigado!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B6B7F-753C-481F-8D28-DB2980486834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60199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B3115C-F255-1525-F005-C92267957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17615F4-F447-93EE-B1BC-57EA29FB11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7FADF66-5FFD-0130-0C42-8B8426685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28A6E62-6143-E8DC-466A-6D2E827E6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60318F2-0602-1F57-4223-A2511F938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4456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85B299-3301-23EE-AC92-518DF7714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E2D9DF-BFEC-2656-ECF9-4185A348A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021FF04-EE53-8181-7746-4F3234187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3441F81-4D6A-3522-1BE1-2A9257D38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DCCA8B-70B2-25D3-279C-BA0941E80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943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B8ADBD-B3BD-F109-AAE4-22244BFE5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15A55F-7ED3-4061-4A4C-A1131C927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E38A4-F44F-A7C2-E720-46C68E0B8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4B6DFFB-DB4C-AE32-266F-F43313F67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627A01-DFD9-C916-25D3-77A7CBCA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533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05B0FE-3E82-81C7-C679-00B5D2421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D3FAC1-AD03-00FF-AF56-0E79FB6315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54B2D4-CA37-DD9F-0825-8ED4A6022B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10E5C07-E2A9-524E-5964-2A3C34118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3E335E5-42A1-39E6-8B8E-039129042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85334C5-5A68-A7A2-C59E-391B764C2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25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DD3799-8DD3-3DF5-200A-BCE71217D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DBE654A-C09E-36B5-09D5-C74958A4D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9919EB-4FCB-5E0F-6566-9BC088347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12D8123-0823-E455-BCD3-5868008FF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9B031A6-05E9-EB31-CFFB-8262DBF01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2A4669F-8CCB-217F-1CC3-3BBF228C4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813D37B-533C-F2E6-5A95-3B8137BC9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40CC4F1-4C57-02CB-7F09-D57B19E9C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5413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518447-5006-9A5C-D955-A5960D70D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626F3EB-ABEE-5C48-87F8-2DBFA0F9D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854BFFA-7CBE-FDEE-4850-E387DF2E4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F34F8D6-B6F1-9B79-EE77-AE34EAEEB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6167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087C50B8-05FD-D5B0-0BDA-47143D5DE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509C7F0-B1EE-D9E9-9F49-305A42CC8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F6F169-2CAD-E6C2-31CE-F57AE70FF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3115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339C56-0D29-C59E-3B6E-24CC93487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982508C-6463-A6C7-1B48-3FC90B0E2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32235B7-CF1E-91F5-689B-5CB32B224F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A3F5087-1B43-E2D6-7E2E-93946F552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D86B08E-224E-D03B-9162-A5A0B8540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F4CEF5A-A6BB-73D3-BF15-49B2DE9B5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4173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E467D-6B8C-C8E1-13AF-D1C9E92F8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18DB30A-DE0B-798D-3B8A-44EC7177DA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6A4B991-4DF2-FB53-272A-14E27D210B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3A5A019-CAC4-807F-180D-9222F984A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36C3C73-458C-57F7-2C06-994EA4A9B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12FC7E3-959C-0618-206A-8A45B70E1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5023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C8D4C8-8DFD-C39A-FA7F-98697C229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A995A89-8F32-2B75-A485-87366F6DD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4C7143-E972-A83B-1D86-E466B3214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8BFD516-89DF-ECD3-3A45-EF832D319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746594D-9AD5-27B4-D1BA-3240D762D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708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F6FF21C-FFEF-8EBA-773F-1C248F0F69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68E0208-C935-A9C6-BAF2-DFFB862908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28B01B-031C-9880-279D-22764BE69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752F48-4692-3023-3F18-1899795EF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498A1E-BCF7-F8FF-115F-A3FF6F9AA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847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ABAFE57-C70B-02AD-26AA-43C56E1B2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1ABE6F9-8B96-F0BD-38E3-2F989A02B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3C3827-AA98-A796-3905-4C456D7D8E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9F1A1F-0714-461C-9678-162007217D3F}" type="datetimeFigureOut">
              <a:rPr lang="pt-BR" smtClean="0"/>
              <a:t>25/08/2026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F14D47E-2164-2286-888E-446E376856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4A6B3-E07C-03C6-ADE1-5A673D754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F2D51-3F0E-4BCF-B849-84F34A68A0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5824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E9912A0D-DBD1-1A52-3CD8-AA06F2E8EE39}"/>
              </a:ext>
            </a:extLst>
          </p:cNvPr>
          <p:cNvSpPr/>
          <p:nvPr/>
        </p:nvSpPr>
        <p:spPr>
          <a:xfrm>
            <a:off x="8089900" y="-1435100"/>
            <a:ext cx="5715000" cy="5715000"/>
          </a:xfrm>
          <a:prstGeom prst="ellipse">
            <a:avLst/>
          </a:prstGeom>
          <a:solidFill>
            <a:srgbClr val="46EB7E">
              <a:alpha val="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4F2F247A-A650-9B5D-424A-6882E649FB3E}"/>
              </a:ext>
            </a:extLst>
          </p:cNvPr>
          <p:cNvSpPr/>
          <p:nvPr/>
        </p:nvSpPr>
        <p:spPr>
          <a:xfrm>
            <a:off x="8953500" y="-571500"/>
            <a:ext cx="3987800" cy="3987800"/>
          </a:xfrm>
          <a:prstGeom prst="ellipse">
            <a:avLst/>
          </a:prstGeom>
          <a:solidFill>
            <a:srgbClr val="46EB7E">
              <a:alpha val="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BD8A1FB-9CD3-8678-EFDD-B4326CB1295C}"/>
              </a:ext>
            </a:extLst>
          </p:cNvPr>
          <p:cNvSpPr/>
          <p:nvPr/>
        </p:nvSpPr>
        <p:spPr>
          <a:xfrm>
            <a:off x="9804400" y="279400"/>
            <a:ext cx="2286000" cy="2286000"/>
          </a:xfrm>
          <a:prstGeom prst="ellipse">
            <a:avLst/>
          </a:prstGeom>
          <a:solidFill>
            <a:srgbClr val="46EB7E">
              <a:alpha val="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27F1ACD-BE84-43A0-F5B3-4180F01E86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533400"/>
            <a:ext cx="1082566" cy="3048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489A51F7-CB3B-0CBA-C992-BD07F7BD763F}"/>
              </a:ext>
            </a:extLst>
          </p:cNvPr>
          <p:cNvSpPr txBox="1"/>
          <p:nvPr/>
        </p:nvSpPr>
        <p:spPr>
          <a:xfrm>
            <a:off x="685800" y="1778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SOFTWARE + INTELIGÊNCIA ARTIFICIAL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2B10BFA-98F0-31A0-E876-4D958BA05C1D}"/>
              </a:ext>
            </a:extLst>
          </p:cNvPr>
          <p:cNvSpPr txBox="1"/>
          <p:nvPr/>
        </p:nvSpPr>
        <p:spPr>
          <a:xfrm>
            <a:off x="685800" y="1905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Tecnologia sob</a:t>
            </a:r>
            <a:b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</a:b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medida para</a:t>
            </a:r>
            <a:b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</a:br>
            <a:r>
              <a:rPr lang="pt-BR" sz="5200" b="1" spc="-150">
                <a:solidFill>
                  <a:srgbClr val="46EB7E"/>
                </a:solidFill>
                <a:latin typeface="Urbanist" panose="020B0A04040200000203" pitchFamily="34" charset="0"/>
              </a:rPr>
              <a:t>ganhar mais</a:t>
            </a: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 e</a:t>
            </a:r>
            <a:b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</a:br>
            <a:r>
              <a:rPr lang="pt-BR" sz="5200" b="1" spc="-150">
                <a:solidFill>
                  <a:srgbClr val="FFFFFF"/>
                </a:solidFill>
                <a:latin typeface="Urbanist" panose="020B0A04040200000203" pitchFamily="34" charset="0"/>
              </a:rPr>
              <a:t>operar melhor.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2DB13FF-4EA5-3DB0-A5C0-846E04756E21}"/>
              </a:ext>
            </a:extLst>
          </p:cNvPr>
          <p:cNvSpPr txBox="1"/>
          <p:nvPr/>
        </p:nvSpPr>
        <p:spPr>
          <a:xfrm>
            <a:off x="685800" y="54356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00">
                <a:solidFill>
                  <a:srgbClr val="9BA1A6"/>
                </a:solidFill>
                <a:latin typeface="Instrument Sans Medium" pitchFamily="2" charset="0"/>
              </a:rPr>
              <a:t>Começamos pelo problema. A tecnologia vem depois.</a:t>
            </a:r>
          </a:p>
        </p:txBody>
      </p: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BD45DED0-AA15-E421-628D-88155AC47425}"/>
              </a:ext>
            </a:extLst>
          </p:cNvPr>
          <p:cNvGrpSpPr/>
          <p:nvPr/>
        </p:nvGrpSpPr>
        <p:grpSpPr>
          <a:xfrm>
            <a:off x="7087822" y="1257300"/>
            <a:ext cx="4175856" cy="4140200"/>
            <a:chOff x="7087822" y="1257300"/>
            <a:chExt cx="4175856" cy="4140200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03BA2F1F-38D0-B633-AA90-AEBD197E1C22}"/>
                </a:ext>
              </a:extLst>
            </p:cNvPr>
            <p:cNvSpPr/>
            <p:nvPr/>
          </p:nvSpPr>
          <p:spPr>
            <a:xfrm>
              <a:off x="7302500" y="1422400"/>
              <a:ext cx="3810000" cy="3810000"/>
            </a:xfrm>
            <a:prstGeom prst="ellipse">
              <a:avLst/>
            </a:prstGeom>
            <a:noFill/>
            <a:ln w="1905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D5C32F0E-4DAF-9BAE-BF54-986FF1A01904}"/>
                </a:ext>
              </a:extLst>
            </p:cNvPr>
            <p:cNvSpPr/>
            <p:nvPr/>
          </p:nvSpPr>
          <p:spPr>
            <a:xfrm>
              <a:off x="7785100" y="1905000"/>
              <a:ext cx="2844800" cy="2844800"/>
            </a:xfrm>
            <a:prstGeom prst="ellipse">
              <a:avLst/>
            </a:prstGeom>
            <a:solidFill>
              <a:srgbClr val="46EB7E">
                <a:alpha val="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87E96722-CAAC-6674-B856-67F057338942}"/>
                </a:ext>
              </a:extLst>
            </p:cNvPr>
            <p:cNvSpPr/>
            <p:nvPr/>
          </p:nvSpPr>
          <p:spPr>
            <a:xfrm>
              <a:off x="8216900" y="2336800"/>
              <a:ext cx="1981200" cy="1981200"/>
            </a:xfrm>
            <a:prstGeom prst="ellipse">
              <a:avLst/>
            </a:prstGeom>
            <a:solidFill>
              <a:srgbClr val="46EB7E">
                <a:alpha val="7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id="{397CAABE-681A-8230-27A5-030DEB8FC52D}"/>
                </a:ext>
              </a:extLst>
            </p:cNvPr>
            <p:cNvCxnSpPr/>
            <p:nvPr/>
          </p:nvCxnSpPr>
          <p:spPr>
            <a:xfrm flipV="1">
              <a:off x="9207500" y="1422400"/>
              <a:ext cx="0" cy="19050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9F9AD0D5-198F-1F82-AB46-D1FA9117407A}"/>
                </a:ext>
              </a:extLst>
            </p:cNvPr>
            <p:cNvCxnSpPr/>
            <p:nvPr/>
          </p:nvCxnSpPr>
          <p:spPr>
            <a:xfrm flipV="1">
              <a:off x="9207500" y="23749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291B3A34-AB4D-FC76-C543-C1FD010B6F76}"/>
                </a:ext>
              </a:extLst>
            </p:cNvPr>
            <p:cNvCxnSpPr/>
            <p:nvPr/>
          </p:nvCxnSpPr>
          <p:spPr>
            <a:xfrm>
              <a:off x="9207500" y="33274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0B155242-D8D9-CFFC-D85D-8D3195741DCA}"/>
                </a:ext>
              </a:extLst>
            </p:cNvPr>
            <p:cNvCxnSpPr/>
            <p:nvPr/>
          </p:nvCxnSpPr>
          <p:spPr>
            <a:xfrm>
              <a:off x="9207500" y="3327400"/>
              <a:ext cx="0" cy="19050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00DE12CD-7588-D3FF-4533-0A6953696D02}"/>
                </a:ext>
              </a:extLst>
            </p:cNvPr>
            <p:cNvCxnSpPr/>
            <p:nvPr/>
          </p:nvCxnSpPr>
          <p:spPr>
            <a:xfrm flipH="1" flipV="1">
              <a:off x="7557722" y="23749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to 17">
              <a:extLst>
                <a:ext uri="{FF2B5EF4-FFF2-40B4-BE49-F238E27FC236}">
                  <a16:creationId xmlns:a16="http://schemas.microsoft.com/office/drawing/2014/main" id="{26DDC744-27A7-2284-D0DF-89044A16F106}"/>
                </a:ext>
              </a:extLst>
            </p:cNvPr>
            <p:cNvCxnSpPr/>
            <p:nvPr/>
          </p:nvCxnSpPr>
          <p:spPr>
            <a:xfrm flipH="1">
              <a:off x="7557722" y="3327400"/>
              <a:ext cx="1649778" cy="9525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98175DC9-E022-2D4D-2203-4F245707BE1B}"/>
                </a:ext>
              </a:extLst>
            </p:cNvPr>
            <p:cNvSpPr/>
            <p:nvPr/>
          </p:nvSpPr>
          <p:spPr>
            <a:xfrm>
              <a:off x="8737600" y="12573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Clientes</a:t>
              </a:r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B1E1E6D9-9605-4537-FC23-E55734CDCD71}"/>
                </a:ext>
              </a:extLst>
            </p:cNvPr>
            <p:cNvSpPr/>
            <p:nvPr/>
          </p:nvSpPr>
          <p:spPr>
            <a:xfrm>
              <a:off x="10450878" y="2209800"/>
              <a:ext cx="812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Dados</a:t>
              </a:r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17B5D8E3-07CE-F6D8-8B89-2093D322964C}"/>
                </a:ext>
              </a:extLst>
            </p:cNvPr>
            <p:cNvSpPr/>
            <p:nvPr/>
          </p:nvSpPr>
          <p:spPr>
            <a:xfrm>
              <a:off x="10450878" y="4114800"/>
              <a:ext cx="812800" cy="330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000">
                  <a:solidFill>
                    <a:srgbClr val="0B0B0C"/>
                  </a:solidFill>
                  <a:latin typeface="Instrument Sans Medium" pitchFamily="2" charset="0"/>
                </a:rPr>
                <a:t>IA</a:t>
              </a:r>
            </a:p>
          </p:txBody>
        </p:sp>
        <p:sp>
          <p:nvSpPr>
            <p:cNvPr id="22" name="Retângulo: Cantos Arredondados 21">
              <a:extLst>
                <a:ext uri="{FF2B5EF4-FFF2-40B4-BE49-F238E27FC236}">
                  <a16:creationId xmlns:a16="http://schemas.microsoft.com/office/drawing/2014/main" id="{C74B747E-AB3A-60CA-1043-5783DDD2EEA6}"/>
                </a:ext>
              </a:extLst>
            </p:cNvPr>
            <p:cNvSpPr/>
            <p:nvPr/>
          </p:nvSpPr>
          <p:spPr>
            <a:xfrm>
              <a:off x="8737600" y="50673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Operação</a:t>
              </a:r>
            </a:p>
          </p:txBody>
        </p:sp>
        <p:sp>
          <p:nvSpPr>
            <p:cNvPr id="23" name="Retângulo: Cantos Arredondados 22">
              <a:extLst>
                <a:ext uri="{FF2B5EF4-FFF2-40B4-BE49-F238E27FC236}">
                  <a16:creationId xmlns:a16="http://schemas.microsoft.com/office/drawing/2014/main" id="{B22757AD-44F5-9EC2-6E4D-0B23540207BC}"/>
                </a:ext>
              </a:extLst>
            </p:cNvPr>
            <p:cNvSpPr/>
            <p:nvPr/>
          </p:nvSpPr>
          <p:spPr>
            <a:xfrm>
              <a:off x="7087822" y="22098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000">
                  <a:solidFill>
                    <a:srgbClr val="0B0B0C"/>
                  </a:solidFill>
                  <a:latin typeface="Instrument Sans Medium" pitchFamily="2" charset="0"/>
                </a:rPr>
                <a:t>Receita</a:t>
              </a:r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C66FB630-5526-E575-CB0E-3F2BBCA79E17}"/>
                </a:ext>
              </a:extLst>
            </p:cNvPr>
            <p:cNvSpPr/>
            <p:nvPr/>
          </p:nvSpPr>
          <p:spPr>
            <a:xfrm>
              <a:off x="7087822" y="4114800"/>
              <a:ext cx="939800" cy="3302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00">
                  <a:solidFill>
                    <a:srgbClr val="E8EAEC"/>
                  </a:solidFill>
                  <a:latin typeface="Instrument Sans Medium" pitchFamily="2" charset="0"/>
                </a:rPr>
                <a:t>Sistemas</a:t>
              </a:r>
            </a:p>
          </p:txBody>
        </p:sp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2D177456-1DE5-1A2E-D7A3-BDD027676CAA}"/>
                </a:ext>
              </a:extLst>
            </p:cNvPr>
            <p:cNvSpPr/>
            <p:nvPr/>
          </p:nvSpPr>
          <p:spPr>
            <a:xfrm>
              <a:off x="8572500" y="2692400"/>
              <a:ext cx="1270000" cy="12700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FA65A6D0-D2CE-5FE3-6D19-F7F19CDE4A60}"/>
                </a:ext>
              </a:extLst>
            </p:cNvPr>
            <p:cNvSpPr txBox="1"/>
            <p:nvPr/>
          </p:nvSpPr>
          <p:spPr>
            <a:xfrm>
              <a:off x="8699500" y="3149600"/>
              <a:ext cx="1016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lang="pt-BR" sz="1050">
                  <a:solidFill>
                    <a:srgbClr val="FFFFFF"/>
                  </a:solidFill>
                  <a:latin typeface="Instrument Sans Medium" pitchFamily="2" charset="0"/>
                </a:rPr>
                <a:t>Sua
empresa</a:t>
              </a:r>
            </a:p>
          </p:txBody>
        </p:sp>
      </p:grp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3F1CA87B-40D8-B532-8F48-42543DE25C8F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to 28">
            <a:extLst>
              <a:ext uri="{FF2B5EF4-FFF2-40B4-BE49-F238E27FC236}">
                <a16:creationId xmlns:a16="http://schemas.microsoft.com/office/drawing/2014/main" id="{C1D3B9B3-0759-D9DB-CC73-29F7DA187236}"/>
              </a:ext>
            </a:extLst>
          </p:cNvPr>
          <p:cNvCxnSpPr/>
          <p:nvPr/>
        </p:nvCxnSpPr>
        <p:spPr>
          <a:xfrm>
            <a:off x="685800" y="6578600"/>
            <a:ext cx="724807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ipse 29">
            <a:extLst>
              <a:ext uri="{FF2B5EF4-FFF2-40B4-BE49-F238E27FC236}">
                <a16:creationId xmlns:a16="http://schemas.microsoft.com/office/drawing/2014/main" id="{58FF8FFF-A5CB-84D6-BAA3-AEF2DDDC962A}"/>
              </a:ext>
            </a:extLst>
          </p:cNvPr>
          <p:cNvSpPr/>
          <p:nvPr/>
        </p:nvSpPr>
        <p:spPr>
          <a:xfrm>
            <a:off x="1359807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88228B83-7D35-D71C-ED07-410329ABA54F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01 / 14</a:t>
            </a:r>
          </a:p>
        </p:txBody>
      </p:sp>
    </p:spTree>
    <p:extLst>
      <p:ext uri="{BB962C8B-B14F-4D97-AF65-F5344CB8AC3E}">
        <p14:creationId xmlns:p14="http://schemas.microsoft.com/office/powerpoint/2010/main" val="4499797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6B01BDA-3C28-034C-A061-34814F0D913F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POR QUE AGORA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723F0B7-4529-2D57-E46F-66933300E872}"/>
              </a:ext>
            </a:extLst>
          </p:cNvPr>
          <p:cNvSpPr txBox="1"/>
          <p:nvPr/>
        </p:nvSpPr>
        <p:spPr>
          <a:xfrm>
            <a:off x="685800" y="9652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000" b="1" spc="-120">
                <a:solidFill>
                  <a:srgbClr val="FFFFFF"/>
                </a:solidFill>
                <a:latin typeface="Urbanist" panose="020B0A04040200000203" pitchFamily="34" charset="0"/>
              </a:rPr>
              <a:t>IA deixou de ser aposta. </a:t>
            </a:r>
            <a:r>
              <a:rPr lang="pt-BR" sz="4000" b="1" spc="-120">
                <a:solidFill>
                  <a:srgbClr val="46EB7E"/>
                </a:solidFill>
                <a:latin typeface="Urbanist" panose="020B0A04040200000203" pitchFamily="34" charset="0"/>
              </a:rPr>
              <a:t>É o novo padrão.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6F8AC19C-D5AA-1C30-786D-B82F374D0AC3}"/>
              </a:ext>
            </a:extLst>
          </p:cNvPr>
          <p:cNvGrpSpPr/>
          <p:nvPr/>
        </p:nvGrpSpPr>
        <p:grpSpPr>
          <a:xfrm>
            <a:off x="685800" y="2603500"/>
            <a:ext cx="3111500" cy="2248932"/>
            <a:chOff x="685800" y="2603500"/>
            <a:chExt cx="3111500" cy="2248932"/>
          </a:xfrm>
        </p:grpSpPr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F41A06A4-CBBC-62AB-A3CC-4B9BCB6AF7CD}"/>
                </a:ext>
              </a:extLst>
            </p:cNvPr>
            <p:cNvSpPr txBox="1"/>
            <p:nvPr/>
          </p:nvSpPr>
          <p:spPr>
            <a:xfrm>
              <a:off x="685800" y="2603500"/>
              <a:ext cx="31115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4200" b="1" spc="-80">
                  <a:solidFill>
                    <a:srgbClr val="FFFFFF"/>
                  </a:solidFill>
                  <a:latin typeface="Urbanist" panose="020B0A04040200000203" pitchFamily="34" charset="0"/>
                </a:rPr>
                <a:t>88%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C8939AFC-DB93-7F43-2F1D-2E53502254FB}"/>
                </a:ext>
              </a:extLst>
            </p:cNvPr>
            <p:cNvSpPr txBox="1"/>
            <p:nvPr/>
          </p:nvSpPr>
          <p:spPr>
            <a:xfrm>
              <a:off x="685800" y="3390900"/>
              <a:ext cx="27178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40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das empresas do mundo já usam IA em pelo menos uma função — eram 78% um ano antes.</a:t>
              </a:r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370447BC-399E-FA65-C138-321014AD4FD3}"/>
                </a:ext>
              </a:extLst>
            </p:cNvPr>
            <p:cNvSpPr txBox="1"/>
            <p:nvPr/>
          </p:nvSpPr>
          <p:spPr>
            <a:xfrm>
              <a:off x="685800" y="4483100"/>
              <a:ext cx="2921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en-US" sz="800" spc="90">
                  <a:solidFill>
                    <a:srgbClr val="9BA1A6"/>
                  </a:solidFill>
                  <a:latin typeface="Instrument Sans Medium" pitchFamily="2" charset="0"/>
                </a:rPr>
                <a:t>MCKINSEY · STATE OF AI 2025</a:t>
              </a:r>
              <a:endParaRPr lang="pt-BR" sz="800" spc="90">
                <a:solidFill>
                  <a:srgbClr val="9BA1A6"/>
                </a:solidFill>
                <a:latin typeface="Instrument Sans Medium" pitchFamily="2" charset="0"/>
              </a:endParaRPr>
            </a:p>
          </p:txBody>
        </p:sp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F7596B36-F27E-FF90-8203-1CDA94B4ACD9}"/>
              </a:ext>
            </a:extLst>
          </p:cNvPr>
          <p:cNvGrpSpPr/>
          <p:nvPr/>
        </p:nvGrpSpPr>
        <p:grpSpPr>
          <a:xfrm>
            <a:off x="4673600" y="2603500"/>
            <a:ext cx="3111500" cy="2248932"/>
            <a:chOff x="4673600" y="2603500"/>
            <a:chExt cx="3111500" cy="2248932"/>
          </a:xfrm>
        </p:grpSpPr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D09E05C8-1056-00EA-188B-E4AC3E794114}"/>
                </a:ext>
              </a:extLst>
            </p:cNvPr>
            <p:cNvSpPr txBox="1"/>
            <p:nvPr/>
          </p:nvSpPr>
          <p:spPr>
            <a:xfrm>
              <a:off x="4673600" y="2603500"/>
              <a:ext cx="31115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4200" b="1" spc="-80">
                  <a:solidFill>
                    <a:srgbClr val="FFFFFF"/>
                  </a:solidFill>
                  <a:latin typeface="Urbanist" panose="020B0A04040200000203" pitchFamily="34" charset="0"/>
                </a:rPr>
                <a:t>US$ 252 bi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4BC447C3-2731-2250-4CC7-57342E09AAF6}"/>
                </a:ext>
              </a:extLst>
            </p:cNvPr>
            <p:cNvSpPr txBox="1"/>
            <p:nvPr/>
          </p:nvSpPr>
          <p:spPr>
            <a:xfrm>
              <a:off x="4673600" y="3390900"/>
              <a:ext cx="27178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40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investidos em IA no mundo só em 2024 — alta de 44% sobre o ano anterior.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39F0E46E-D972-BDD6-A199-144B9B140455}"/>
                </a:ext>
              </a:extLst>
            </p:cNvPr>
            <p:cNvSpPr txBox="1"/>
            <p:nvPr/>
          </p:nvSpPr>
          <p:spPr>
            <a:xfrm>
              <a:off x="4673600" y="4483100"/>
              <a:ext cx="2921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 spc="90">
                  <a:solidFill>
                    <a:srgbClr val="9BA1A6"/>
                  </a:solidFill>
                  <a:latin typeface="Instrument Sans Medium" pitchFamily="2" charset="0"/>
                </a:rPr>
                <a:t>STANFORD · AI INDEX 2025</a:t>
              </a:r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C630B581-0B77-D1A6-3BEF-8C7689015E7C}"/>
              </a:ext>
            </a:extLst>
          </p:cNvPr>
          <p:cNvGrpSpPr/>
          <p:nvPr/>
        </p:nvGrpSpPr>
        <p:grpSpPr>
          <a:xfrm>
            <a:off x="8280400" y="2603500"/>
            <a:ext cx="3111500" cy="2248932"/>
            <a:chOff x="8280400" y="2603500"/>
            <a:chExt cx="3111500" cy="2248932"/>
          </a:xfrm>
        </p:grpSpPr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3EF73015-C892-0364-C91E-3609D5616BE2}"/>
                </a:ext>
              </a:extLst>
            </p:cNvPr>
            <p:cNvSpPr txBox="1"/>
            <p:nvPr/>
          </p:nvSpPr>
          <p:spPr>
            <a:xfrm>
              <a:off x="8280400" y="2603500"/>
              <a:ext cx="31115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4200" b="1" spc="-80">
                  <a:solidFill>
                    <a:srgbClr val="46EB7E"/>
                  </a:solidFill>
                  <a:latin typeface="Urbanist" panose="020B0A04040200000203" pitchFamily="34" charset="0"/>
                </a:rPr>
                <a:t>3,7×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6611FAAC-F13C-6507-A9E6-C25CD5616FDA}"/>
                </a:ext>
              </a:extLst>
            </p:cNvPr>
            <p:cNvSpPr txBox="1"/>
            <p:nvPr/>
          </p:nvSpPr>
          <p:spPr>
            <a:xfrm>
              <a:off x="8280400" y="3390900"/>
              <a:ext cx="27178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40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de retorno médio para cada US$ 1 investido em IA generativa.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09D13A87-5E14-54DA-5E74-DF03BBCDF4F5}"/>
                </a:ext>
              </a:extLst>
            </p:cNvPr>
            <p:cNvSpPr txBox="1"/>
            <p:nvPr/>
          </p:nvSpPr>
          <p:spPr>
            <a:xfrm>
              <a:off x="8280400" y="4483100"/>
              <a:ext cx="2921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 spc="90">
                  <a:solidFill>
                    <a:srgbClr val="9BA1A6"/>
                  </a:solidFill>
                  <a:latin typeface="Instrument Sans Medium" pitchFamily="2" charset="0"/>
                </a:rPr>
                <a:t>IDC / MICROSOFT · 2024</a:t>
              </a:r>
            </a:p>
          </p:txBody>
        </p:sp>
      </p:grp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FE170A44-019D-87FF-198B-013019B74A20}"/>
              </a:ext>
            </a:extLst>
          </p:cNvPr>
          <p:cNvCxnSpPr/>
          <p:nvPr/>
        </p:nvCxnSpPr>
        <p:spPr>
          <a:xfrm>
            <a:off x="4292600" y="2603500"/>
            <a:ext cx="0" cy="20955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5EA39BE3-E8AE-F546-FE07-907CB191DF74}"/>
              </a:ext>
            </a:extLst>
          </p:cNvPr>
          <p:cNvCxnSpPr/>
          <p:nvPr/>
        </p:nvCxnSpPr>
        <p:spPr>
          <a:xfrm>
            <a:off x="7899400" y="2603500"/>
            <a:ext cx="0" cy="20955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FF37F44-9121-F907-D692-BB039DB1CD21}"/>
              </a:ext>
            </a:extLst>
          </p:cNvPr>
          <p:cNvSpPr txBox="1"/>
          <p:nvPr/>
        </p:nvSpPr>
        <p:spPr>
          <a:xfrm>
            <a:off x="685800" y="56134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500">
                <a:solidFill>
                  <a:srgbClr val="9BA1A6"/>
                </a:solidFill>
                <a:latin typeface="Instrument Sans Medium" pitchFamily="2" charset="0"/>
              </a:rPr>
              <a:t>A pergunta deixou de ser “se”. Agora é </a:t>
            </a:r>
            <a:r>
              <a:rPr lang="pt-BR" sz="1500">
                <a:solidFill>
                  <a:srgbClr val="FFFFFF"/>
                </a:solidFill>
                <a:latin typeface="Instrument Sans Medium" pitchFamily="2" charset="0"/>
              </a:rPr>
              <a:t>“onde” — no seu negócio.</a:t>
            </a:r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66499701-5326-09C3-A19F-2D9A042A679C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F87BD041-6DE5-F6B0-431C-D5ABE01B6690}"/>
              </a:ext>
            </a:extLst>
          </p:cNvPr>
          <p:cNvCxnSpPr/>
          <p:nvPr/>
        </p:nvCxnSpPr>
        <p:spPr>
          <a:xfrm>
            <a:off x="685800" y="6578600"/>
            <a:ext cx="1449614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lipse 20">
            <a:extLst>
              <a:ext uri="{FF2B5EF4-FFF2-40B4-BE49-F238E27FC236}">
                <a16:creationId xmlns:a16="http://schemas.microsoft.com/office/drawing/2014/main" id="{369E108F-3E52-D607-7451-3271F5B771C8}"/>
              </a:ext>
            </a:extLst>
          </p:cNvPr>
          <p:cNvSpPr/>
          <p:nvPr/>
        </p:nvSpPr>
        <p:spPr>
          <a:xfrm>
            <a:off x="2084614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57DE5AD-DE00-C5FD-9DD0-A1AC1821B901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02 / 14</a:t>
            </a:r>
          </a:p>
        </p:txBody>
      </p:sp>
    </p:spTree>
    <p:extLst>
      <p:ext uri="{BB962C8B-B14F-4D97-AF65-F5344CB8AC3E}">
        <p14:creationId xmlns:p14="http://schemas.microsoft.com/office/powerpoint/2010/main" val="35977781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6235918-5524-C9F2-F207-5A8CA18EFE7E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O PROBLEMA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5674C0-5692-84A4-4556-B74DE03AEAC3}"/>
              </a:ext>
            </a:extLst>
          </p:cNvPr>
          <p:cNvSpPr txBox="1"/>
          <p:nvPr/>
        </p:nvSpPr>
        <p:spPr>
          <a:xfrm>
            <a:off x="685800" y="19685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800" b="1" spc="-140">
                <a:solidFill>
                  <a:srgbClr val="FFFFFF"/>
                </a:solidFill>
                <a:latin typeface="Urbanist" panose="020B0A04040200000203" pitchFamily="34" charset="0"/>
              </a:rPr>
              <a:t>Nem todo problema da sua empresa cabe em um </a:t>
            </a:r>
            <a:r>
              <a:rPr lang="pt-BR" sz="4800" b="1" spc="-140">
                <a:solidFill>
                  <a:srgbClr val="9BA1A6"/>
                </a:solidFill>
                <a:latin typeface="Urbanist" panose="020B0A04040200000203" pitchFamily="34" charset="0"/>
              </a:rPr>
              <a:t>software pronto.</a:t>
            </a:r>
          </a:p>
        </p:txBody>
      </p: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7F6D6885-FE51-8497-394E-354383C859BE}"/>
              </a:ext>
            </a:extLst>
          </p:cNvPr>
          <p:cNvGrpSpPr/>
          <p:nvPr/>
        </p:nvGrpSpPr>
        <p:grpSpPr>
          <a:xfrm>
            <a:off x="6616700" y="1682750"/>
            <a:ext cx="4660900" cy="3987800"/>
            <a:chOff x="6616700" y="1682750"/>
            <a:chExt cx="4660900" cy="3987800"/>
          </a:xfrm>
        </p:grpSpPr>
        <p:cxnSp>
          <p:nvCxnSpPr>
            <p:cNvPr id="4" name="Conector reto 3">
              <a:extLst>
                <a:ext uri="{FF2B5EF4-FFF2-40B4-BE49-F238E27FC236}">
                  <a16:creationId xmlns:a16="http://schemas.microsoft.com/office/drawing/2014/main" id="{BF616ADB-F0EF-C27D-FBF0-81A3A9613151}"/>
                </a:ext>
              </a:extLst>
            </p:cNvPr>
            <p:cNvCxnSpPr/>
            <p:nvPr/>
          </p:nvCxnSpPr>
          <p:spPr>
            <a:xfrm>
              <a:off x="7823200" y="2565400"/>
              <a:ext cx="1714500" cy="8763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835395BF-D4E2-F48D-F786-3A8CFE4C0B91}"/>
                </a:ext>
              </a:extLst>
            </p:cNvPr>
            <p:cNvCxnSpPr/>
            <p:nvPr/>
          </p:nvCxnSpPr>
          <p:spPr>
            <a:xfrm flipH="1">
              <a:off x="8204200" y="3441700"/>
              <a:ext cx="1333500" cy="11430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ector reto 5">
              <a:extLst>
                <a:ext uri="{FF2B5EF4-FFF2-40B4-BE49-F238E27FC236}">
                  <a16:creationId xmlns:a16="http://schemas.microsoft.com/office/drawing/2014/main" id="{325141BE-A170-6909-6F05-BB80A1D626FD}"/>
                </a:ext>
              </a:extLst>
            </p:cNvPr>
            <p:cNvCxnSpPr/>
            <p:nvPr/>
          </p:nvCxnSpPr>
          <p:spPr>
            <a:xfrm>
              <a:off x="8204200" y="4584700"/>
              <a:ext cx="850900" cy="8509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FDD2C296-9549-4DEA-0C74-D316D1E67D5F}"/>
                </a:ext>
              </a:extLst>
            </p:cNvPr>
            <p:cNvCxnSpPr/>
            <p:nvPr/>
          </p:nvCxnSpPr>
          <p:spPr>
            <a:xfrm flipH="1">
              <a:off x="9537700" y="2565400"/>
              <a:ext cx="876300" cy="8763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FCE2D14D-577B-F025-B423-355EB76A401E}"/>
                </a:ext>
              </a:extLst>
            </p:cNvPr>
            <p:cNvCxnSpPr/>
            <p:nvPr/>
          </p:nvCxnSpPr>
          <p:spPr>
            <a:xfrm flipV="1">
              <a:off x="6985000" y="2565400"/>
              <a:ext cx="838200" cy="11176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13B82A15-95C0-BAC2-3D43-D17116C1BD33}"/>
                </a:ext>
              </a:extLst>
            </p:cNvPr>
            <p:cNvCxnSpPr/>
            <p:nvPr/>
          </p:nvCxnSpPr>
          <p:spPr>
            <a:xfrm>
              <a:off x="10414000" y="2565400"/>
              <a:ext cx="469900" cy="17272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A270EA64-3EBB-8034-B77F-757B3DDD29DD}"/>
                </a:ext>
              </a:extLst>
            </p:cNvPr>
            <p:cNvCxnSpPr/>
            <p:nvPr/>
          </p:nvCxnSpPr>
          <p:spPr>
            <a:xfrm flipV="1">
              <a:off x="9690100" y="4292600"/>
              <a:ext cx="1193800" cy="292100"/>
            </a:xfrm>
            <a:prstGeom prst="line">
              <a:avLst/>
            </a:prstGeom>
            <a:ln w="13970" cap="flat" cmpd="sng" algn="ctr">
              <a:solidFill>
                <a:srgbClr val="FFFFFF">
                  <a:alpha val="14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19912F2A-F155-3EAA-521F-44E4EC446B77}"/>
                </a:ext>
              </a:extLst>
            </p:cNvPr>
            <p:cNvSpPr/>
            <p:nvPr/>
          </p:nvSpPr>
          <p:spPr>
            <a:xfrm>
              <a:off x="6616700" y="2349500"/>
              <a:ext cx="25400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Sistemas que não conversam</a:t>
              </a:r>
            </a:p>
          </p:txBody>
        </p:sp>
        <p:sp>
          <p:nvSpPr>
            <p:cNvPr id="12" name="Retângulo: Cantos Arredondados 11">
              <a:extLst>
                <a:ext uri="{FF2B5EF4-FFF2-40B4-BE49-F238E27FC236}">
                  <a16:creationId xmlns:a16="http://schemas.microsoft.com/office/drawing/2014/main" id="{DC8438B3-63F5-974C-CA61-E0FB6CC2096A}"/>
                </a:ext>
              </a:extLst>
            </p:cNvPr>
            <p:cNvSpPr/>
            <p:nvPr/>
          </p:nvSpPr>
          <p:spPr>
            <a:xfrm>
              <a:off x="9563100" y="3225800"/>
              <a:ext cx="17145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Trabalho manual</a:t>
              </a:r>
            </a:p>
          </p:txBody>
        </p:sp>
        <p:sp>
          <p:nvSpPr>
            <p:cNvPr id="13" name="Retângulo: Cantos Arredondados 12">
              <a:extLst>
                <a:ext uri="{FF2B5EF4-FFF2-40B4-BE49-F238E27FC236}">
                  <a16:creationId xmlns:a16="http://schemas.microsoft.com/office/drawing/2014/main" id="{A98E2D38-56AB-7044-44DA-667B8D8ED559}"/>
                </a:ext>
              </a:extLst>
            </p:cNvPr>
            <p:cNvSpPr/>
            <p:nvPr/>
          </p:nvSpPr>
          <p:spPr>
            <a:xfrm>
              <a:off x="8839200" y="4368800"/>
              <a:ext cx="17272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Planilhas críticas</a:t>
              </a:r>
            </a:p>
          </p:txBody>
        </p:sp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56B1FD1F-D734-6011-FC2B-26298E0B0327}"/>
                </a:ext>
              </a:extLst>
            </p:cNvPr>
            <p:cNvSpPr/>
            <p:nvPr/>
          </p:nvSpPr>
          <p:spPr>
            <a:xfrm>
              <a:off x="7823200" y="5232400"/>
              <a:ext cx="2438400" cy="4191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100">
                  <a:solidFill>
                    <a:srgbClr val="E8EAEC"/>
                  </a:solidFill>
                  <a:latin typeface="Instrument Sans Medium" pitchFamily="2" charset="0"/>
                </a:rPr>
                <a:t>Leads sem acompanhamento</a:t>
              </a:r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05C9B884-6E97-82E5-3B98-F17E0F9FCAEA}"/>
                </a:ext>
              </a:extLst>
            </p:cNvPr>
            <p:cNvSpPr/>
            <p:nvPr/>
          </p:nvSpPr>
          <p:spPr>
            <a:xfrm>
              <a:off x="6940550" y="36385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88B8C15D-6EC9-85B2-8F1E-117340C843DC}"/>
                </a:ext>
              </a:extLst>
            </p:cNvPr>
            <p:cNvSpPr/>
            <p:nvPr/>
          </p:nvSpPr>
          <p:spPr>
            <a:xfrm>
              <a:off x="10839450" y="42481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624F1C55-7151-A960-19B8-965C60203E84}"/>
                </a:ext>
              </a:extLst>
            </p:cNvPr>
            <p:cNvSpPr/>
            <p:nvPr/>
          </p:nvSpPr>
          <p:spPr>
            <a:xfrm>
              <a:off x="7600950" y="16827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6A16AF5F-6137-8353-8C12-F90B0B20571C}"/>
                </a:ext>
              </a:extLst>
            </p:cNvPr>
            <p:cNvSpPr/>
            <p:nvPr/>
          </p:nvSpPr>
          <p:spPr>
            <a:xfrm>
              <a:off x="10458450" y="16827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A565B2BE-7E46-37F4-E7E2-AD04BD32A8BD}"/>
                </a:ext>
              </a:extLst>
            </p:cNvPr>
            <p:cNvSpPr/>
            <p:nvPr/>
          </p:nvSpPr>
          <p:spPr>
            <a:xfrm>
              <a:off x="11131550" y="55816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99C15BF9-B3AE-1EA3-4C5A-3D38461DD475}"/>
                </a:ext>
              </a:extLst>
            </p:cNvPr>
            <p:cNvSpPr/>
            <p:nvPr/>
          </p:nvSpPr>
          <p:spPr>
            <a:xfrm>
              <a:off x="6711950" y="4730750"/>
              <a:ext cx="88900" cy="88900"/>
            </a:xfrm>
            <a:prstGeom prst="ellipse">
              <a:avLst/>
            </a:prstGeom>
            <a:solidFill>
              <a:srgbClr val="FFFFFF">
                <a:alpha val="32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1B545C7C-F2D3-C28C-8C40-35D392B228A7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07D037BE-ED46-8D88-37D0-24A1B1EFB27B}"/>
              </a:ext>
            </a:extLst>
          </p:cNvPr>
          <p:cNvCxnSpPr/>
          <p:nvPr/>
        </p:nvCxnSpPr>
        <p:spPr>
          <a:xfrm>
            <a:off x="685800" y="6578600"/>
            <a:ext cx="2174421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lipse 23">
            <a:extLst>
              <a:ext uri="{FF2B5EF4-FFF2-40B4-BE49-F238E27FC236}">
                <a16:creationId xmlns:a16="http://schemas.microsoft.com/office/drawing/2014/main" id="{A10EA4EC-3690-8C34-8E16-983CFF1BB5A4}"/>
              </a:ext>
            </a:extLst>
          </p:cNvPr>
          <p:cNvSpPr/>
          <p:nvPr/>
        </p:nvSpPr>
        <p:spPr>
          <a:xfrm>
            <a:off x="2809421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E1A656A9-29B2-3DE4-C8A8-A93A3872FF0B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03 / 14</a:t>
            </a:r>
          </a:p>
        </p:txBody>
      </p:sp>
    </p:spTree>
    <p:extLst>
      <p:ext uri="{BB962C8B-B14F-4D97-AF65-F5344CB8AC3E}">
        <p14:creationId xmlns:p14="http://schemas.microsoft.com/office/powerpoint/2010/main" val="1377933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A1E4D1D2-BE00-B310-9077-7CD51CAFD892}"/>
              </a:ext>
            </a:extLst>
          </p:cNvPr>
          <p:cNvSpPr/>
          <p:nvPr/>
        </p:nvSpPr>
        <p:spPr>
          <a:xfrm>
            <a:off x="-1993900" y="2578100"/>
            <a:ext cx="6654800" cy="6654800"/>
          </a:xfrm>
          <a:prstGeom prst="ellipse">
            <a:avLst/>
          </a:prstGeom>
          <a:solidFill>
            <a:srgbClr val="46EB7E">
              <a:alpha val="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8F11B7D1-F07F-498B-8EC7-6E9E01F9635E}"/>
              </a:ext>
            </a:extLst>
          </p:cNvPr>
          <p:cNvSpPr/>
          <p:nvPr/>
        </p:nvSpPr>
        <p:spPr>
          <a:xfrm>
            <a:off x="-952500" y="3619500"/>
            <a:ext cx="4572000" cy="4572000"/>
          </a:xfrm>
          <a:prstGeom prst="ellipse">
            <a:avLst/>
          </a:prstGeom>
          <a:solidFill>
            <a:srgbClr val="46EB7E">
              <a:alpha val="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134BF91-83D4-5653-E0E5-55E828A34DEB}"/>
              </a:ext>
            </a:extLst>
          </p:cNvPr>
          <p:cNvSpPr/>
          <p:nvPr/>
        </p:nvSpPr>
        <p:spPr>
          <a:xfrm>
            <a:off x="0" y="4572000"/>
            <a:ext cx="2667000" cy="2667000"/>
          </a:xfrm>
          <a:prstGeom prst="ellipse">
            <a:avLst/>
          </a:prstGeom>
          <a:solidFill>
            <a:srgbClr val="46EB7E">
              <a:alpha val="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D351DC7-17B0-3913-05AA-74B9597449B4}"/>
              </a:ext>
            </a:extLst>
          </p:cNvPr>
          <p:cNvSpPr txBox="1"/>
          <p:nvPr/>
        </p:nvSpPr>
        <p:spPr>
          <a:xfrm>
            <a:off x="685800" y="2540000"/>
            <a:ext cx="1028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9200" b="1" spc="-270">
                <a:solidFill>
                  <a:srgbClr val="FFFFFF"/>
                </a:solidFill>
                <a:latin typeface="Urbanist" panose="020B0A04040200000203" pitchFamily="34" charset="0"/>
              </a:rPr>
              <a:t>É nesse ponto que </a:t>
            </a:r>
            <a:r>
              <a:rPr lang="pt-BR" sz="9200" b="1" spc="-270">
                <a:solidFill>
                  <a:srgbClr val="46EB7E"/>
                </a:solidFill>
                <a:latin typeface="Urbanist" panose="020B0A04040200000203" pitchFamily="34" charset="0"/>
              </a:rPr>
              <a:t>entramos.</a:t>
            </a:r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062972CB-6488-BD14-5BE5-A371EB107BB5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6F2FD989-DCD3-5D27-7BB4-6CC7B3ED276D}"/>
              </a:ext>
            </a:extLst>
          </p:cNvPr>
          <p:cNvCxnSpPr/>
          <p:nvPr/>
        </p:nvCxnSpPr>
        <p:spPr>
          <a:xfrm>
            <a:off x="685800" y="6578600"/>
            <a:ext cx="2899228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E8F534F1-1F50-636F-8F39-F23A607C1C06}"/>
              </a:ext>
            </a:extLst>
          </p:cNvPr>
          <p:cNvSpPr/>
          <p:nvPr/>
        </p:nvSpPr>
        <p:spPr>
          <a:xfrm>
            <a:off x="3534228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181924D-6C03-7C47-64F4-0A308E30E775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04 / 14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B129EA-94F3-C68B-9884-50427A4692D0}"/>
              </a:ext>
            </a:extLst>
          </p:cNvPr>
          <p:cNvSpPr txBox="1"/>
          <p:nvPr/>
        </p:nvSpPr>
        <p:spPr>
          <a:xfrm>
            <a:off x="685800" y="49784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500">
                <a:solidFill>
                  <a:srgbClr val="9BA1A6"/>
                </a:solidFill>
                <a:latin typeface="Instrument Sans Medium" pitchFamily="2" charset="0"/>
              </a:rPr>
              <a:t>A Dreamy resolve gargalos de negócio que o software de prateleira não resolve.</a:t>
            </a:r>
          </a:p>
        </p:txBody>
      </p:sp>
    </p:spTree>
    <p:extLst>
      <p:ext uri="{BB962C8B-B14F-4D97-AF65-F5344CB8AC3E}">
        <p14:creationId xmlns:p14="http://schemas.microsoft.com/office/powerpoint/2010/main" val="23911149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1EEE8EA-49D1-3459-7DC6-D603798934B4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0F7C47"/>
                </a:solidFill>
                <a:latin typeface="Instrument Sans Medium" pitchFamily="2" charset="0"/>
              </a:rPr>
              <a:t>DIAGNÓSTICO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1CDB2CE-C59B-CE3A-51A9-F3ABFE0FBFA0}"/>
              </a:ext>
            </a:extLst>
          </p:cNvPr>
          <p:cNvSpPr txBox="1"/>
          <p:nvPr/>
        </p:nvSpPr>
        <p:spPr>
          <a:xfrm>
            <a:off x="685800" y="9652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800" b="1" spc="-140">
                <a:solidFill>
                  <a:srgbClr val="0B0B0C"/>
                </a:solidFill>
                <a:latin typeface="Urbanist" panose="020B0A04040200000203" pitchFamily="34" charset="0"/>
              </a:rPr>
              <a:t>Você não precisa saber </a:t>
            </a:r>
            <a:r>
              <a:rPr lang="pt-BR" sz="4800" b="1" spc="-140">
                <a:solidFill>
                  <a:srgbClr val="0F7C47"/>
                </a:solidFill>
                <a:latin typeface="Urbanist" panose="020B0A04040200000203" pitchFamily="34" charset="0"/>
              </a:rPr>
              <a:t>o que construir.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5AA167D-150C-833D-3C74-21E2B40EFD46}"/>
              </a:ext>
            </a:extLst>
          </p:cNvPr>
          <p:cNvSpPr txBox="1"/>
          <p:nvPr/>
        </p:nvSpPr>
        <p:spPr>
          <a:xfrm>
            <a:off x="685800" y="24892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500">
                <a:solidFill>
                  <a:srgbClr val="575C61"/>
                </a:solidFill>
                <a:latin typeface="Instrument Sans Medium" pitchFamily="2" charset="0"/>
              </a:rPr>
              <a:t>Identificamos gargalos que consomem dinheiro ou limitam crescimento — e avaliamos como software ou IA pode resolvê-los.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7889D03-02DD-2A7C-16DF-8E12B40AAD4D}"/>
              </a:ext>
            </a:extLst>
          </p:cNvPr>
          <p:cNvCxnSpPr/>
          <p:nvPr/>
        </p:nvCxnSpPr>
        <p:spPr>
          <a:xfrm>
            <a:off x="952500" y="4191000"/>
            <a:ext cx="10287000" cy="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Agrupar 8">
            <a:extLst>
              <a:ext uri="{FF2B5EF4-FFF2-40B4-BE49-F238E27FC236}">
                <a16:creationId xmlns:a16="http://schemas.microsoft.com/office/drawing/2014/main" id="{CD318D17-0A58-1B35-0D46-E6C6A1928862}"/>
              </a:ext>
            </a:extLst>
          </p:cNvPr>
          <p:cNvGrpSpPr/>
          <p:nvPr/>
        </p:nvGrpSpPr>
        <p:grpSpPr>
          <a:xfrm>
            <a:off x="190500" y="3924300"/>
            <a:ext cx="1524000" cy="1067832"/>
            <a:chOff x="190500" y="3924300"/>
            <a:chExt cx="1524000" cy="1067832"/>
          </a:xfrm>
        </p:grpSpPr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2C3004A9-666F-97D8-D5E7-C6B4344FCFE1}"/>
                </a:ext>
              </a:extLst>
            </p:cNvPr>
            <p:cNvSpPr/>
            <p:nvPr/>
          </p:nvSpPr>
          <p:spPr>
            <a:xfrm>
              <a:off x="6858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1A88B80-DA43-00E4-0C23-00684A4BB14D}"/>
                </a:ext>
              </a:extLst>
            </p:cNvPr>
            <p:cNvSpPr txBox="1"/>
            <p:nvPr/>
          </p:nvSpPr>
          <p:spPr>
            <a:xfrm>
              <a:off x="6858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1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7071798C-11B3-E0E1-7333-9DF8F14C2F83}"/>
                </a:ext>
              </a:extLst>
            </p:cNvPr>
            <p:cNvSpPr txBox="1"/>
            <p:nvPr/>
          </p:nvSpPr>
          <p:spPr>
            <a:xfrm>
              <a:off x="1905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Dor</a:t>
              </a:r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02BE94E-236B-4FC4-B888-93CFC2AECB71}"/>
              </a:ext>
            </a:extLst>
          </p:cNvPr>
          <p:cNvGrpSpPr/>
          <p:nvPr/>
        </p:nvGrpSpPr>
        <p:grpSpPr>
          <a:xfrm>
            <a:off x="2247900" y="3924300"/>
            <a:ext cx="1524000" cy="1067832"/>
            <a:chOff x="2247900" y="3924300"/>
            <a:chExt cx="1524000" cy="1067832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23A9217E-CC6D-2316-A6F8-4ACAA58E3426}"/>
                </a:ext>
              </a:extLst>
            </p:cNvPr>
            <p:cNvSpPr/>
            <p:nvPr/>
          </p:nvSpPr>
          <p:spPr>
            <a:xfrm>
              <a:off x="27432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AF333FA1-145D-85DA-A13A-18E2B6334613}"/>
                </a:ext>
              </a:extLst>
            </p:cNvPr>
            <p:cNvSpPr txBox="1"/>
            <p:nvPr/>
          </p:nvSpPr>
          <p:spPr>
            <a:xfrm>
              <a:off x="27432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2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1D477BFD-2DDB-7C2C-2144-A86D9A53D3BB}"/>
                </a:ext>
              </a:extLst>
            </p:cNvPr>
            <p:cNvSpPr txBox="1"/>
            <p:nvPr/>
          </p:nvSpPr>
          <p:spPr>
            <a:xfrm>
              <a:off x="22479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Impacto</a:t>
              </a:r>
            </a:p>
          </p:txBody>
        </p:sp>
      </p:grp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F1A8E1C7-4A0B-2314-6FCE-0400529952DB}"/>
              </a:ext>
            </a:extLst>
          </p:cNvPr>
          <p:cNvGrpSpPr/>
          <p:nvPr/>
        </p:nvGrpSpPr>
        <p:grpSpPr>
          <a:xfrm>
            <a:off x="4305300" y="3924300"/>
            <a:ext cx="1524000" cy="1067832"/>
            <a:chOff x="4305300" y="3924300"/>
            <a:chExt cx="1524000" cy="1067832"/>
          </a:xfrm>
        </p:grpSpPr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E42B041D-B607-2E5C-C77B-D57DED075811}"/>
                </a:ext>
              </a:extLst>
            </p:cNvPr>
            <p:cNvSpPr/>
            <p:nvPr/>
          </p:nvSpPr>
          <p:spPr>
            <a:xfrm>
              <a:off x="48006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EE847095-1907-EDDE-79A9-2C7DE131A502}"/>
                </a:ext>
              </a:extLst>
            </p:cNvPr>
            <p:cNvSpPr txBox="1"/>
            <p:nvPr/>
          </p:nvSpPr>
          <p:spPr>
            <a:xfrm>
              <a:off x="48006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3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A2C1E276-D2DD-2FEF-3E9D-AAC8EF963BC3}"/>
                </a:ext>
              </a:extLst>
            </p:cNvPr>
            <p:cNvSpPr txBox="1"/>
            <p:nvPr/>
          </p:nvSpPr>
          <p:spPr>
            <a:xfrm>
              <a:off x="43053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Oportunidade</a:t>
              </a:r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048A5396-3885-3107-6AAB-25D54870C00D}"/>
              </a:ext>
            </a:extLst>
          </p:cNvPr>
          <p:cNvGrpSpPr/>
          <p:nvPr/>
        </p:nvGrpSpPr>
        <p:grpSpPr>
          <a:xfrm>
            <a:off x="6362700" y="3924300"/>
            <a:ext cx="1524000" cy="1067832"/>
            <a:chOff x="6362700" y="3924300"/>
            <a:chExt cx="1524000" cy="1067832"/>
          </a:xfrm>
        </p:grpSpPr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19FD3195-6128-141E-D86A-EAB9D8536F27}"/>
                </a:ext>
              </a:extLst>
            </p:cNvPr>
            <p:cNvSpPr/>
            <p:nvPr/>
          </p:nvSpPr>
          <p:spPr>
            <a:xfrm>
              <a:off x="68580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666D8C22-B497-7D62-97E8-665096734C16}"/>
                </a:ext>
              </a:extLst>
            </p:cNvPr>
            <p:cNvSpPr txBox="1"/>
            <p:nvPr/>
          </p:nvSpPr>
          <p:spPr>
            <a:xfrm>
              <a:off x="68580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4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98DAECC0-9384-422F-5B2F-51D6D1A4A631}"/>
                </a:ext>
              </a:extLst>
            </p:cNvPr>
            <p:cNvSpPr txBox="1"/>
            <p:nvPr/>
          </p:nvSpPr>
          <p:spPr>
            <a:xfrm>
              <a:off x="63627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Solução</a:t>
              </a:r>
            </a:p>
          </p:txBody>
        </p: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B4A90C8E-2F65-C898-1D7F-58C6BEE9070A}"/>
              </a:ext>
            </a:extLst>
          </p:cNvPr>
          <p:cNvGrpSpPr/>
          <p:nvPr/>
        </p:nvGrpSpPr>
        <p:grpSpPr>
          <a:xfrm>
            <a:off x="8420100" y="3924300"/>
            <a:ext cx="1524000" cy="1067832"/>
            <a:chOff x="8420100" y="3924300"/>
            <a:chExt cx="1524000" cy="1067832"/>
          </a:xfrm>
        </p:grpSpPr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010F824C-7B18-97B9-E2B2-676482CBBF73}"/>
                </a:ext>
              </a:extLst>
            </p:cNvPr>
            <p:cNvSpPr/>
            <p:nvPr/>
          </p:nvSpPr>
          <p:spPr>
            <a:xfrm>
              <a:off x="8915400" y="39243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B024FEB1-B5FA-9D2B-3451-25307D3DEA26}"/>
                </a:ext>
              </a:extLst>
            </p:cNvPr>
            <p:cNvSpPr txBox="1"/>
            <p:nvPr/>
          </p:nvSpPr>
          <p:spPr>
            <a:xfrm>
              <a:off x="89154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5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13AB4476-4349-EAF7-F176-6DB1D2F0CA89}"/>
                </a:ext>
              </a:extLst>
            </p:cNvPr>
            <p:cNvSpPr txBox="1"/>
            <p:nvPr/>
          </p:nvSpPr>
          <p:spPr>
            <a:xfrm>
              <a:off x="84201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Tecnologia</a:t>
              </a:r>
            </a:p>
          </p:txBody>
        </p:sp>
      </p:grp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7C85461C-7E2C-7111-6BCD-005F6ED38479}"/>
              </a:ext>
            </a:extLst>
          </p:cNvPr>
          <p:cNvGrpSpPr/>
          <p:nvPr/>
        </p:nvGrpSpPr>
        <p:grpSpPr>
          <a:xfrm>
            <a:off x="10477500" y="3924300"/>
            <a:ext cx="1524000" cy="1067832"/>
            <a:chOff x="10477500" y="3924300"/>
            <a:chExt cx="1524000" cy="1067832"/>
          </a:xfrm>
        </p:grpSpPr>
        <p:sp>
          <p:nvSpPr>
            <p:cNvPr id="26" name="Elipse 25">
              <a:extLst>
                <a:ext uri="{FF2B5EF4-FFF2-40B4-BE49-F238E27FC236}">
                  <a16:creationId xmlns:a16="http://schemas.microsoft.com/office/drawing/2014/main" id="{F2770673-B8E6-9F73-ACC4-4BCDFA8CCB88}"/>
                </a:ext>
              </a:extLst>
            </p:cNvPr>
            <p:cNvSpPr/>
            <p:nvPr/>
          </p:nvSpPr>
          <p:spPr>
            <a:xfrm>
              <a:off x="10972800" y="3924300"/>
              <a:ext cx="533400" cy="5334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CaixaDeTexto 26">
              <a:extLst>
                <a:ext uri="{FF2B5EF4-FFF2-40B4-BE49-F238E27FC236}">
                  <a16:creationId xmlns:a16="http://schemas.microsoft.com/office/drawing/2014/main" id="{6524357A-51AC-71E2-775B-E949387A089B}"/>
                </a:ext>
              </a:extLst>
            </p:cNvPr>
            <p:cNvSpPr txBox="1"/>
            <p:nvPr/>
          </p:nvSpPr>
          <p:spPr>
            <a:xfrm>
              <a:off x="10972800" y="40894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6</a:t>
              </a:r>
            </a:p>
          </p:txBody>
        </p: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D1232751-84D9-79EF-985D-7D78C3804250}"/>
                </a:ext>
              </a:extLst>
            </p:cNvPr>
            <p:cNvSpPr txBox="1"/>
            <p:nvPr/>
          </p:nvSpPr>
          <p:spPr>
            <a:xfrm>
              <a:off x="10477500" y="4622800"/>
              <a:ext cx="152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300">
                  <a:solidFill>
                    <a:srgbClr val="0B0B0C"/>
                  </a:solidFill>
                  <a:latin typeface="Instrument Sans Medium" pitchFamily="2" charset="0"/>
                </a:rPr>
                <a:t>Resultado</a:t>
              </a:r>
            </a:p>
          </p:txBody>
        </p:sp>
      </p:grp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8A8849A8-19B6-C72C-F550-AE36F7645EAF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9D624BA4-1901-222C-044B-85AB57496592}"/>
              </a:ext>
            </a:extLst>
          </p:cNvPr>
          <p:cNvCxnSpPr/>
          <p:nvPr/>
        </p:nvCxnSpPr>
        <p:spPr>
          <a:xfrm>
            <a:off x="685800" y="6578600"/>
            <a:ext cx="3624036" cy="0"/>
          </a:xfrm>
          <a:prstGeom prst="line">
            <a:avLst/>
          </a:prstGeom>
          <a:ln w="19050" cap="flat" cmpd="sng" algn="ctr">
            <a:solidFill>
              <a:srgbClr val="0F7C4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C5B64111-29B6-3DF4-7E35-F5E1DB9F5C10}"/>
              </a:ext>
            </a:extLst>
          </p:cNvPr>
          <p:cNvSpPr/>
          <p:nvPr/>
        </p:nvSpPr>
        <p:spPr>
          <a:xfrm>
            <a:off x="4259036" y="6527800"/>
            <a:ext cx="101600" cy="101600"/>
          </a:xfrm>
          <a:prstGeom prst="ellipse">
            <a:avLst/>
          </a:prstGeom>
          <a:solidFill>
            <a:srgbClr val="0F7C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AB98F3AA-F2FD-4125-90EB-BFA6A68EE7DE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575C61"/>
                </a:solidFill>
                <a:latin typeface="Instrument Sans Medium" pitchFamily="2" charset="0"/>
              </a:rPr>
              <a:t>05 / 14</a:t>
            </a:r>
          </a:p>
        </p:txBody>
      </p:sp>
    </p:spTree>
    <p:extLst>
      <p:ext uri="{BB962C8B-B14F-4D97-AF65-F5344CB8AC3E}">
        <p14:creationId xmlns:p14="http://schemas.microsoft.com/office/powerpoint/2010/main" val="8050321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FF2348D-5404-1A2D-4DDE-B528D3634D0E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SOLUÇÕES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1BBC9AB-595B-8BE7-AD1D-1F2CDA24A2A7}"/>
              </a:ext>
            </a:extLst>
          </p:cNvPr>
          <p:cNvSpPr txBox="1"/>
          <p:nvPr/>
        </p:nvSpPr>
        <p:spPr>
          <a:xfrm>
            <a:off x="685800" y="9906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000" b="1" spc="-120">
                <a:solidFill>
                  <a:srgbClr val="FFFFFF"/>
                </a:solidFill>
                <a:latin typeface="Urbanist" panose="020B0A04040200000203" pitchFamily="34" charset="0"/>
              </a:rPr>
              <a:t>Três formas de transformar tecnologia em </a:t>
            </a:r>
            <a:r>
              <a:rPr lang="pt-BR" sz="4000" b="1" spc="-120">
                <a:solidFill>
                  <a:srgbClr val="46EB7E"/>
                </a:solidFill>
                <a:latin typeface="Urbanist" panose="020B0A04040200000203" pitchFamily="34" charset="0"/>
              </a:rPr>
              <a:t>resultado.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1DE0E3A3-AB9F-F1AD-FCEC-A0A3BA07619A}"/>
              </a:ext>
            </a:extLst>
          </p:cNvPr>
          <p:cNvGrpSpPr/>
          <p:nvPr/>
        </p:nvGrpSpPr>
        <p:grpSpPr>
          <a:xfrm>
            <a:off x="685800" y="2984500"/>
            <a:ext cx="3073400" cy="2071132"/>
            <a:chOff x="685800" y="2984500"/>
            <a:chExt cx="3073400" cy="2071132"/>
          </a:xfrm>
        </p:grpSpPr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8A6C7626-83A6-401E-F82F-61C540BDE072}"/>
                </a:ext>
              </a:extLst>
            </p:cNvPr>
            <p:cNvSpPr txBox="1"/>
            <p:nvPr/>
          </p:nvSpPr>
          <p:spPr>
            <a:xfrm>
              <a:off x="685800" y="29845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7800" b="1" spc="-15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01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8B231EEE-D973-869A-3317-DF07E408F9BF}"/>
                </a:ext>
              </a:extLst>
            </p:cNvPr>
            <p:cNvSpPr txBox="1"/>
            <p:nvPr/>
          </p:nvSpPr>
          <p:spPr>
            <a:xfrm>
              <a:off x="685800" y="4254500"/>
              <a:ext cx="2921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100" b="1" spc="-40">
                  <a:solidFill>
                    <a:srgbClr val="FFFFFF"/>
                  </a:solidFill>
                  <a:latin typeface="Urbanist" panose="020B0A04040200000203" pitchFamily="34" charset="0"/>
                </a:rPr>
                <a:t>Nova Receita Digital</a:t>
              </a:r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F3BF63EF-A6C4-1E69-8974-F70E0D7DD39D}"/>
                </a:ext>
              </a:extLst>
            </p:cNvPr>
            <p:cNvSpPr txBox="1"/>
            <p:nvPr/>
          </p:nvSpPr>
          <p:spPr>
            <a:xfrm>
              <a:off x="685800" y="4686300"/>
              <a:ext cx="307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35000"/>
                </a:lnSpc>
              </a:pPr>
              <a:r>
                <a:rPr lang="pt-BR" sz="1250">
                  <a:solidFill>
                    <a:srgbClr val="9BA1A6"/>
                  </a:solidFill>
                  <a:latin typeface="Instrument Sans Medium" pitchFamily="2" charset="0"/>
                </a:rPr>
                <a:t>Novos produtos digitais a partir dos ativos que a empresa já tem.</a:t>
              </a:r>
            </a:p>
          </p:txBody>
        </p:sp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D131636D-0ABD-1A59-57EB-84BF0C8EFC06}"/>
              </a:ext>
            </a:extLst>
          </p:cNvPr>
          <p:cNvGrpSpPr/>
          <p:nvPr/>
        </p:nvGrpSpPr>
        <p:grpSpPr>
          <a:xfrm>
            <a:off x="4673600" y="2984500"/>
            <a:ext cx="3073400" cy="2071132"/>
            <a:chOff x="4673600" y="2984500"/>
            <a:chExt cx="3073400" cy="2071132"/>
          </a:xfrm>
        </p:grpSpPr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AD542F32-CF59-06B9-2FDA-64F8CDAFD213}"/>
                </a:ext>
              </a:extLst>
            </p:cNvPr>
            <p:cNvSpPr txBox="1"/>
            <p:nvPr/>
          </p:nvSpPr>
          <p:spPr>
            <a:xfrm>
              <a:off x="4673600" y="29845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7800" b="1" spc="-15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02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12980C4-8922-F7CC-9531-4FB8720D10EF}"/>
                </a:ext>
              </a:extLst>
            </p:cNvPr>
            <p:cNvSpPr txBox="1"/>
            <p:nvPr/>
          </p:nvSpPr>
          <p:spPr>
            <a:xfrm>
              <a:off x="4673600" y="4254500"/>
              <a:ext cx="2921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100" b="1" spc="-40">
                  <a:solidFill>
                    <a:srgbClr val="FFFFFF"/>
                  </a:solidFill>
                  <a:latin typeface="Urbanist" panose="020B0A04040200000203" pitchFamily="34" charset="0"/>
                </a:rPr>
                <a:t>Sistemas Sob Medida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1678E9A0-C115-44C6-B9B2-79E4AADD252F}"/>
                </a:ext>
              </a:extLst>
            </p:cNvPr>
            <p:cNvSpPr txBox="1"/>
            <p:nvPr/>
          </p:nvSpPr>
          <p:spPr>
            <a:xfrm>
              <a:off x="4673600" y="4686300"/>
              <a:ext cx="307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35000"/>
                </a:lnSpc>
              </a:pPr>
              <a:r>
                <a:rPr lang="pt-BR" sz="1250">
                  <a:solidFill>
                    <a:srgbClr val="9BA1A6"/>
                  </a:solidFill>
                  <a:latin typeface="Instrument Sans Medium" pitchFamily="2" charset="0"/>
                </a:rPr>
                <a:t>Sistemas específicos para eliminar gargalos e centralizar a operação.</a:t>
              </a:r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0F2B7DAA-00EC-FB1E-ED1C-86E3DBDE5A78}"/>
              </a:ext>
            </a:extLst>
          </p:cNvPr>
          <p:cNvGrpSpPr/>
          <p:nvPr/>
        </p:nvGrpSpPr>
        <p:grpSpPr>
          <a:xfrm>
            <a:off x="8280400" y="2984500"/>
            <a:ext cx="3073400" cy="2071132"/>
            <a:chOff x="8280400" y="2984500"/>
            <a:chExt cx="3073400" cy="2071132"/>
          </a:xfrm>
        </p:grpSpPr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0C8618AD-E857-0BC3-3B10-B454DB1937C5}"/>
                </a:ext>
              </a:extLst>
            </p:cNvPr>
            <p:cNvSpPr txBox="1"/>
            <p:nvPr/>
          </p:nvSpPr>
          <p:spPr>
            <a:xfrm>
              <a:off x="8280400" y="29845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7800" b="1" spc="-15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03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83698189-305C-7CDB-0C88-85FF474B77DB}"/>
                </a:ext>
              </a:extLst>
            </p:cNvPr>
            <p:cNvSpPr txBox="1"/>
            <p:nvPr/>
          </p:nvSpPr>
          <p:spPr>
            <a:xfrm>
              <a:off x="8280400" y="4254500"/>
              <a:ext cx="2921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100" b="1" spc="-40">
                  <a:solidFill>
                    <a:srgbClr val="FFFFFF"/>
                  </a:solidFill>
                  <a:latin typeface="Urbanist" panose="020B0A04040200000203" pitchFamily="34" charset="0"/>
                </a:rPr>
                <a:t>Agentes de IA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BFFF8775-2634-2640-DD9E-21084F0930F7}"/>
                </a:ext>
              </a:extLst>
            </p:cNvPr>
            <p:cNvSpPr txBox="1"/>
            <p:nvPr/>
          </p:nvSpPr>
          <p:spPr>
            <a:xfrm>
              <a:off x="8280400" y="4686300"/>
              <a:ext cx="307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35000"/>
                </a:lnSpc>
              </a:pPr>
              <a:r>
                <a:rPr lang="pt-BR" sz="1250">
                  <a:solidFill>
                    <a:srgbClr val="9BA1A6"/>
                  </a:solidFill>
                  <a:latin typeface="Instrument Sans Medium" pitchFamily="2" charset="0"/>
                </a:rPr>
                <a:t>IA conectada aos dados e sistemas da empresa, executando trabalho real.</a:t>
              </a:r>
            </a:p>
          </p:txBody>
        </p:sp>
      </p:grp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9541733A-59BD-A601-F773-15B30B09C4AB}"/>
              </a:ext>
            </a:extLst>
          </p:cNvPr>
          <p:cNvCxnSpPr/>
          <p:nvPr/>
        </p:nvCxnSpPr>
        <p:spPr>
          <a:xfrm>
            <a:off x="4292600" y="2984500"/>
            <a:ext cx="0" cy="24765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EF9ED57C-8761-CDDF-5133-B3C83D2F9B14}"/>
              </a:ext>
            </a:extLst>
          </p:cNvPr>
          <p:cNvCxnSpPr/>
          <p:nvPr/>
        </p:nvCxnSpPr>
        <p:spPr>
          <a:xfrm>
            <a:off x="7899400" y="2984500"/>
            <a:ext cx="0" cy="24765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033AEF94-D34B-0E70-0E0A-15BD2B0F51A8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570AC63C-52CD-3445-3FC3-93A35711D370}"/>
              </a:ext>
            </a:extLst>
          </p:cNvPr>
          <p:cNvCxnSpPr/>
          <p:nvPr/>
        </p:nvCxnSpPr>
        <p:spPr>
          <a:xfrm>
            <a:off x="685800" y="6578600"/>
            <a:ext cx="4348843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lipse 19">
            <a:extLst>
              <a:ext uri="{FF2B5EF4-FFF2-40B4-BE49-F238E27FC236}">
                <a16:creationId xmlns:a16="http://schemas.microsoft.com/office/drawing/2014/main" id="{7845371B-6727-F64D-21F9-0E10C2A2A816}"/>
              </a:ext>
            </a:extLst>
          </p:cNvPr>
          <p:cNvSpPr/>
          <p:nvPr/>
        </p:nvSpPr>
        <p:spPr>
          <a:xfrm>
            <a:off x="4983843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5A60D314-951A-D1AF-763A-24EECBD05B7F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06 / 14</a:t>
            </a:r>
          </a:p>
        </p:txBody>
      </p:sp>
    </p:spTree>
    <p:extLst>
      <p:ext uri="{BB962C8B-B14F-4D97-AF65-F5344CB8AC3E}">
        <p14:creationId xmlns:p14="http://schemas.microsoft.com/office/powerpoint/2010/main" val="9526851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>
            <a:extLst>
              <a:ext uri="{FF2B5EF4-FFF2-40B4-BE49-F238E27FC236}">
                <a16:creationId xmlns:a16="http://schemas.microsoft.com/office/drawing/2014/main" id="{8EB64FCE-1FA8-806D-B860-B6D329918275}"/>
              </a:ext>
            </a:extLst>
          </p:cNvPr>
          <p:cNvGrpSpPr/>
          <p:nvPr/>
        </p:nvGrpSpPr>
        <p:grpSpPr>
          <a:xfrm>
            <a:off x="685800" y="609600"/>
            <a:ext cx="10134600" cy="699532"/>
            <a:chOff x="685800" y="609600"/>
            <a:chExt cx="10134600" cy="699532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6E1DF80F-937A-62CF-7793-41CC56B33257}"/>
                </a:ext>
              </a:extLst>
            </p:cNvPr>
            <p:cNvSpPr txBox="1"/>
            <p:nvPr/>
          </p:nvSpPr>
          <p:spPr>
            <a:xfrm>
              <a:off x="685800" y="609600"/>
              <a:ext cx="1422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6800" b="1" spc="-12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01</a:t>
              </a: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3EB7C46A-45E5-5128-6A8E-1AF6485DFD05}"/>
                </a:ext>
              </a:extLst>
            </p:cNvPr>
            <p:cNvSpPr txBox="1"/>
            <p:nvPr/>
          </p:nvSpPr>
          <p:spPr>
            <a:xfrm>
              <a:off x="2438400" y="6604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00" spc="170">
                  <a:solidFill>
                    <a:srgbClr val="46EB7E"/>
                  </a:solidFill>
                  <a:latin typeface="Instrument Sans Medium" pitchFamily="2" charset="0"/>
                </a:rPr>
                <a:t>NOVA RECEITA DIGITAL</a:t>
              </a:r>
            </a:p>
          </p:txBody>
        </p:sp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28EBC42D-325A-52D0-66FC-00E57018E530}"/>
                </a:ext>
              </a:extLst>
            </p:cNvPr>
            <p:cNvSpPr txBox="1"/>
            <p:nvPr/>
          </p:nvSpPr>
          <p:spPr>
            <a:xfrm>
              <a:off x="2438400" y="939800"/>
              <a:ext cx="838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Transforme sua base de clientes em uma </a:t>
              </a:r>
              <a:r>
                <a:rPr lang="pt-BR" sz="3800" b="1" spc="-110">
                  <a:solidFill>
                    <a:srgbClr val="46EB7E"/>
                  </a:solidFill>
                  <a:latin typeface="Urbanist" panose="020B0A04040200000203" pitchFamily="34" charset="0"/>
                </a:rPr>
                <a:t>nova fonte de receita.</a:t>
              </a:r>
            </a:p>
          </p:txBody>
        </p:sp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5C6C2B51-BFAB-D014-C9C9-CC04871CE0D7}"/>
              </a:ext>
            </a:extLst>
          </p:cNvPr>
          <p:cNvSpPr txBox="1"/>
          <p:nvPr/>
        </p:nvSpPr>
        <p:spPr>
          <a:xfrm>
            <a:off x="9601200" y="6604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140">
                <a:solidFill>
                  <a:srgbClr val="9BA1A6"/>
                </a:solidFill>
                <a:latin typeface="Instrument Sans Medium" pitchFamily="2" charset="0"/>
              </a:rPr>
              <a:t>ILUSTRATIVO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D5914B98-55F9-70CD-4F22-DA8FCB74FD93}"/>
              </a:ext>
            </a:extLst>
          </p:cNvPr>
          <p:cNvGrpSpPr/>
          <p:nvPr/>
        </p:nvGrpSpPr>
        <p:grpSpPr>
          <a:xfrm>
            <a:off x="654050" y="2260600"/>
            <a:ext cx="10045700" cy="3239532"/>
            <a:chOff x="654050" y="2260600"/>
            <a:chExt cx="10045700" cy="3239532"/>
          </a:xfrm>
        </p:grpSpPr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882C8975-D9CE-6F30-1CA1-57943B38537C}"/>
                </a:ext>
              </a:extLst>
            </p:cNvPr>
            <p:cNvCxnSpPr/>
            <p:nvPr/>
          </p:nvCxnSpPr>
          <p:spPr>
            <a:xfrm>
              <a:off x="723900" y="4724400"/>
              <a:ext cx="9906000" cy="0"/>
            </a:xfrm>
            <a:prstGeom prst="line">
              <a:avLst/>
            </a:prstGeom>
            <a:ln w="1524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E8778E15-79D7-7DD5-412A-5A1715E274BB}"/>
                </a:ext>
              </a:extLst>
            </p:cNvPr>
            <p:cNvCxnSpPr/>
            <p:nvPr/>
          </p:nvCxnSpPr>
          <p:spPr>
            <a:xfrm flipV="1">
              <a:off x="723900" y="4305300"/>
              <a:ext cx="9906000" cy="177800"/>
            </a:xfrm>
            <a:prstGeom prst="line">
              <a:avLst/>
            </a:prstGeom>
            <a:ln w="17780" cap="flat" cmpd="sng" algn="ctr">
              <a:solidFill>
                <a:srgbClr val="FFFFFF">
                  <a:alpha val="28000"/>
                </a:srgbClr>
              </a:solidFill>
              <a:prstDash val="dash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E9414F4C-F946-6C86-31E7-E6691A4F7A74}"/>
                </a:ext>
              </a:extLst>
            </p:cNvPr>
            <p:cNvSpPr txBox="1"/>
            <p:nvPr/>
          </p:nvSpPr>
          <p:spPr>
            <a:xfrm>
              <a:off x="8763000" y="4089400"/>
              <a:ext cx="18669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receita atual</a:t>
              </a:r>
            </a:p>
          </p:txBody>
        </p:sp>
        <p:sp>
          <p:nvSpPr>
            <p:cNvPr id="10" name="Forma Livre: Forma 9">
              <a:extLst>
                <a:ext uri="{FF2B5EF4-FFF2-40B4-BE49-F238E27FC236}">
                  <a16:creationId xmlns:a16="http://schemas.microsoft.com/office/drawing/2014/main" id="{1B8068AD-C1A1-A161-098B-E47F1FFD3854}"/>
                </a:ext>
              </a:extLst>
            </p:cNvPr>
            <p:cNvSpPr/>
            <p:nvPr/>
          </p:nvSpPr>
          <p:spPr>
            <a:xfrm>
              <a:off x="723900" y="2565400"/>
              <a:ext cx="9906001" cy="2159001"/>
            </a:xfrm>
            <a:custGeom>
              <a:avLst/>
              <a:gdLst/>
              <a:ahLst/>
              <a:cxnLst/>
              <a:rect l="0" t="0" r="0" b="0"/>
              <a:pathLst>
                <a:path w="9906001" h="2159001">
                  <a:moveTo>
                    <a:pt x="0" y="1879600"/>
                  </a:moveTo>
                  <a:cubicBezTo>
                    <a:pt x="1244600" y="1854200"/>
                    <a:pt x="2197100" y="1803400"/>
                    <a:pt x="3302000" y="1689100"/>
                  </a:cubicBezTo>
                  <a:cubicBezTo>
                    <a:pt x="4445000" y="1562100"/>
                    <a:pt x="5499100" y="1270000"/>
                    <a:pt x="6604000" y="889000"/>
                  </a:cubicBezTo>
                  <a:cubicBezTo>
                    <a:pt x="7747000" y="508000"/>
                    <a:pt x="8890000" y="254000"/>
                    <a:pt x="9906000" y="0"/>
                  </a:cubicBezTo>
                  <a:lnTo>
                    <a:pt x="9906000" y="2159000"/>
                  </a:lnTo>
                  <a:lnTo>
                    <a:pt x="0" y="2159000"/>
                  </a:lnTo>
                </a:path>
              </a:pathLst>
            </a:custGeom>
            <a:solidFill>
              <a:srgbClr val="46EB7E">
                <a:alpha val="10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Forma Livre: Forma 10">
              <a:extLst>
                <a:ext uri="{FF2B5EF4-FFF2-40B4-BE49-F238E27FC236}">
                  <a16:creationId xmlns:a16="http://schemas.microsoft.com/office/drawing/2014/main" id="{D119D338-8603-50CB-8189-43E83867FC3D}"/>
                </a:ext>
              </a:extLst>
            </p:cNvPr>
            <p:cNvSpPr/>
            <p:nvPr/>
          </p:nvSpPr>
          <p:spPr>
            <a:xfrm>
              <a:off x="723900" y="2565400"/>
              <a:ext cx="9906001" cy="1879601"/>
            </a:xfrm>
            <a:custGeom>
              <a:avLst/>
              <a:gdLst/>
              <a:ahLst/>
              <a:cxnLst/>
              <a:rect l="0" t="0" r="0" b="0"/>
              <a:pathLst>
                <a:path w="9906001" h="1879601">
                  <a:moveTo>
                    <a:pt x="0" y="1879600"/>
                  </a:moveTo>
                  <a:cubicBezTo>
                    <a:pt x="1244600" y="1854200"/>
                    <a:pt x="2197100" y="1803400"/>
                    <a:pt x="3302000" y="1689100"/>
                  </a:cubicBezTo>
                  <a:cubicBezTo>
                    <a:pt x="4445000" y="1562100"/>
                    <a:pt x="5499100" y="1270000"/>
                    <a:pt x="6604000" y="889000"/>
                  </a:cubicBezTo>
                  <a:cubicBezTo>
                    <a:pt x="7747000" y="508000"/>
                    <a:pt x="8890000" y="254000"/>
                    <a:pt x="9906000" y="0"/>
                  </a:cubicBezTo>
                </a:path>
              </a:pathLst>
            </a:custGeom>
            <a:ln w="3048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8541FE83-5C49-FA7A-009C-546609F318BA}"/>
                </a:ext>
              </a:extLst>
            </p:cNvPr>
            <p:cNvSpPr txBox="1"/>
            <p:nvPr/>
          </p:nvSpPr>
          <p:spPr>
            <a:xfrm>
              <a:off x="8763000" y="2260600"/>
              <a:ext cx="18669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950">
                  <a:solidFill>
                    <a:srgbClr val="46EB7E"/>
                  </a:solidFill>
                  <a:latin typeface="Instrument Sans Medium" pitchFamily="2" charset="0"/>
                </a:rPr>
                <a:t>nova receita digital</a:t>
              </a:r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1BC534CD-E719-8E2B-2F27-8D20418C7505}"/>
                </a:ext>
              </a:extLst>
            </p:cNvPr>
            <p:cNvSpPr/>
            <p:nvPr/>
          </p:nvSpPr>
          <p:spPr>
            <a:xfrm>
              <a:off x="654050" y="43751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FFFFFF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5DCF0CD2-67AF-CA23-9B8E-091BA49F0E65}"/>
                </a:ext>
              </a:extLst>
            </p:cNvPr>
            <p:cNvSpPr txBox="1"/>
            <p:nvPr/>
          </p:nvSpPr>
          <p:spPr>
            <a:xfrm>
              <a:off x="7239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Base atual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E7B81C6C-BB9A-4B5A-5CEF-F96E8FD1D3FC}"/>
                </a:ext>
              </a:extLst>
            </p:cNvPr>
            <p:cNvSpPr txBox="1"/>
            <p:nvPr/>
          </p:nvSpPr>
          <p:spPr>
            <a:xfrm>
              <a:off x="7239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clientes, conhecimento, dados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BED5FA05-031E-DC30-F7FC-1AD8D87FD96A}"/>
                </a:ext>
              </a:extLst>
            </p:cNvPr>
            <p:cNvSpPr/>
            <p:nvPr/>
          </p:nvSpPr>
          <p:spPr>
            <a:xfrm>
              <a:off x="3956050" y="41846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FFFFFF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B5D76BE9-AA94-A315-C9BD-6F2A11038838}"/>
                </a:ext>
              </a:extLst>
            </p:cNvPr>
            <p:cNvSpPr txBox="1"/>
            <p:nvPr/>
          </p:nvSpPr>
          <p:spPr>
            <a:xfrm>
              <a:off x="30734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Produto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ED49DCA1-0982-F6D4-E0EA-AF2A37431039}"/>
                </a:ext>
              </a:extLst>
            </p:cNvPr>
            <p:cNvSpPr txBox="1"/>
            <p:nvPr/>
          </p:nvSpPr>
          <p:spPr>
            <a:xfrm>
              <a:off x="30734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novo produto digital</a:t>
              </a: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85171E3A-03F1-42B7-1EED-7E9E7A884D63}"/>
                </a:ext>
              </a:extLst>
            </p:cNvPr>
            <p:cNvSpPr/>
            <p:nvPr/>
          </p:nvSpPr>
          <p:spPr>
            <a:xfrm>
              <a:off x="7258050" y="33845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FFFFFF">
                  <a:alpha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B0CB09E9-CD6A-9D88-F6AA-AD61A315097E}"/>
                </a:ext>
              </a:extLst>
            </p:cNvPr>
            <p:cNvSpPr txBox="1"/>
            <p:nvPr/>
          </p:nvSpPr>
          <p:spPr>
            <a:xfrm>
              <a:off x="63754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Assinatura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1A597195-E1E5-7101-4422-B25C3C7FBCB8}"/>
                </a:ext>
              </a:extLst>
            </p:cNvPr>
            <p:cNvSpPr txBox="1"/>
            <p:nvPr/>
          </p:nvSpPr>
          <p:spPr>
            <a:xfrm>
              <a:off x="63754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modelo de cobrança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0EC43481-7087-7894-8BCE-661E65058C38}"/>
                </a:ext>
              </a:extLst>
            </p:cNvPr>
            <p:cNvSpPr/>
            <p:nvPr/>
          </p:nvSpPr>
          <p:spPr>
            <a:xfrm>
              <a:off x="10560050" y="24955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C3BAB1AC-9DDB-9EEB-52CC-9D413C301315}"/>
                </a:ext>
              </a:extLst>
            </p:cNvPr>
            <p:cNvSpPr txBox="1"/>
            <p:nvPr/>
          </p:nvSpPr>
          <p:spPr>
            <a:xfrm>
              <a:off x="8724900" y="49022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1200">
                  <a:solidFill>
                    <a:srgbClr val="46EB7E"/>
                  </a:solidFill>
                  <a:latin typeface="Instrument Sans Medium" pitchFamily="2" charset="0"/>
                </a:rPr>
                <a:t>Receita recorrente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932F9811-351E-11CC-5021-6FDBD4ECC757}"/>
                </a:ext>
              </a:extLst>
            </p:cNvPr>
            <p:cNvSpPr txBox="1"/>
            <p:nvPr/>
          </p:nvSpPr>
          <p:spPr>
            <a:xfrm>
              <a:off x="8724900" y="51308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nova linha de receita</a:t>
              </a:r>
            </a:p>
          </p:txBody>
        </p:sp>
      </p:grp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C9BAC24A-88D7-386C-DA79-AE5733CC6927}"/>
              </a:ext>
            </a:extLst>
          </p:cNvPr>
          <p:cNvSpPr txBox="1"/>
          <p:nvPr/>
        </p:nvSpPr>
        <p:spPr>
          <a:xfrm>
            <a:off x="685800" y="58166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400">
                <a:solidFill>
                  <a:srgbClr val="9BA1A6"/>
                </a:solidFill>
                <a:latin typeface="Instrument Sans Medium" pitchFamily="2" charset="0"/>
              </a:rPr>
              <a:t>Se parte dos seus clientes pagasse por um novo produto digital, </a:t>
            </a:r>
            <a:r>
              <a:rPr lang="pt-BR" sz="1400">
                <a:solidFill>
                  <a:srgbClr val="FFFFFF"/>
                </a:solidFill>
                <a:latin typeface="Instrument Sans Medium" pitchFamily="2" charset="0"/>
              </a:rPr>
              <a:t>o que valeria a pena construir?</a:t>
            </a:r>
          </a:p>
        </p:txBody>
      </p:sp>
      <p:cxnSp>
        <p:nvCxnSpPr>
          <p:cNvPr id="27" name="Conector reto 26">
            <a:extLst>
              <a:ext uri="{FF2B5EF4-FFF2-40B4-BE49-F238E27FC236}">
                <a16:creationId xmlns:a16="http://schemas.microsoft.com/office/drawing/2014/main" id="{A1829125-1717-2E8B-117C-5459FECD93E0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30AEA934-8B19-4C52-3E67-769D0F944AAD}"/>
              </a:ext>
            </a:extLst>
          </p:cNvPr>
          <p:cNvCxnSpPr/>
          <p:nvPr/>
        </p:nvCxnSpPr>
        <p:spPr>
          <a:xfrm>
            <a:off x="685800" y="6578600"/>
            <a:ext cx="5073650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lipse 28">
            <a:extLst>
              <a:ext uri="{FF2B5EF4-FFF2-40B4-BE49-F238E27FC236}">
                <a16:creationId xmlns:a16="http://schemas.microsoft.com/office/drawing/2014/main" id="{CFC42E65-2229-07DE-19F9-7ED07663496E}"/>
              </a:ext>
            </a:extLst>
          </p:cNvPr>
          <p:cNvSpPr/>
          <p:nvPr/>
        </p:nvSpPr>
        <p:spPr>
          <a:xfrm>
            <a:off x="5708650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AC682EE-2436-FF31-651C-38F745630599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07 / 14</a:t>
            </a:r>
          </a:p>
        </p:txBody>
      </p:sp>
    </p:spTree>
    <p:extLst>
      <p:ext uri="{BB962C8B-B14F-4D97-AF65-F5344CB8AC3E}">
        <p14:creationId xmlns:p14="http://schemas.microsoft.com/office/powerpoint/2010/main" val="224965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0830651-8975-C9FE-E638-E2FF071E5DB4}"/>
              </a:ext>
            </a:extLst>
          </p:cNvPr>
          <p:cNvSpPr txBox="1"/>
          <p:nvPr/>
        </p:nvSpPr>
        <p:spPr>
          <a:xfrm>
            <a:off x="9347200" y="6604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140">
                <a:solidFill>
                  <a:srgbClr val="9BA1A6"/>
                </a:solidFill>
                <a:latin typeface="Instrument Sans Medium" pitchFamily="2" charset="0"/>
              </a:rPr>
              <a:t>EXEMPLO ILUSTRATIVO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0FC13B2-ABAB-AE81-0CB8-ECB3C6DE698C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NOVA RECEITA DIGITAL · SIMULAÇÃO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80502B6-ABBC-B585-71B2-486A80B0CBD8}"/>
              </a:ext>
            </a:extLst>
          </p:cNvPr>
          <p:cNvSpPr txBox="1"/>
          <p:nvPr/>
        </p:nvSpPr>
        <p:spPr>
          <a:xfrm>
            <a:off x="685800" y="9144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3600" b="1" spc="-100">
                <a:solidFill>
                  <a:srgbClr val="FFFFFF"/>
                </a:solidFill>
                <a:latin typeface="Urbanist" panose="020B0A04040200000203" pitchFamily="34" charset="0"/>
              </a:rPr>
              <a:t>Quanto isso representa </a:t>
            </a:r>
            <a:r>
              <a:rPr lang="pt-BR" sz="3600" b="1" spc="-100">
                <a:solidFill>
                  <a:srgbClr val="46EB7E"/>
                </a:solidFill>
                <a:latin typeface="Urbanist" panose="020B0A04040200000203" pitchFamily="34" charset="0"/>
              </a:rPr>
              <a:t>na prática?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5C9F6C20-9D50-CDB2-3DA1-6187DB987B1E}"/>
              </a:ext>
            </a:extLst>
          </p:cNvPr>
          <p:cNvGrpSpPr/>
          <p:nvPr/>
        </p:nvGrpSpPr>
        <p:grpSpPr>
          <a:xfrm>
            <a:off x="685800" y="1879600"/>
            <a:ext cx="2857500" cy="2844800"/>
            <a:chOff x="685800" y="1879600"/>
            <a:chExt cx="2857500" cy="2844800"/>
          </a:xfrm>
        </p:grpSpPr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CD28CFB1-7849-480F-FCA0-5DF29D1CD6CA}"/>
                </a:ext>
              </a:extLst>
            </p:cNvPr>
            <p:cNvSpPr/>
            <p:nvPr/>
          </p:nvSpPr>
          <p:spPr>
            <a:xfrm>
              <a:off x="685800" y="1879600"/>
              <a:ext cx="2857500" cy="812800"/>
            </a:xfrm>
            <a:prstGeom prst="roundRect">
              <a:avLst>
                <a:gd name="adj" fmla="val 22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73C37E0B-0D29-AD22-2D5D-D1C75E633AD2}"/>
                </a:ext>
              </a:extLst>
            </p:cNvPr>
            <p:cNvSpPr txBox="1"/>
            <p:nvPr/>
          </p:nvSpPr>
          <p:spPr>
            <a:xfrm>
              <a:off x="889000" y="20193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 spc="100">
                  <a:solidFill>
                    <a:srgbClr val="9BA1A6"/>
                  </a:solidFill>
                  <a:latin typeface="Instrument Sans Medium" pitchFamily="2" charset="0"/>
                </a:rPr>
                <a:t>CLIENTES NA BASE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4138AA9-07B7-983D-B261-CE3CD1C323E4}"/>
                </a:ext>
              </a:extLst>
            </p:cNvPr>
            <p:cNvSpPr txBox="1"/>
            <p:nvPr/>
          </p:nvSpPr>
          <p:spPr>
            <a:xfrm>
              <a:off x="889000" y="2222500"/>
              <a:ext cx="2540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200" b="1">
                  <a:solidFill>
                    <a:srgbClr val="FFFFFF"/>
                  </a:solidFill>
                  <a:latin typeface="Urbanist" panose="020B0A04040200000203" pitchFamily="34" charset="0"/>
                </a:rPr>
                <a:t>500</a:t>
              </a:r>
            </a:p>
          </p:txBody>
        </p:sp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45555937-874A-F4EE-97D1-4B00FD7AA77E}"/>
                </a:ext>
              </a:extLst>
            </p:cNvPr>
            <p:cNvSpPr/>
            <p:nvPr/>
          </p:nvSpPr>
          <p:spPr>
            <a:xfrm>
              <a:off x="685800" y="2895600"/>
              <a:ext cx="2857500" cy="812800"/>
            </a:xfrm>
            <a:prstGeom prst="roundRect">
              <a:avLst>
                <a:gd name="adj" fmla="val 22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60033B4-9807-2FF8-0116-16658E62C8E2}"/>
                </a:ext>
              </a:extLst>
            </p:cNvPr>
            <p:cNvSpPr txBox="1"/>
            <p:nvPr/>
          </p:nvSpPr>
          <p:spPr>
            <a:xfrm>
              <a:off x="889000" y="30353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 spc="100">
                  <a:solidFill>
                    <a:srgbClr val="9BA1A6"/>
                  </a:solidFill>
                  <a:latin typeface="Instrument Sans Medium" pitchFamily="2" charset="0"/>
                </a:rPr>
                <a:t>ASSINATURA MENSAL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5982FF28-9637-A304-AD45-63A39E3C811B}"/>
                </a:ext>
              </a:extLst>
            </p:cNvPr>
            <p:cNvSpPr txBox="1"/>
            <p:nvPr/>
          </p:nvSpPr>
          <p:spPr>
            <a:xfrm>
              <a:off x="889000" y="3238500"/>
              <a:ext cx="2540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200" b="1">
                  <a:solidFill>
                    <a:srgbClr val="FFFFFF"/>
                  </a:solidFill>
                  <a:latin typeface="Urbanist" panose="020B0A04040200000203" pitchFamily="34" charset="0"/>
                </a:rPr>
                <a:t>R$ 149</a:t>
              </a:r>
            </a:p>
          </p:txBody>
        </p:sp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9B2CDFD4-1AB6-96C0-2BE0-C4FC4EA05ADF}"/>
                </a:ext>
              </a:extLst>
            </p:cNvPr>
            <p:cNvSpPr/>
            <p:nvPr/>
          </p:nvSpPr>
          <p:spPr>
            <a:xfrm>
              <a:off x="685800" y="3911600"/>
              <a:ext cx="2857500" cy="812800"/>
            </a:xfrm>
            <a:prstGeom prst="roundRect">
              <a:avLst>
                <a:gd name="adj" fmla="val 22000"/>
              </a:avLst>
            </a:prstGeom>
            <a:solidFill>
              <a:srgbClr val="131316"/>
            </a:solidFill>
            <a:ln w="12700" cap="flat" cmpd="sng" algn="ctr">
              <a:solidFill>
                <a:srgbClr val="46EB7E">
                  <a:alpha val="55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D84EAC12-58E1-4137-5E36-051241083659}"/>
                </a:ext>
              </a:extLst>
            </p:cNvPr>
            <p:cNvSpPr txBox="1"/>
            <p:nvPr/>
          </p:nvSpPr>
          <p:spPr>
            <a:xfrm>
              <a:off x="889000" y="4051300"/>
              <a:ext cx="254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 spc="100">
                  <a:solidFill>
                    <a:srgbClr val="9BA1A6"/>
                  </a:solidFill>
                  <a:latin typeface="Instrument Sans Medium" pitchFamily="2" charset="0"/>
                </a:rPr>
                <a:t>ADESÃO CONSERVADORA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A5684D8F-83DE-BBCB-B469-877148FD825D}"/>
                </a:ext>
              </a:extLst>
            </p:cNvPr>
            <p:cNvSpPr txBox="1"/>
            <p:nvPr/>
          </p:nvSpPr>
          <p:spPr>
            <a:xfrm>
              <a:off x="889000" y="4254500"/>
              <a:ext cx="2540000" cy="3810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2200" b="1">
                  <a:solidFill>
                    <a:srgbClr val="46EB7E"/>
                  </a:solidFill>
                  <a:latin typeface="Urbanist" panose="020B0A04040200000203" pitchFamily="34" charset="0"/>
                </a:rPr>
                <a:t>30%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7BDCAA13-E95E-C6CD-0B1D-C299E905F01D}"/>
              </a:ext>
            </a:extLst>
          </p:cNvPr>
          <p:cNvGrpSpPr/>
          <p:nvPr/>
        </p:nvGrpSpPr>
        <p:grpSpPr>
          <a:xfrm>
            <a:off x="4191000" y="1879600"/>
            <a:ext cx="7620000" cy="572532"/>
            <a:chOff x="4191000" y="1879600"/>
            <a:chExt cx="7620000" cy="572532"/>
          </a:xfrm>
        </p:grpSpPr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66696AB7-F113-084A-174F-8A407FE2EB12}"/>
                </a:ext>
              </a:extLst>
            </p:cNvPr>
            <p:cNvSpPr txBox="1"/>
            <p:nvPr/>
          </p:nvSpPr>
          <p:spPr>
            <a:xfrm>
              <a:off x="4191000" y="1879600"/>
              <a:ext cx="3429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 spc="100">
                  <a:solidFill>
                    <a:srgbClr val="9BA1A6"/>
                  </a:solidFill>
                  <a:latin typeface="Instrument Sans Medium" pitchFamily="2" charset="0"/>
                </a:rPr>
                <a:t>RECEITA RECORRENTE MENSAL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37B7E9E0-1597-4F87-AAC2-16AB65A9F263}"/>
                </a:ext>
              </a:extLst>
            </p:cNvPr>
            <p:cNvSpPr txBox="1"/>
            <p:nvPr/>
          </p:nvSpPr>
          <p:spPr>
            <a:xfrm>
              <a:off x="4191000" y="2082800"/>
              <a:ext cx="3683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600" b="1" spc="-80">
                  <a:solidFill>
                    <a:srgbClr val="46EB7E"/>
                  </a:solidFill>
                  <a:latin typeface="Urbanist" panose="020B0A04040200000203" pitchFamily="34" charset="0"/>
                </a:rPr>
                <a:t>R$ 22.350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B5C50344-83FB-C133-2CE9-3F41AEF58C38}"/>
                </a:ext>
              </a:extLst>
            </p:cNvPr>
            <p:cNvSpPr txBox="1"/>
            <p:nvPr/>
          </p:nvSpPr>
          <p:spPr>
            <a:xfrm>
              <a:off x="8001000" y="1879600"/>
              <a:ext cx="3429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 spc="100">
                  <a:solidFill>
                    <a:srgbClr val="9BA1A6"/>
                  </a:solidFill>
                  <a:latin typeface="Instrument Sans Medium" pitchFamily="2" charset="0"/>
                </a:rPr>
                <a:t>NOVO FATURAMENTO ANUAL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A551513D-D4AC-3C33-6904-581A70EB7AE3}"/>
                </a:ext>
              </a:extLst>
            </p:cNvPr>
            <p:cNvSpPr txBox="1"/>
            <p:nvPr/>
          </p:nvSpPr>
          <p:spPr>
            <a:xfrm>
              <a:off x="8001000" y="2082800"/>
              <a:ext cx="381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600" b="1" spc="-80">
                  <a:solidFill>
                    <a:srgbClr val="FFFFFF"/>
                  </a:solidFill>
                  <a:latin typeface="Urbanist" panose="020B0A04040200000203" pitchFamily="34" charset="0"/>
                </a:rPr>
                <a:t>+ R$ 268.200</a:t>
              </a:r>
            </a:p>
          </p:txBody>
        </p:sp>
      </p:grpSp>
      <p:grpSp>
        <p:nvGrpSpPr>
          <p:cNvPr id="38" name="Agrupar 37">
            <a:extLst>
              <a:ext uri="{FF2B5EF4-FFF2-40B4-BE49-F238E27FC236}">
                <a16:creationId xmlns:a16="http://schemas.microsoft.com/office/drawing/2014/main" id="{51A55706-3A93-5D86-2308-C889489B90CF}"/>
              </a:ext>
            </a:extLst>
          </p:cNvPr>
          <p:cNvGrpSpPr/>
          <p:nvPr/>
        </p:nvGrpSpPr>
        <p:grpSpPr>
          <a:xfrm>
            <a:off x="4191000" y="2971800"/>
            <a:ext cx="7315200" cy="2426732"/>
            <a:chOff x="4191000" y="2971800"/>
            <a:chExt cx="7315200" cy="2426732"/>
          </a:xfrm>
        </p:grpSpPr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1AA8BB16-027C-3F45-528C-6E6254904969}"/>
                </a:ext>
              </a:extLst>
            </p:cNvPr>
            <p:cNvSpPr txBox="1"/>
            <p:nvPr/>
          </p:nvSpPr>
          <p:spPr>
            <a:xfrm>
              <a:off x="4191000" y="2971800"/>
              <a:ext cx="3556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 spc="100">
                  <a:solidFill>
                    <a:srgbClr val="9BA1A6"/>
                  </a:solidFill>
                  <a:latin typeface="Instrument Sans Medium" pitchFamily="2" charset="0"/>
                </a:rPr>
                <a:t>RAMPA DE ADESÃO EM 12 MESES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6D75D24-9D41-08AD-F04B-E9811C9A869E}"/>
                </a:ext>
              </a:extLst>
            </p:cNvPr>
            <p:cNvSpPr txBox="1"/>
            <p:nvPr/>
          </p:nvSpPr>
          <p:spPr>
            <a:xfrm>
              <a:off x="7696200" y="2971800"/>
              <a:ext cx="381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>
                <a:lnSpc>
                  <a:spcPct val="104000"/>
                </a:lnSpc>
              </a:pPr>
              <a:r>
                <a:rPr lang="pt-BR" sz="950">
                  <a:solidFill>
                    <a:srgbClr val="E8EAEC"/>
                  </a:solidFill>
                  <a:latin typeface="Instrument Sans Medium" pitchFamily="2" charset="0"/>
                </a:rPr>
                <a:t>R$ 212.325 acumulados em 12 meses</a:t>
              </a:r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C400C615-FC8B-EC03-E77D-709B355C4BE3}"/>
                </a:ext>
              </a:extLst>
            </p:cNvPr>
            <p:cNvSpPr/>
            <p:nvPr/>
          </p:nvSpPr>
          <p:spPr>
            <a:xfrm>
              <a:off x="4191000" y="4889500"/>
              <a:ext cx="508000" cy="63500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89CF0680-14E1-167A-0D37-D1C2E4A727E2}"/>
                </a:ext>
              </a:extLst>
            </p:cNvPr>
            <p:cNvSpPr/>
            <p:nvPr/>
          </p:nvSpPr>
          <p:spPr>
            <a:xfrm>
              <a:off x="4800600" y="4870882"/>
              <a:ext cx="508000" cy="82118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BB155598-D782-76C3-5104-6AC23723D066}"/>
                </a:ext>
              </a:extLst>
            </p:cNvPr>
            <p:cNvSpPr/>
            <p:nvPr/>
          </p:nvSpPr>
          <p:spPr>
            <a:xfrm>
              <a:off x="5410200" y="4790313"/>
              <a:ext cx="508000" cy="162687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28B0D89B-CE41-0D64-EA67-615E5F822053}"/>
                </a:ext>
              </a:extLst>
            </p:cNvPr>
            <p:cNvSpPr/>
            <p:nvPr/>
          </p:nvSpPr>
          <p:spPr>
            <a:xfrm>
              <a:off x="6019800" y="4681855"/>
              <a:ext cx="508000" cy="271145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04841DB2-33AA-C0A3-09A4-04F49C705DC7}"/>
                </a:ext>
              </a:extLst>
            </p:cNvPr>
            <p:cNvSpPr/>
            <p:nvPr/>
          </p:nvSpPr>
          <p:spPr>
            <a:xfrm>
              <a:off x="6629400" y="4545508"/>
              <a:ext cx="508000" cy="407492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Retângulo 26">
              <a:extLst>
                <a:ext uri="{FF2B5EF4-FFF2-40B4-BE49-F238E27FC236}">
                  <a16:creationId xmlns:a16="http://schemas.microsoft.com/office/drawing/2014/main" id="{47BF411D-2B84-5C76-EE63-B7CC40C9670A}"/>
                </a:ext>
              </a:extLst>
            </p:cNvPr>
            <p:cNvSpPr/>
            <p:nvPr/>
          </p:nvSpPr>
          <p:spPr>
            <a:xfrm>
              <a:off x="7239000" y="4382821"/>
              <a:ext cx="508000" cy="570179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Retângulo 27">
              <a:extLst>
                <a:ext uri="{FF2B5EF4-FFF2-40B4-BE49-F238E27FC236}">
                  <a16:creationId xmlns:a16="http://schemas.microsoft.com/office/drawing/2014/main" id="{4C3AF8DE-AAD5-9890-3943-9B4951D6D5F3}"/>
                </a:ext>
              </a:extLst>
            </p:cNvPr>
            <p:cNvSpPr/>
            <p:nvPr/>
          </p:nvSpPr>
          <p:spPr>
            <a:xfrm>
              <a:off x="7848600" y="4218584"/>
              <a:ext cx="508000" cy="734416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Retângulo 28">
              <a:extLst>
                <a:ext uri="{FF2B5EF4-FFF2-40B4-BE49-F238E27FC236}">
                  <a16:creationId xmlns:a16="http://schemas.microsoft.com/office/drawing/2014/main" id="{C65FB692-D85E-C250-D973-2302AB9275A9}"/>
                </a:ext>
              </a:extLst>
            </p:cNvPr>
            <p:cNvSpPr/>
            <p:nvPr/>
          </p:nvSpPr>
          <p:spPr>
            <a:xfrm>
              <a:off x="8458200" y="4055897"/>
              <a:ext cx="508000" cy="897103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Retângulo 29">
              <a:extLst>
                <a:ext uri="{FF2B5EF4-FFF2-40B4-BE49-F238E27FC236}">
                  <a16:creationId xmlns:a16="http://schemas.microsoft.com/office/drawing/2014/main" id="{85D15B87-2F34-820B-62D0-16798B9B1F33}"/>
                </a:ext>
              </a:extLst>
            </p:cNvPr>
            <p:cNvSpPr/>
            <p:nvPr/>
          </p:nvSpPr>
          <p:spPr>
            <a:xfrm>
              <a:off x="9067800" y="3893210"/>
              <a:ext cx="508000" cy="1059790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Retângulo 30">
              <a:extLst>
                <a:ext uri="{FF2B5EF4-FFF2-40B4-BE49-F238E27FC236}">
                  <a16:creationId xmlns:a16="http://schemas.microsoft.com/office/drawing/2014/main" id="{925AFFA0-DAB5-F439-FB80-CA0144C36938}"/>
                </a:ext>
              </a:extLst>
            </p:cNvPr>
            <p:cNvSpPr/>
            <p:nvPr/>
          </p:nvSpPr>
          <p:spPr>
            <a:xfrm>
              <a:off x="9677400" y="3730523"/>
              <a:ext cx="508000" cy="1222477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Retângulo 31">
              <a:extLst>
                <a:ext uri="{FF2B5EF4-FFF2-40B4-BE49-F238E27FC236}">
                  <a16:creationId xmlns:a16="http://schemas.microsoft.com/office/drawing/2014/main" id="{C5FE3934-5A21-FB31-B9F8-EB754A4C3CAB}"/>
                </a:ext>
              </a:extLst>
            </p:cNvPr>
            <p:cNvSpPr/>
            <p:nvPr/>
          </p:nvSpPr>
          <p:spPr>
            <a:xfrm>
              <a:off x="10287000" y="3566287"/>
              <a:ext cx="508000" cy="1386713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Retângulo 32">
              <a:extLst>
                <a:ext uri="{FF2B5EF4-FFF2-40B4-BE49-F238E27FC236}">
                  <a16:creationId xmlns:a16="http://schemas.microsoft.com/office/drawing/2014/main" id="{88EAD6D8-45F0-A6BE-6D83-F35AC63B24DC}"/>
                </a:ext>
              </a:extLst>
            </p:cNvPr>
            <p:cNvSpPr/>
            <p:nvPr/>
          </p:nvSpPr>
          <p:spPr>
            <a:xfrm>
              <a:off x="10896600" y="3403600"/>
              <a:ext cx="508000" cy="1549400"/>
            </a:xfrm>
            <a:prstGeom prst="rect">
              <a:avLst/>
            </a:prstGeom>
            <a:solidFill>
              <a:srgbClr val="46EB7E">
                <a:alpha val="65000"/>
              </a:srgbClr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4" name="Conector reto 33">
              <a:extLst>
                <a:ext uri="{FF2B5EF4-FFF2-40B4-BE49-F238E27FC236}">
                  <a16:creationId xmlns:a16="http://schemas.microsoft.com/office/drawing/2014/main" id="{887C7BAA-5D2E-59F7-BFA9-BA90B68CC8D8}"/>
                </a:ext>
              </a:extLst>
            </p:cNvPr>
            <p:cNvCxnSpPr/>
            <p:nvPr/>
          </p:nvCxnSpPr>
          <p:spPr>
            <a:xfrm>
              <a:off x="4191000" y="4953000"/>
              <a:ext cx="7213600" cy="0"/>
            </a:xfrm>
            <a:prstGeom prst="line">
              <a:avLst/>
            </a:prstGeom>
            <a:ln w="1524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6DF5CBF3-F0AF-6317-2C6C-834815A9545D}"/>
                </a:ext>
              </a:extLst>
            </p:cNvPr>
            <p:cNvSpPr txBox="1"/>
            <p:nvPr/>
          </p:nvSpPr>
          <p:spPr>
            <a:xfrm>
              <a:off x="4191000" y="5029200"/>
              <a:ext cx="76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>
                  <a:solidFill>
                    <a:srgbClr val="9BA1A6"/>
                  </a:solidFill>
                  <a:latin typeface="Instrument Sans Medium" pitchFamily="2" charset="0"/>
                </a:rPr>
                <a:t>mês 1</a:t>
              </a: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C0AC31F9-6B60-F893-42CF-72B65BBD6B54}"/>
                </a:ext>
              </a:extLst>
            </p:cNvPr>
            <p:cNvSpPr txBox="1"/>
            <p:nvPr/>
          </p:nvSpPr>
          <p:spPr>
            <a:xfrm>
              <a:off x="7239000" y="5029200"/>
              <a:ext cx="76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>
                  <a:solidFill>
                    <a:srgbClr val="9BA1A6"/>
                  </a:solidFill>
                  <a:latin typeface="Instrument Sans Medium" pitchFamily="2" charset="0"/>
                </a:rPr>
                <a:t>mês 6</a:t>
              </a:r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id="{D16213DA-7B2D-9033-CAAE-F875252D72A6}"/>
                </a:ext>
              </a:extLst>
            </p:cNvPr>
            <p:cNvSpPr txBox="1"/>
            <p:nvPr/>
          </p:nvSpPr>
          <p:spPr>
            <a:xfrm>
              <a:off x="10744200" y="5029200"/>
              <a:ext cx="76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800">
                  <a:solidFill>
                    <a:srgbClr val="9BA1A6"/>
                  </a:solidFill>
                  <a:latin typeface="Instrument Sans Medium" pitchFamily="2" charset="0"/>
                </a:rPr>
                <a:t>mês 12</a:t>
              </a:r>
            </a:p>
          </p:txBody>
        </p:sp>
      </p:grp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54055E5A-BA9B-A5AE-5944-0A6DDBB52855}"/>
              </a:ext>
            </a:extLst>
          </p:cNvPr>
          <p:cNvSpPr txBox="1"/>
          <p:nvPr/>
        </p:nvSpPr>
        <p:spPr>
          <a:xfrm>
            <a:off x="4191000" y="53086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300">
                <a:solidFill>
                  <a:srgbClr val="9BA1A6"/>
                </a:solidFill>
                <a:latin typeface="Instrument Sans Medium" pitchFamily="2" charset="0"/>
              </a:rPr>
              <a:t>Cada mês sem o produto no ar: </a:t>
            </a:r>
            <a:r>
              <a:rPr lang="pt-BR" sz="1300">
                <a:solidFill>
                  <a:srgbClr val="FFFFFF"/>
                </a:solidFill>
                <a:latin typeface="Instrument Sans Medium" pitchFamily="2" charset="0"/>
              </a:rPr>
              <a:t>R$ 22.350</a:t>
            </a:r>
            <a:r>
              <a:rPr lang="pt-BR" sz="1300">
                <a:solidFill>
                  <a:srgbClr val="9BA1A6"/>
                </a:solidFill>
                <a:latin typeface="Instrument Sans Medium" pitchFamily="2" charset="0"/>
              </a:rPr>
              <a:t> que ficam na mesa.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CE9CC989-5B04-35D3-C1C3-C141E61FD2BA}"/>
              </a:ext>
            </a:extLst>
          </p:cNvPr>
          <p:cNvSpPr txBox="1"/>
          <p:nvPr/>
        </p:nvSpPr>
        <p:spPr>
          <a:xfrm>
            <a:off x="685800" y="59944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100">
                <a:solidFill>
                  <a:srgbClr val="9BA1A6"/>
                </a:solidFill>
                <a:latin typeface="Instrument Sans Medium" pitchFamily="2" charset="0"/>
              </a:rPr>
              <a:t>Exemplo com números redondos — no diagnóstico, simulamos com os números reais da sua empresa.</a:t>
            </a:r>
          </a:p>
        </p:txBody>
      </p:sp>
      <p:cxnSp>
        <p:nvCxnSpPr>
          <p:cNvPr id="41" name="Conector reto 40">
            <a:extLst>
              <a:ext uri="{FF2B5EF4-FFF2-40B4-BE49-F238E27FC236}">
                <a16:creationId xmlns:a16="http://schemas.microsoft.com/office/drawing/2014/main" id="{09BE62C5-F90A-27DF-4677-C010038E5661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to 41">
            <a:extLst>
              <a:ext uri="{FF2B5EF4-FFF2-40B4-BE49-F238E27FC236}">
                <a16:creationId xmlns:a16="http://schemas.microsoft.com/office/drawing/2014/main" id="{1256D998-CE35-CC52-FA4B-141841E5937C}"/>
              </a:ext>
            </a:extLst>
          </p:cNvPr>
          <p:cNvCxnSpPr/>
          <p:nvPr/>
        </p:nvCxnSpPr>
        <p:spPr>
          <a:xfrm>
            <a:off x="685800" y="6578600"/>
            <a:ext cx="5798457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Elipse 42">
            <a:extLst>
              <a:ext uri="{FF2B5EF4-FFF2-40B4-BE49-F238E27FC236}">
                <a16:creationId xmlns:a16="http://schemas.microsoft.com/office/drawing/2014/main" id="{6E604C7D-0616-44DF-F9C1-B45E3A68F879}"/>
              </a:ext>
            </a:extLst>
          </p:cNvPr>
          <p:cNvSpPr/>
          <p:nvPr/>
        </p:nvSpPr>
        <p:spPr>
          <a:xfrm>
            <a:off x="6433457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F603977B-5C0B-1C3F-5AAF-3A631A755943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08 / 14</a:t>
            </a:r>
          </a:p>
        </p:txBody>
      </p:sp>
    </p:spTree>
    <p:extLst>
      <p:ext uri="{BB962C8B-B14F-4D97-AF65-F5344CB8AC3E}">
        <p14:creationId xmlns:p14="http://schemas.microsoft.com/office/powerpoint/2010/main" val="16611177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39" grpId="0"/>
      <p:bldP spid="4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>
            <a:extLst>
              <a:ext uri="{FF2B5EF4-FFF2-40B4-BE49-F238E27FC236}">
                <a16:creationId xmlns:a16="http://schemas.microsoft.com/office/drawing/2014/main" id="{8AB0BFB3-BC77-6622-EFF5-43041A0F1C60}"/>
              </a:ext>
            </a:extLst>
          </p:cNvPr>
          <p:cNvGrpSpPr/>
          <p:nvPr/>
        </p:nvGrpSpPr>
        <p:grpSpPr>
          <a:xfrm>
            <a:off x="685800" y="609600"/>
            <a:ext cx="10134600" cy="699532"/>
            <a:chOff x="685800" y="609600"/>
            <a:chExt cx="10134600" cy="699532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96949AAD-6163-AD2C-5AC1-0BE66895F05C}"/>
                </a:ext>
              </a:extLst>
            </p:cNvPr>
            <p:cNvSpPr txBox="1"/>
            <p:nvPr/>
          </p:nvSpPr>
          <p:spPr>
            <a:xfrm>
              <a:off x="685800" y="609600"/>
              <a:ext cx="1422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6800" b="1" spc="-12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02</a:t>
              </a: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F1677D2D-996A-E06C-AB6E-C4A9AB25B424}"/>
                </a:ext>
              </a:extLst>
            </p:cNvPr>
            <p:cNvSpPr txBox="1"/>
            <p:nvPr/>
          </p:nvSpPr>
          <p:spPr>
            <a:xfrm>
              <a:off x="2438400" y="6604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00" spc="170">
                  <a:solidFill>
                    <a:srgbClr val="46EB7E"/>
                  </a:solidFill>
                  <a:latin typeface="Instrument Sans Medium" pitchFamily="2" charset="0"/>
                </a:rPr>
                <a:t>SISTEMAS SOB MEDIDA</a:t>
              </a:r>
            </a:p>
          </p:txBody>
        </p:sp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4CDB93F6-E062-7823-CBFD-0947386A16B5}"/>
                </a:ext>
              </a:extLst>
            </p:cNvPr>
            <p:cNvSpPr txBox="1"/>
            <p:nvPr/>
          </p:nvSpPr>
          <p:spPr>
            <a:xfrm>
              <a:off x="2438400" y="939800"/>
              <a:ext cx="838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Sua operação é única. </a:t>
              </a:r>
              <a:r>
                <a:rPr lang="pt-BR" sz="3800" b="1" spc="-110">
                  <a:solidFill>
                    <a:srgbClr val="46EB7E"/>
                  </a:solidFill>
                  <a:latin typeface="Urbanist" panose="020B0A04040200000203" pitchFamily="34" charset="0"/>
                </a:rPr>
                <a:t>Seu sistema também pode ser.</a:t>
              </a:r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3D258658-C486-28D2-5532-7848BB32E6CD}"/>
              </a:ext>
            </a:extLst>
          </p:cNvPr>
          <p:cNvGrpSpPr/>
          <p:nvPr/>
        </p:nvGrpSpPr>
        <p:grpSpPr>
          <a:xfrm>
            <a:off x="685800" y="2628900"/>
            <a:ext cx="10045700" cy="2844800"/>
            <a:chOff x="685800" y="2628900"/>
            <a:chExt cx="10045700" cy="2844800"/>
          </a:xfrm>
        </p:grpSpPr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2A91537D-73B9-CD4F-9DC3-814557B1B0BD}"/>
                </a:ext>
              </a:extLst>
            </p:cNvPr>
            <p:cNvSpPr/>
            <p:nvPr/>
          </p:nvSpPr>
          <p:spPr>
            <a:xfrm>
              <a:off x="1866900" y="2819400"/>
              <a:ext cx="2692401" cy="927101"/>
            </a:xfrm>
            <a:custGeom>
              <a:avLst/>
              <a:gdLst/>
              <a:ahLst/>
              <a:cxnLst/>
              <a:rect l="0" t="0" r="0" b="0"/>
              <a:pathLst>
                <a:path w="2692401" h="927101">
                  <a:moveTo>
                    <a:pt x="0" y="0"/>
                  </a:moveTo>
                  <a:cubicBezTo>
                    <a:pt x="1727200" y="0"/>
                    <a:pt x="2184400" y="927100"/>
                    <a:pt x="2692400" y="92710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Forma Livre: Forma 6">
              <a:extLst>
                <a:ext uri="{FF2B5EF4-FFF2-40B4-BE49-F238E27FC236}">
                  <a16:creationId xmlns:a16="http://schemas.microsoft.com/office/drawing/2014/main" id="{8ADE379E-EA5A-34E2-3903-A98021C2E985}"/>
                </a:ext>
              </a:extLst>
            </p:cNvPr>
            <p:cNvSpPr/>
            <p:nvPr/>
          </p:nvSpPr>
          <p:spPr>
            <a:xfrm>
              <a:off x="2679700" y="3403600"/>
              <a:ext cx="1879601" cy="393701"/>
            </a:xfrm>
            <a:custGeom>
              <a:avLst/>
              <a:gdLst/>
              <a:ahLst/>
              <a:cxnLst/>
              <a:rect l="0" t="0" r="0" b="0"/>
              <a:pathLst>
                <a:path w="1879601" h="393701">
                  <a:moveTo>
                    <a:pt x="0" y="0"/>
                  </a:moveTo>
                  <a:cubicBezTo>
                    <a:pt x="1320800" y="0"/>
                    <a:pt x="1371600" y="393700"/>
                    <a:pt x="1879600" y="39370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id="{585A7E8F-7708-9796-2BCC-627E8FD7CBEA}"/>
                </a:ext>
              </a:extLst>
            </p:cNvPr>
            <p:cNvSpPr/>
            <p:nvPr/>
          </p:nvSpPr>
          <p:spPr>
            <a:xfrm>
              <a:off x="1930400" y="3848100"/>
              <a:ext cx="2628901" cy="177801"/>
            </a:xfrm>
            <a:custGeom>
              <a:avLst/>
              <a:gdLst/>
              <a:ahLst/>
              <a:cxnLst/>
              <a:rect l="0" t="0" r="0" b="0"/>
              <a:pathLst>
                <a:path w="2628901" h="177801">
                  <a:moveTo>
                    <a:pt x="0" y="177800"/>
                  </a:moveTo>
                  <a:cubicBezTo>
                    <a:pt x="1695450" y="177800"/>
                    <a:pt x="2120900" y="0"/>
                    <a:pt x="2628900" y="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Forma Livre: Forma 8">
              <a:extLst>
                <a:ext uri="{FF2B5EF4-FFF2-40B4-BE49-F238E27FC236}">
                  <a16:creationId xmlns:a16="http://schemas.microsoft.com/office/drawing/2014/main" id="{B634ABB0-8D8B-E4D5-4B3B-0F9C43F721DD}"/>
                </a:ext>
              </a:extLst>
            </p:cNvPr>
            <p:cNvSpPr/>
            <p:nvPr/>
          </p:nvSpPr>
          <p:spPr>
            <a:xfrm>
              <a:off x="3289300" y="3911600"/>
              <a:ext cx="1270001" cy="736601"/>
            </a:xfrm>
            <a:custGeom>
              <a:avLst/>
              <a:gdLst/>
              <a:ahLst/>
              <a:cxnLst/>
              <a:rect l="0" t="0" r="0" b="0"/>
              <a:pathLst>
                <a:path w="1270001" h="736601">
                  <a:moveTo>
                    <a:pt x="0" y="736600"/>
                  </a:moveTo>
                  <a:cubicBezTo>
                    <a:pt x="1016000" y="736600"/>
                    <a:pt x="762000" y="0"/>
                    <a:pt x="1270000" y="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Forma Livre: Forma 9">
              <a:extLst>
                <a:ext uri="{FF2B5EF4-FFF2-40B4-BE49-F238E27FC236}">
                  <a16:creationId xmlns:a16="http://schemas.microsoft.com/office/drawing/2014/main" id="{1B23B750-0A2C-B9FF-E768-307AB71888F9}"/>
                </a:ext>
              </a:extLst>
            </p:cNvPr>
            <p:cNvSpPr/>
            <p:nvPr/>
          </p:nvSpPr>
          <p:spPr>
            <a:xfrm>
              <a:off x="2159000" y="3962400"/>
              <a:ext cx="2400301" cy="1320801"/>
            </a:xfrm>
            <a:custGeom>
              <a:avLst/>
              <a:gdLst/>
              <a:ahLst/>
              <a:cxnLst/>
              <a:rect l="0" t="0" r="0" b="0"/>
              <a:pathLst>
                <a:path w="2400301" h="1320801">
                  <a:moveTo>
                    <a:pt x="0" y="1320800"/>
                  </a:moveTo>
                  <a:cubicBezTo>
                    <a:pt x="1581150" y="1320800"/>
                    <a:pt x="1892300" y="0"/>
                    <a:pt x="2400300" y="0"/>
                  </a:cubicBezTo>
                </a:path>
              </a:pathLst>
            </a:custGeom>
            <a:ln w="13970" cap="flat" cmpd="sng" algn="ctr">
              <a:solidFill>
                <a:srgbClr val="FFFFFF">
                  <a:alpha val="2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608473DA-B9C7-FECB-12E9-ECD0EB496BBC}"/>
                </a:ext>
              </a:extLst>
            </p:cNvPr>
            <p:cNvSpPr/>
            <p:nvPr/>
          </p:nvSpPr>
          <p:spPr>
            <a:xfrm>
              <a:off x="685800" y="2628900"/>
              <a:ext cx="11811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Planilhas</a:t>
              </a:r>
            </a:p>
          </p:txBody>
        </p:sp>
        <p:sp>
          <p:nvSpPr>
            <p:cNvPr id="12" name="Retângulo: Cantos Arredondados 11">
              <a:extLst>
                <a:ext uri="{FF2B5EF4-FFF2-40B4-BE49-F238E27FC236}">
                  <a16:creationId xmlns:a16="http://schemas.microsoft.com/office/drawing/2014/main" id="{D62D068F-892D-7545-99DA-37B399721992}"/>
                </a:ext>
              </a:extLst>
            </p:cNvPr>
            <p:cNvSpPr/>
            <p:nvPr/>
          </p:nvSpPr>
          <p:spPr>
            <a:xfrm>
              <a:off x="1765300" y="3213100"/>
              <a:ext cx="9144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ERP</a:t>
              </a:r>
            </a:p>
          </p:txBody>
        </p:sp>
        <p:sp>
          <p:nvSpPr>
            <p:cNvPr id="13" name="Retângulo: Cantos Arredondados 12">
              <a:extLst>
                <a:ext uri="{FF2B5EF4-FFF2-40B4-BE49-F238E27FC236}">
                  <a16:creationId xmlns:a16="http://schemas.microsoft.com/office/drawing/2014/main" id="{D2089E22-9C06-B5C7-B5F3-B871A32F5C37}"/>
                </a:ext>
              </a:extLst>
            </p:cNvPr>
            <p:cNvSpPr/>
            <p:nvPr/>
          </p:nvSpPr>
          <p:spPr>
            <a:xfrm>
              <a:off x="876300" y="3835400"/>
              <a:ext cx="10541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E-mail</a:t>
              </a:r>
            </a:p>
          </p:txBody>
        </p:sp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9E0F5504-568E-FCE0-D1B1-2E227488B47B}"/>
                </a:ext>
              </a:extLst>
            </p:cNvPr>
            <p:cNvSpPr/>
            <p:nvPr/>
          </p:nvSpPr>
          <p:spPr>
            <a:xfrm>
              <a:off x="1955800" y="4457700"/>
              <a:ext cx="13335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Documentos</a:t>
              </a:r>
            </a:p>
          </p:txBody>
        </p:sp>
        <p:sp>
          <p:nvSpPr>
            <p:cNvPr id="15" name="Retângulo: Cantos Arredondados 14">
              <a:extLst>
                <a:ext uri="{FF2B5EF4-FFF2-40B4-BE49-F238E27FC236}">
                  <a16:creationId xmlns:a16="http://schemas.microsoft.com/office/drawing/2014/main" id="{DDF80CB0-FED2-1075-49FD-4F8A226B6E05}"/>
                </a:ext>
              </a:extLst>
            </p:cNvPr>
            <p:cNvSpPr/>
            <p:nvPr/>
          </p:nvSpPr>
          <p:spPr>
            <a:xfrm>
              <a:off x="1104900" y="5092700"/>
              <a:ext cx="1054100" cy="3810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Pessoas</a:t>
              </a:r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A2773B15-2CAD-4A62-97AB-5A12500950FB}"/>
                </a:ext>
              </a:extLst>
            </p:cNvPr>
            <p:cNvSpPr/>
            <p:nvPr/>
          </p:nvSpPr>
          <p:spPr>
            <a:xfrm>
              <a:off x="4559300" y="3327400"/>
              <a:ext cx="2768600" cy="1104900"/>
            </a:xfrm>
            <a:prstGeom prst="roundRect">
              <a:avLst>
                <a:gd name="adj" fmla="val 22000"/>
              </a:avLst>
            </a:prstGeom>
            <a:solidFill>
              <a:srgbClr val="46EB7E">
                <a:alpha val="6000"/>
              </a:srgbClr>
            </a:solidFill>
            <a:ln w="1905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97CD9296-170D-4B64-7C17-F687C7301423}"/>
                </a:ext>
              </a:extLst>
            </p:cNvPr>
            <p:cNvSpPr txBox="1"/>
            <p:nvPr/>
          </p:nvSpPr>
          <p:spPr>
            <a:xfrm>
              <a:off x="4559300" y="3657600"/>
              <a:ext cx="27686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600" b="1">
                  <a:solidFill>
                    <a:srgbClr val="FFFFFF"/>
                  </a:solidFill>
                  <a:latin typeface="Urbanist" panose="020B0A04040200000203" pitchFamily="34" charset="0"/>
                </a:rPr>
                <a:t>Sistema sob medida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55D4E559-D711-D2FD-E6CA-33DD0493056F}"/>
                </a:ext>
              </a:extLst>
            </p:cNvPr>
            <p:cNvSpPr txBox="1"/>
            <p:nvPr/>
          </p:nvSpPr>
          <p:spPr>
            <a:xfrm>
              <a:off x="4559300" y="3987800"/>
              <a:ext cx="27686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104000"/>
                </a:lnSpc>
              </a:pPr>
              <a:r>
                <a:rPr lang="pt-BR" sz="950">
                  <a:solidFill>
                    <a:srgbClr val="9BA1A6"/>
                  </a:solidFill>
                  <a:latin typeface="Instrument Sans Medium" pitchFamily="2" charset="0"/>
                </a:rPr>
                <a:t>construído em torno da operação</a:t>
              </a:r>
            </a:p>
          </p:txBody>
        </p:sp>
        <p:cxnSp>
          <p:nvCxnSpPr>
            <p:cNvPr id="19" name="Conector reto 18">
              <a:extLst>
                <a:ext uri="{FF2B5EF4-FFF2-40B4-BE49-F238E27FC236}">
                  <a16:creationId xmlns:a16="http://schemas.microsoft.com/office/drawing/2014/main" id="{1F7A3552-41CF-5451-301B-74968ACEF8B9}"/>
                </a:ext>
              </a:extLst>
            </p:cNvPr>
            <p:cNvCxnSpPr/>
            <p:nvPr/>
          </p:nvCxnSpPr>
          <p:spPr>
            <a:xfrm>
              <a:off x="7327900" y="3873500"/>
              <a:ext cx="711200" cy="0"/>
            </a:xfrm>
            <a:prstGeom prst="line">
              <a:avLst/>
            </a:prstGeom>
            <a:ln w="15240" cap="flat" cmpd="sng" algn="ctr">
              <a:solidFill>
                <a:srgbClr val="FFFFFF">
                  <a:alpha val="3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08CC031F-F15C-E1C7-887E-6B081928C71A}"/>
                </a:ext>
              </a:extLst>
            </p:cNvPr>
            <p:cNvSpPr/>
            <p:nvPr/>
          </p:nvSpPr>
          <p:spPr>
            <a:xfrm>
              <a:off x="7645400" y="3835400"/>
              <a:ext cx="76200" cy="762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BA3D76B4-6F65-D697-3E18-B10E7153D08E}"/>
                </a:ext>
              </a:extLst>
            </p:cNvPr>
            <p:cNvSpPr/>
            <p:nvPr/>
          </p:nvSpPr>
          <p:spPr>
            <a:xfrm>
              <a:off x="8064500" y="3644900"/>
              <a:ext cx="2667000" cy="457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250">
                  <a:solidFill>
                    <a:srgbClr val="0B0B0C"/>
                  </a:solidFill>
                  <a:latin typeface="Instrument Sans Medium" pitchFamily="2" charset="0"/>
                </a:rPr>
                <a:t>Decisão com visibilidade</a:t>
              </a:r>
            </a:p>
          </p:txBody>
        </p:sp>
      </p:grp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EB168B61-CBA5-F2FA-4E37-681914AD7229}"/>
              </a:ext>
            </a:extLst>
          </p:cNvPr>
          <p:cNvSpPr txBox="1"/>
          <p:nvPr/>
        </p:nvSpPr>
        <p:spPr>
          <a:xfrm>
            <a:off x="685800" y="5816600"/>
            <a:ext cx="1092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400">
                <a:solidFill>
                  <a:srgbClr val="FFFFFF"/>
                </a:solidFill>
                <a:latin typeface="Instrument Sans Medium" pitchFamily="2" charset="0"/>
              </a:rPr>
              <a:t>Tailor made: personalizado para a sua operação.</a:t>
            </a:r>
            <a:r>
              <a:rPr lang="pt-BR" sz="1400">
                <a:solidFill>
                  <a:srgbClr val="9BA1A6"/>
                </a:solidFill>
                <a:latin typeface="Instrument Sans Medium" pitchFamily="2" charset="0"/>
              </a:rPr>
              <a:t> Você conhece seu negócio; nós conhecemos tecnologia.</a:t>
            </a:r>
          </a:p>
        </p:txBody>
      </p: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0FB38FAE-60E6-5EAA-936A-44F414E05ECA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64655138-A227-4FA7-2170-6670018965FF}"/>
              </a:ext>
            </a:extLst>
          </p:cNvPr>
          <p:cNvCxnSpPr/>
          <p:nvPr/>
        </p:nvCxnSpPr>
        <p:spPr>
          <a:xfrm>
            <a:off x="685800" y="6578600"/>
            <a:ext cx="6523265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lipse 25">
            <a:extLst>
              <a:ext uri="{FF2B5EF4-FFF2-40B4-BE49-F238E27FC236}">
                <a16:creationId xmlns:a16="http://schemas.microsoft.com/office/drawing/2014/main" id="{7F6713D8-6874-C739-8106-6AE29BFC6D8E}"/>
              </a:ext>
            </a:extLst>
          </p:cNvPr>
          <p:cNvSpPr/>
          <p:nvPr/>
        </p:nvSpPr>
        <p:spPr>
          <a:xfrm>
            <a:off x="7158265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56B1424E-233E-8BE0-BA9F-E2ECCC9E24E2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09 / 14</a:t>
            </a:r>
          </a:p>
        </p:txBody>
      </p:sp>
    </p:spTree>
    <p:extLst>
      <p:ext uri="{BB962C8B-B14F-4D97-AF65-F5344CB8AC3E}">
        <p14:creationId xmlns:p14="http://schemas.microsoft.com/office/powerpoint/2010/main" val="14292428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grupar 4">
            <a:extLst>
              <a:ext uri="{FF2B5EF4-FFF2-40B4-BE49-F238E27FC236}">
                <a16:creationId xmlns:a16="http://schemas.microsoft.com/office/drawing/2014/main" id="{65280304-6321-9441-A82D-5F92C5D82A4D}"/>
              </a:ext>
            </a:extLst>
          </p:cNvPr>
          <p:cNvGrpSpPr/>
          <p:nvPr/>
        </p:nvGrpSpPr>
        <p:grpSpPr>
          <a:xfrm>
            <a:off x="685800" y="609600"/>
            <a:ext cx="10134600" cy="699532"/>
            <a:chOff x="685800" y="609600"/>
            <a:chExt cx="10134600" cy="699532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C1E0E060-6AB4-1193-D4E7-D3541AD36CDE}"/>
                </a:ext>
              </a:extLst>
            </p:cNvPr>
            <p:cNvSpPr txBox="1"/>
            <p:nvPr/>
          </p:nvSpPr>
          <p:spPr>
            <a:xfrm>
              <a:off x="685800" y="609600"/>
              <a:ext cx="1422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6800" b="1" spc="-120">
                  <a:ln w="13970" cap="flat" cmpd="sng" algn="ctr">
                    <a:solidFill>
                      <a:srgbClr val="46EB7E">
                        <a:alpha val="65000"/>
                      </a:srgbClr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noFill/>
                  <a:latin typeface="Urbanist" panose="020B0A04040200000203" pitchFamily="34" charset="0"/>
                </a:rPr>
                <a:t>03</a:t>
              </a: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6E267F65-03DE-8E1A-B87F-13B7AF1E6622}"/>
                </a:ext>
              </a:extLst>
            </p:cNvPr>
            <p:cNvSpPr txBox="1"/>
            <p:nvPr/>
          </p:nvSpPr>
          <p:spPr>
            <a:xfrm>
              <a:off x="2438400" y="6604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00" spc="170">
                  <a:solidFill>
                    <a:srgbClr val="46EB7E"/>
                  </a:solidFill>
                  <a:latin typeface="Instrument Sans Medium" pitchFamily="2" charset="0"/>
                </a:rPr>
                <a:t>AGENTES DE IA</a:t>
              </a:r>
            </a:p>
          </p:txBody>
        </p:sp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B554C4CB-D273-AB9A-D0F3-BCA26BFFC028}"/>
                </a:ext>
              </a:extLst>
            </p:cNvPr>
            <p:cNvSpPr txBox="1"/>
            <p:nvPr/>
          </p:nvSpPr>
          <p:spPr>
            <a:xfrm>
              <a:off x="2438400" y="939800"/>
              <a:ext cx="838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Coloque a IA para </a:t>
              </a:r>
              <a:r>
                <a:rPr lang="pt-BR" sz="3800" b="1" spc="-110">
                  <a:solidFill>
                    <a:srgbClr val="46EB7E"/>
                  </a:solidFill>
                  <a:latin typeface="Urbanist" panose="020B0A04040200000203" pitchFamily="34" charset="0"/>
                </a:rPr>
                <a:t>executar trabalho</a:t>
              </a:r>
              <a:r>
                <a:rPr lang="pt-BR" sz="3800" b="1" spc="-110">
                  <a:solidFill>
                    <a:srgbClr val="FFFFFF"/>
                  </a:solidFill>
                  <a:latin typeface="Urbanist" panose="020B0A04040200000203" pitchFamily="34" charset="0"/>
                </a:rPr>
                <a:t> dentro da sua empresa.</a:t>
              </a:r>
            </a:p>
          </p:txBody>
        </p: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0786D65A-4515-C983-7941-CE3A2AF5448F}"/>
              </a:ext>
            </a:extLst>
          </p:cNvPr>
          <p:cNvGrpSpPr/>
          <p:nvPr/>
        </p:nvGrpSpPr>
        <p:grpSpPr>
          <a:xfrm>
            <a:off x="666750" y="2514600"/>
            <a:ext cx="8616950" cy="2743200"/>
            <a:chOff x="666750" y="2514600"/>
            <a:chExt cx="8616950" cy="2743200"/>
          </a:xfrm>
        </p:grpSpPr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73012A70-8FEB-4612-F40A-F778291373E3}"/>
                </a:ext>
              </a:extLst>
            </p:cNvPr>
            <p:cNvSpPr/>
            <p:nvPr/>
          </p:nvSpPr>
          <p:spPr>
            <a:xfrm>
              <a:off x="2222500" y="2654300"/>
              <a:ext cx="2514600" cy="2514600"/>
            </a:xfrm>
            <a:prstGeom prst="ellipse">
              <a:avLst/>
            </a:prstGeom>
            <a:noFill/>
            <a:ln w="1524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978350EC-6094-E734-8970-0F06AD49C8B6}"/>
                </a:ext>
              </a:extLst>
            </p:cNvPr>
            <p:cNvCxnSpPr/>
            <p:nvPr/>
          </p:nvCxnSpPr>
          <p:spPr>
            <a:xfrm flipV="1">
              <a:off x="3479800" y="2781300"/>
              <a:ext cx="635000" cy="113030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E6175F00-451E-FE3B-B593-8F293A9E1560}"/>
                </a:ext>
              </a:extLst>
            </p:cNvPr>
            <p:cNvCxnSpPr/>
            <p:nvPr/>
          </p:nvCxnSpPr>
          <p:spPr>
            <a:xfrm flipH="1" flipV="1">
              <a:off x="2305050" y="2686050"/>
              <a:ext cx="1174750" cy="122555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62B945B3-3765-E544-14D9-E97FA89CB7EB}"/>
                </a:ext>
              </a:extLst>
            </p:cNvPr>
            <p:cNvCxnSpPr/>
            <p:nvPr/>
          </p:nvCxnSpPr>
          <p:spPr>
            <a:xfrm flipH="1" flipV="1">
              <a:off x="1352550" y="3476625"/>
              <a:ext cx="2127250" cy="434975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3EBF36C7-689E-96A0-44D6-76A1489499A0}"/>
                </a:ext>
              </a:extLst>
            </p:cNvPr>
            <p:cNvCxnSpPr/>
            <p:nvPr/>
          </p:nvCxnSpPr>
          <p:spPr>
            <a:xfrm flipH="1">
              <a:off x="1352550" y="3911600"/>
              <a:ext cx="2127250" cy="422275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812EF64E-7E05-E332-1F7D-96C9068B8E1E}"/>
                </a:ext>
              </a:extLst>
            </p:cNvPr>
            <p:cNvCxnSpPr/>
            <p:nvPr/>
          </p:nvCxnSpPr>
          <p:spPr>
            <a:xfrm flipH="1">
              <a:off x="2305050" y="3911600"/>
              <a:ext cx="1174750" cy="117475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7FA39286-1342-D41D-1192-888D761BD5BE}"/>
                </a:ext>
              </a:extLst>
            </p:cNvPr>
            <p:cNvCxnSpPr/>
            <p:nvPr/>
          </p:nvCxnSpPr>
          <p:spPr>
            <a:xfrm>
              <a:off x="3479800" y="3911600"/>
              <a:ext cx="635000" cy="1079500"/>
            </a:xfrm>
            <a:prstGeom prst="line">
              <a:avLst/>
            </a:prstGeom>
            <a:ln w="15240" cap="flat" cmpd="sng" algn="ctr">
              <a:solidFill>
                <a:srgbClr val="FFFFFF">
                  <a:alpha val="22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id="{99159D3B-1E15-C7F2-E2B0-C41C42470DB4}"/>
                </a:ext>
              </a:extLst>
            </p:cNvPr>
            <p:cNvCxnSpPr/>
            <p:nvPr/>
          </p:nvCxnSpPr>
          <p:spPr>
            <a:xfrm flipV="1">
              <a:off x="3987800" y="3441700"/>
              <a:ext cx="2146300" cy="292100"/>
            </a:xfrm>
            <a:prstGeom prst="line">
              <a:avLst/>
            </a:prstGeom>
            <a:ln w="15240" cap="flat" cmpd="sng" algn="ctr">
              <a:solidFill>
                <a:srgbClr val="FFFFFF">
                  <a:alpha val="3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0AE9F53B-4075-7B8A-2B59-D49F19623736}"/>
                </a:ext>
              </a:extLst>
            </p:cNvPr>
            <p:cNvCxnSpPr/>
            <p:nvPr/>
          </p:nvCxnSpPr>
          <p:spPr>
            <a:xfrm>
              <a:off x="3987800" y="4089400"/>
              <a:ext cx="2146300" cy="266700"/>
            </a:xfrm>
            <a:prstGeom prst="line">
              <a:avLst/>
            </a:prstGeom>
            <a:ln w="15240" cap="flat" cmpd="sng" algn="ctr">
              <a:solidFill>
                <a:srgbClr val="FFFFFF">
                  <a:alpha val="3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DE2F08B9-99DD-298E-8EFC-2D6D81E27596}"/>
                </a:ext>
              </a:extLst>
            </p:cNvPr>
            <p:cNvSpPr/>
            <p:nvPr/>
          </p:nvSpPr>
          <p:spPr>
            <a:xfrm>
              <a:off x="4787900" y="3594100"/>
              <a:ext cx="76200" cy="762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A76A145E-72C0-D887-46EC-B957265B75F0}"/>
                </a:ext>
              </a:extLst>
            </p:cNvPr>
            <p:cNvSpPr/>
            <p:nvPr/>
          </p:nvSpPr>
          <p:spPr>
            <a:xfrm>
              <a:off x="3619500" y="2609850"/>
              <a:ext cx="990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CRM</a:t>
              </a:r>
            </a:p>
          </p:txBody>
        </p:sp>
        <p:sp>
          <p:nvSpPr>
            <p:cNvPr id="17" name="Retângulo: Cantos Arredondados 16">
              <a:extLst>
                <a:ext uri="{FF2B5EF4-FFF2-40B4-BE49-F238E27FC236}">
                  <a16:creationId xmlns:a16="http://schemas.microsoft.com/office/drawing/2014/main" id="{453C1882-3813-69A2-471A-0FCFBD3A4432}"/>
                </a:ext>
              </a:extLst>
            </p:cNvPr>
            <p:cNvSpPr/>
            <p:nvPr/>
          </p:nvSpPr>
          <p:spPr>
            <a:xfrm>
              <a:off x="1809750" y="2514600"/>
              <a:ext cx="990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ERP</a:t>
              </a:r>
            </a:p>
          </p:txBody>
        </p:sp>
        <p:sp>
          <p:nvSpPr>
            <p:cNvPr id="18" name="Retângulo: Cantos Arredondados 17">
              <a:extLst>
                <a:ext uri="{FF2B5EF4-FFF2-40B4-BE49-F238E27FC236}">
                  <a16:creationId xmlns:a16="http://schemas.microsoft.com/office/drawing/2014/main" id="{BC61E073-25B7-DEF1-C677-530E7AFB590F}"/>
                </a:ext>
              </a:extLst>
            </p:cNvPr>
            <p:cNvSpPr/>
            <p:nvPr/>
          </p:nvSpPr>
          <p:spPr>
            <a:xfrm>
              <a:off x="666750" y="3305175"/>
              <a:ext cx="1371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WhatsApp</a:t>
              </a:r>
            </a:p>
          </p:txBody>
        </p:sp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163B914E-7F12-BFFF-4E71-C316B7693758}"/>
                </a:ext>
              </a:extLst>
            </p:cNvPr>
            <p:cNvSpPr/>
            <p:nvPr/>
          </p:nvSpPr>
          <p:spPr>
            <a:xfrm>
              <a:off x="666750" y="4162425"/>
              <a:ext cx="1371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E-mail</a:t>
              </a:r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BE7063B3-3015-C245-6C16-4B5804E69C27}"/>
                </a:ext>
              </a:extLst>
            </p:cNvPr>
            <p:cNvSpPr/>
            <p:nvPr/>
          </p:nvSpPr>
          <p:spPr>
            <a:xfrm>
              <a:off x="1714500" y="4914900"/>
              <a:ext cx="11811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Documentos</a:t>
              </a:r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AED5F1E2-A44E-E723-A2BC-0CE46BA02AC9}"/>
                </a:ext>
              </a:extLst>
            </p:cNvPr>
            <p:cNvSpPr/>
            <p:nvPr/>
          </p:nvSpPr>
          <p:spPr>
            <a:xfrm>
              <a:off x="3619500" y="4819650"/>
              <a:ext cx="990600" cy="342900"/>
            </a:xfrm>
            <a:prstGeom prst="roundRect">
              <a:avLst>
                <a:gd name="adj" fmla="val 50000"/>
              </a:avLst>
            </a:prstGeom>
            <a:solidFill>
              <a:srgbClr val="131316"/>
            </a:solidFill>
            <a:ln w="12700" cap="flat" cmpd="sng" algn="ctr">
              <a:solidFill>
                <a:srgbClr val="FFFFFF">
                  <a:alpha val="2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>
              <a:noAutofit/>
            </a:bodyPr>
            <a:lstStyle/>
            <a:p>
              <a:pPr algn="ctr"/>
              <a:r>
                <a:rPr lang="pt-BR" sz="1050">
                  <a:solidFill>
                    <a:srgbClr val="E8EAEC"/>
                  </a:solidFill>
                  <a:latin typeface="Instrument Sans Medium" pitchFamily="2" charset="0"/>
                </a:rPr>
                <a:t>APIs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D317443C-424E-740D-9965-B53F6F863112}"/>
                </a:ext>
              </a:extLst>
            </p:cNvPr>
            <p:cNvSpPr/>
            <p:nvPr/>
          </p:nvSpPr>
          <p:spPr>
            <a:xfrm>
              <a:off x="2933700" y="3365500"/>
              <a:ext cx="1092200" cy="1092200"/>
            </a:xfrm>
            <a:prstGeom prst="ellipse">
              <a:avLst/>
            </a:prstGeom>
            <a:solidFill>
              <a:srgbClr val="101711"/>
            </a:solidFill>
            <a:ln w="19050" cap="flat" cmpd="sng" algn="ctr">
              <a:solidFill>
                <a:srgbClr val="46EB7E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C2F0DF6C-A693-5A9B-F5E0-05D46BAF88B0}"/>
                </a:ext>
              </a:extLst>
            </p:cNvPr>
            <p:cNvSpPr txBox="1"/>
            <p:nvPr/>
          </p:nvSpPr>
          <p:spPr>
            <a:xfrm>
              <a:off x="2971800" y="3797300"/>
              <a:ext cx="1016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400" b="1">
                  <a:solidFill>
                    <a:srgbClr val="FFFFFF"/>
                  </a:solidFill>
                  <a:latin typeface="Urbanist" panose="020B0A04040200000203" pitchFamily="34" charset="0"/>
                </a:rPr>
                <a:t>Agente</a:t>
              </a:r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E9B89658-8F5C-F42C-2B49-0FAB95DC56C4}"/>
                </a:ext>
              </a:extLst>
            </p:cNvPr>
            <p:cNvSpPr/>
            <p:nvPr/>
          </p:nvSpPr>
          <p:spPr>
            <a:xfrm>
              <a:off x="6134100" y="3213100"/>
              <a:ext cx="2565400" cy="457200"/>
            </a:xfrm>
            <a:prstGeom prst="roundRect">
              <a:avLst>
                <a:gd name="adj" fmla="val 50000"/>
              </a:avLst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250">
                  <a:solidFill>
                    <a:srgbClr val="0B0B0C"/>
                  </a:solidFill>
                  <a:latin typeface="Instrument Sans Medium" pitchFamily="2" charset="0"/>
                </a:rPr>
                <a:t>Trabalho executado</a:t>
              </a:r>
            </a:p>
          </p:txBody>
        </p:sp>
        <p:sp>
          <p:nvSpPr>
            <p:cNvPr id="25" name="Retângulo: Cantos Arredondados 24">
              <a:extLst>
                <a:ext uri="{FF2B5EF4-FFF2-40B4-BE49-F238E27FC236}">
                  <a16:creationId xmlns:a16="http://schemas.microsoft.com/office/drawing/2014/main" id="{ACC40F71-FA00-0C31-0E85-8964F9136BFA}"/>
                </a:ext>
              </a:extLst>
            </p:cNvPr>
            <p:cNvSpPr/>
            <p:nvPr/>
          </p:nvSpPr>
          <p:spPr>
            <a:xfrm>
              <a:off x="6134100" y="4127500"/>
              <a:ext cx="3149600" cy="457200"/>
            </a:xfrm>
            <a:prstGeom prst="roundRect">
              <a:avLst>
                <a:gd name="adj" fmla="val 50000"/>
              </a:avLst>
            </a:prstGeom>
            <a:noFill/>
            <a:ln w="12700" cap="flat" cmpd="sng" algn="ctr">
              <a:solidFill>
                <a:srgbClr val="FFFFFF">
                  <a:alpha val="3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50800" tIns="0" rIns="50800" bIns="0" rtlCol="0" anchor="ctr"/>
            <a:lstStyle/>
            <a:p>
              <a:pPr algn="ctr"/>
              <a:r>
                <a:rPr lang="pt-BR" sz="1200">
                  <a:solidFill>
                    <a:srgbClr val="E8EAEC"/>
                  </a:solidFill>
                  <a:latin typeface="Instrument Sans Medium" pitchFamily="2" charset="0"/>
                </a:rPr>
                <a:t>Humano quando necessário</a:t>
              </a:r>
            </a:p>
          </p:txBody>
        </p: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B35072F1-4E94-ABEA-815E-3624F3EC72D1}"/>
              </a:ext>
            </a:extLst>
          </p:cNvPr>
          <p:cNvSpPr txBox="1"/>
          <p:nvPr/>
        </p:nvSpPr>
        <p:spPr>
          <a:xfrm>
            <a:off x="685800" y="581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400">
                <a:solidFill>
                  <a:srgbClr val="FFFFFF"/>
                </a:solidFill>
                <a:latin typeface="Instrument Sans Medium" pitchFamily="2" charset="0"/>
              </a:rPr>
              <a:t>Não é um chatbot.</a:t>
            </a:r>
            <a:r>
              <a:rPr lang="pt-BR" sz="1400">
                <a:solidFill>
                  <a:srgbClr val="9BA1A6"/>
                </a:solidFill>
                <a:latin typeface="Instrument Sans Medium" pitchFamily="2" charset="0"/>
              </a:rPr>
              <a:t> É software que executa etapas de processos — com escopo, regras e permissões.</a:t>
            </a:r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0CF0676D-7CAB-EA43-56EC-C8B18054955D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to 28">
            <a:extLst>
              <a:ext uri="{FF2B5EF4-FFF2-40B4-BE49-F238E27FC236}">
                <a16:creationId xmlns:a16="http://schemas.microsoft.com/office/drawing/2014/main" id="{AF547BDE-869E-57EE-3678-B1B4FAF6B6D8}"/>
              </a:ext>
            </a:extLst>
          </p:cNvPr>
          <p:cNvCxnSpPr/>
          <p:nvPr/>
        </p:nvCxnSpPr>
        <p:spPr>
          <a:xfrm>
            <a:off x="685800" y="6578600"/>
            <a:ext cx="7248072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ipse 29">
            <a:extLst>
              <a:ext uri="{FF2B5EF4-FFF2-40B4-BE49-F238E27FC236}">
                <a16:creationId xmlns:a16="http://schemas.microsoft.com/office/drawing/2014/main" id="{698FABF2-4891-9B44-BBD4-686BF405EAC1}"/>
              </a:ext>
            </a:extLst>
          </p:cNvPr>
          <p:cNvSpPr/>
          <p:nvPr/>
        </p:nvSpPr>
        <p:spPr>
          <a:xfrm>
            <a:off x="7883072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A9BEBA9-59D8-8520-905B-7534FA2F1C25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10 / 14</a:t>
            </a:r>
          </a:p>
        </p:txBody>
      </p:sp>
    </p:spTree>
    <p:extLst>
      <p:ext uri="{BB962C8B-B14F-4D97-AF65-F5344CB8AC3E}">
        <p14:creationId xmlns:p14="http://schemas.microsoft.com/office/powerpoint/2010/main" val="1049102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184AC56-209C-9D99-5DB5-E8C052E8416D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ONDE OS AGENTES ATUAM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FE3A574-E896-0B2F-4FE1-4BC3FD2F94C5}"/>
              </a:ext>
            </a:extLst>
          </p:cNvPr>
          <p:cNvSpPr txBox="1"/>
          <p:nvPr/>
        </p:nvSpPr>
        <p:spPr>
          <a:xfrm>
            <a:off x="685800" y="9652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3800" b="1" spc="-110">
                <a:solidFill>
                  <a:srgbClr val="FFFFFF"/>
                </a:solidFill>
                <a:latin typeface="Urbanist" panose="020B0A04040200000203" pitchFamily="34" charset="0"/>
              </a:rPr>
              <a:t>Atendimento, vendas e </a:t>
            </a:r>
            <a:r>
              <a:rPr lang="pt-BR" sz="3800" b="1" spc="-110">
                <a:solidFill>
                  <a:srgbClr val="46EB7E"/>
                </a:solidFill>
                <a:latin typeface="Urbanist" panose="020B0A04040200000203" pitchFamily="34" charset="0"/>
              </a:rPr>
              <a:t>operação.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730198C1-1332-C874-FD39-11D96FA13A1E}"/>
              </a:ext>
            </a:extLst>
          </p:cNvPr>
          <p:cNvGrpSpPr/>
          <p:nvPr/>
        </p:nvGrpSpPr>
        <p:grpSpPr>
          <a:xfrm>
            <a:off x="679450" y="2476500"/>
            <a:ext cx="3308350" cy="2210832"/>
            <a:chOff x="679450" y="2476500"/>
            <a:chExt cx="3308350" cy="2210832"/>
          </a:xfrm>
        </p:grpSpPr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2CA4DBAF-6002-0FAC-F6A3-69C118E8B4F9}"/>
                </a:ext>
              </a:extLst>
            </p:cNvPr>
            <p:cNvSpPr txBox="1"/>
            <p:nvPr/>
          </p:nvSpPr>
          <p:spPr>
            <a:xfrm>
              <a:off x="685800" y="2476500"/>
              <a:ext cx="279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b="1" spc="-30">
                  <a:solidFill>
                    <a:srgbClr val="FFFFFF"/>
                  </a:solidFill>
                  <a:latin typeface="Urbanist" panose="020B0A04040200000203" pitchFamily="34" charset="0"/>
                </a:rPr>
                <a:t>Atendimento</a:t>
              </a:r>
            </a:p>
          </p:txBody>
        </p:sp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10E39ADF-5A6F-5DF0-C8BE-569808F68EE3}"/>
                </a:ext>
              </a:extLst>
            </p:cNvPr>
            <p:cNvCxnSpPr/>
            <p:nvPr/>
          </p:nvCxnSpPr>
          <p:spPr>
            <a:xfrm>
              <a:off x="749300" y="3136900"/>
              <a:ext cx="0" cy="1282700"/>
            </a:xfrm>
            <a:prstGeom prst="line">
              <a:avLst/>
            </a:prstGeom>
            <a:ln w="1905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FED068B8-9CF4-DECF-CFC5-7B61E7591183}"/>
                </a:ext>
              </a:extLst>
            </p:cNvPr>
            <p:cNvSpPr/>
            <p:nvPr/>
          </p:nvSpPr>
          <p:spPr>
            <a:xfrm>
              <a:off x="679450" y="30797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D7DB3BAE-E3E7-31A8-B2E4-E535B218A57D}"/>
                </a:ext>
              </a:extLst>
            </p:cNvPr>
            <p:cNvSpPr txBox="1"/>
            <p:nvPr/>
          </p:nvSpPr>
          <p:spPr>
            <a:xfrm>
              <a:off x="939800" y="30607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Cliente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386CD6F5-7A0E-6D8B-61A9-9B5147978DB8}"/>
                </a:ext>
              </a:extLst>
            </p:cNvPr>
            <p:cNvSpPr/>
            <p:nvPr/>
          </p:nvSpPr>
          <p:spPr>
            <a:xfrm>
              <a:off x="679450" y="34988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2622D37C-320C-8498-E362-8AE8D50CBF88}"/>
                </a:ext>
              </a:extLst>
            </p:cNvPr>
            <p:cNvSpPr txBox="1"/>
            <p:nvPr/>
          </p:nvSpPr>
          <p:spPr>
            <a:xfrm>
              <a:off x="939800" y="34798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Agente</a:t>
              </a:r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6CE13F0C-02DD-C6BB-BCC9-26D9493D6C05}"/>
                </a:ext>
              </a:extLst>
            </p:cNvPr>
            <p:cNvSpPr/>
            <p:nvPr/>
          </p:nvSpPr>
          <p:spPr>
            <a:xfrm>
              <a:off x="679450" y="39179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DA158294-E641-40E1-149E-9225342698AD}"/>
                </a:ext>
              </a:extLst>
            </p:cNvPr>
            <p:cNvSpPr txBox="1"/>
            <p:nvPr/>
          </p:nvSpPr>
          <p:spPr>
            <a:xfrm>
              <a:off x="939800" y="38989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CRM atualizado</a:t>
              </a:r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5DDB123E-4BF5-F97C-B758-7525249A6CB0}"/>
                </a:ext>
              </a:extLst>
            </p:cNvPr>
            <p:cNvSpPr/>
            <p:nvPr/>
          </p:nvSpPr>
          <p:spPr>
            <a:xfrm>
              <a:off x="679450" y="43370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9611BD36-348B-A584-A5E2-4F3851F9F550}"/>
                </a:ext>
              </a:extLst>
            </p:cNvPr>
            <p:cNvSpPr txBox="1"/>
            <p:nvPr/>
          </p:nvSpPr>
          <p:spPr>
            <a:xfrm>
              <a:off x="939800" y="43180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46EB7E"/>
                  </a:solidFill>
                  <a:latin typeface="Instrument Sans Medium" pitchFamily="2" charset="0"/>
                </a:rPr>
                <a:t>Humano quando necessário</a:t>
              </a:r>
            </a:p>
          </p:txBody>
        </p: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20530B0C-1929-91D5-81FD-23F922C6BEE8}"/>
              </a:ext>
            </a:extLst>
          </p:cNvPr>
          <p:cNvGrpSpPr/>
          <p:nvPr/>
        </p:nvGrpSpPr>
        <p:grpSpPr>
          <a:xfrm>
            <a:off x="4667250" y="2476500"/>
            <a:ext cx="3308350" cy="2210832"/>
            <a:chOff x="4667250" y="2476500"/>
            <a:chExt cx="3308350" cy="2210832"/>
          </a:xfrm>
        </p:grpSpPr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13A9E83C-3782-F256-13BA-AD0279C07C0A}"/>
                </a:ext>
              </a:extLst>
            </p:cNvPr>
            <p:cNvSpPr txBox="1"/>
            <p:nvPr/>
          </p:nvSpPr>
          <p:spPr>
            <a:xfrm>
              <a:off x="4673600" y="2476500"/>
              <a:ext cx="279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b="1" spc="-30">
                  <a:solidFill>
                    <a:srgbClr val="FFFFFF"/>
                  </a:solidFill>
                  <a:latin typeface="Urbanist" panose="020B0A04040200000203" pitchFamily="34" charset="0"/>
                </a:rPr>
                <a:t>Vendas</a:t>
              </a:r>
            </a:p>
          </p:txBody>
        </p: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CE4F56EC-233F-04F1-BC55-86726F550542}"/>
                </a:ext>
              </a:extLst>
            </p:cNvPr>
            <p:cNvCxnSpPr/>
            <p:nvPr/>
          </p:nvCxnSpPr>
          <p:spPr>
            <a:xfrm>
              <a:off x="4737100" y="3136900"/>
              <a:ext cx="0" cy="1282700"/>
            </a:xfrm>
            <a:prstGeom prst="line">
              <a:avLst/>
            </a:prstGeom>
            <a:ln w="1905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13D2B1BF-A3B2-3F27-D1BF-610C53F2EF3F}"/>
                </a:ext>
              </a:extLst>
            </p:cNvPr>
            <p:cNvSpPr/>
            <p:nvPr/>
          </p:nvSpPr>
          <p:spPr>
            <a:xfrm>
              <a:off x="4667250" y="30797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952B9D24-0FE7-C320-02F8-76B8BC411069}"/>
                </a:ext>
              </a:extLst>
            </p:cNvPr>
            <p:cNvSpPr txBox="1"/>
            <p:nvPr/>
          </p:nvSpPr>
          <p:spPr>
            <a:xfrm>
              <a:off x="4927600" y="30607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Lead</a:t>
              </a: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DABF2A74-72C5-A520-EB23-230B0E52E026}"/>
                </a:ext>
              </a:extLst>
            </p:cNvPr>
            <p:cNvSpPr/>
            <p:nvPr/>
          </p:nvSpPr>
          <p:spPr>
            <a:xfrm>
              <a:off x="4667250" y="34988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AEDDE7B0-E063-1D9E-F4ED-2019552C0878}"/>
                </a:ext>
              </a:extLst>
            </p:cNvPr>
            <p:cNvSpPr txBox="1"/>
            <p:nvPr/>
          </p:nvSpPr>
          <p:spPr>
            <a:xfrm>
              <a:off x="4927600" y="34798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Qualificação</a:t>
              </a:r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DFC5ABF6-87DC-AF23-C472-E55A5D923719}"/>
                </a:ext>
              </a:extLst>
            </p:cNvPr>
            <p:cNvSpPr/>
            <p:nvPr/>
          </p:nvSpPr>
          <p:spPr>
            <a:xfrm>
              <a:off x="4667250" y="39179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AE8C3C6E-3D6C-BA63-117C-0C8AFFA3EC41}"/>
                </a:ext>
              </a:extLst>
            </p:cNvPr>
            <p:cNvSpPr txBox="1"/>
            <p:nvPr/>
          </p:nvSpPr>
          <p:spPr>
            <a:xfrm>
              <a:off x="4927600" y="38989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Follow-up</a:t>
              </a:r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4AF03FDD-92B5-DD4C-4CB4-623B3DF18D4E}"/>
                </a:ext>
              </a:extLst>
            </p:cNvPr>
            <p:cNvSpPr/>
            <p:nvPr/>
          </p:nvSpPr>
          <p:spPr>
            <a:xfrm>
              <a:off x="4667250" y="43370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574A9E00-490D-D4B9-286E-A82FF8DA5A1D}"/>
                </a:ext>
              </a:extLst>
            </p:cNvPr>
            <p:cNvSpPr txBox="1"/>
            <p:nvPr/>
          </p:nvSpPr>
          <p:spPr>
            <a:xfrm>
              <a:off x="4927600" y="43180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46EB7E"/>
                  </a:solidFill>
                  <a:latin typeface="Instrument Sans Medium" pitchFamily="2" charset="0"/>
                </a:rPr>
                <a:t>Vendedor preparado</a:t>
              </a:r>
            </a:p>
          </p:txBody>
        </p:sp>
      </p:grpSp>
      <p:grpSp>
        <p:nvGrpSpPr>
          <p:cNvPr id="36" name="Agrupar 35">
            <a:extLst>
              <a:ext uri="{FF2B5EF4-FFF2-40B4-BE49-F238E27FC236}">
                <a16:creationId xmlns:a16="http://schemas.microsoft.com/office/drawing/2014/main" id="{B84B0EBD-69BE-464B-9307-857B701A44C7}"/>
              </a:ext>
            </a:extLst>
          </p:cNvPr>
          <p:cNvGrpSpPr/>
          <p:nvPr/>
        </p:nvGrpSpPr>
        <p:grpSpPr>
          <a:xfrm>
            <a:off x="8274050" y="2476500"/>
            <a:ext cx="3308350" cy="2210832"/>
            <a:chOff x="8274050" y="2476500"/>
            <a:chExt cx="3308350" cy="2210832"/>
          </a:xfrm>
        </p:grpSpPr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6AABA279-1F80-4F32-DD37-8812D12E19C9}"/>
                </a:ext>
              </a:extLst>
            </p:cNvPr>
            <p:cNvSpPr txBox="1"/>
            <p:nvPr/>
          </p:nvSpPr>
          <p:spPr>
            <a:xfrm>
              <a:off x="8280400" y="2476500"/>
              <a:ext cx="2794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b="1" spc="-30">
                  <a:solidFill>
                    <a:srgbClr val="FFFFFF"/>
                  </a:solidFill>
                  <a:latin typeface="Urbanist" panose="020B0A04040200000203" pitchFamily="34" charset="0"/>
                </a:rPr>
                <a:t>Operação</a:t>
              </a:r>
            </a:p>
          </p:txBody>
        </p:sp>
        <p:cxnSp>
          <p:nvCxnSpPr>
            <p:cNvPr id="27" name="Conector reto 26">
              <a:extLst>
                <a:ext uri="{FF2B5EF4-FFF2-40B4-BE49-F238E27FC236}">
                  <a16:creationId xmlns:a16="http://schemas.microsoft.com/office/drawing/2014/main" id="{DC6ED7DA-BA41-EB93-4656-DB832257EA90}"/>
                </a:ext>
              </a:extLst>
            </p:cNvPr>
            <p:cNvCxnSpPr/>
            <p:nvPr/>
          </p:nvCxnSpPr>
          <p:spPr>
            <a:xfrm>
              <a:off x="8343900" y="3136900"/>
              <a:ext cx="0" cy="1282700"/>
            </a:xfrm>
            <a:prstGeom prst="line">
              <a:avLst/>
            </a:prstGeom>
            <a:ln w="19050" cap="flat" cmpd="sng" algn="ctr">
              <a:solidFill>
                <a:srgbClr val="FFFFFF">
                  <a:alpha val="14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Elipse 27">
              <a:extLst>
                <a:ext uri="{FF2B5EF4-FFF2-40B4-BE49-F238E27FC236}">
                  <a16:creationId xmlns:a16="http://schemas.microsoft.com/office/drawing/2014/main" id="{10BF250F-05F3-5E51-3A0E-C6867B8A9921}"/>
                </a:ext>
              </a:extLst>
            </p:cNvPr>
            <p:cNvSpPr/>
            <p:nvPr/>
          </p:nvSpPr>
          <p:spPr>
            <a:xfrm>
              <a:off x="8274050" y="30797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4EE00F0F-F2B4-C93E-2531-AB58DCFDA432}"/>
                </a:ext>
              </a:extLst>
            </p:cNvPr>
            <p:cNvSpPr txBox="1"/>
            <p:nvPr/>
          </p:nvSpPr>
          <p:spPr>
            <a:xfrm>
              <a:off x="8534400" y="30607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Sistemas + dados</a:t>
              </a:r>
            </a:p>
          </p:txBody>
        </p:sp>
        <p:sp>
          <p:nvSpPr>
            <p:cNvPr id="30" name="Elipse 29">
              <a:extLst>
                <a:ext uri="{FF2B5EF4-FFF2-40B4-BE49-F238E27FC236}">
                  <a16:creationId xmlns:a16="http://schemas.microsoft.com/office/drawing/2014/main" id="{6011DEE0-9D42-9B4B-DAA1-2D91E28831DD}"/>
                </a:ext>
              </a:extLst>
            </p:cNvPr>
            <p:cNvSpPr/>
            <p:nvPr/>
          </p:nvSpPr>
          <p:spPr>
            <a:xfrm>
              <a:off x="8274050" y="34988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id="{94E91A83-E47B-9565-404C-37E7099CD7E7}"/>
                </a:ext>
              </a:extLst>
            </p:cNvPr>
            <p:cNvSpPr txBox="1"/>
            <p:nvPr/>
          </p:nvSpPr>
          <p:spPr>
            <a:xfrm>
              <a:off x="8534400" y="34798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Agente</a:t>
              </a:r>
            </a:p>
          </p:txBody>
        </p:sp>
        <p:sp>
          <p:nvSpPr>
            <p:cNvPr id="32" name="Elipse 31">
              <a:extLst>
                <a:ext uri="{FF2B5EF4-FFF2-40B4-BE49-F238E27FC236}">
                  <a16:creationId xmlns:a16="http://schemas.microsoft.com/office/drawing/2014/main" id="{7ADA2A43-3536-456B-5F39-6B3955ED677F}"/>
                </a:ext>
              </a:extLst>
            </p:cNvPr>
            <p:cNvSpPr/>
            <p:nvPr/>
          </p:nvSpPr>
          <p:spPr>
            <a:xfrm>
              <a:off x="8274050" y="3917950"/>
              <a:ext cx="139700" cy="139700"/>
            </a:xfrm>
            <a:prstGeom prst="ellipse">
              <a:avLst/>
            </a:prstGeom>
            <a:solidFill>
              <a:srgbClr val="0B0B0C"/>
            </a:solidFill>
            <a:ln w="19050" cap="flat" cmpd="sng" algn="ctr">
              <a:solidFill>
                <a:srgbClr val="9BA1A6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CaixaDeTexto 32">
              <a:extLst>
                <a:ext uri="{FF2B5EF4-FFF2-40B4-BE49-F238E27FC236}">
                  <a16:creationId xmlns:a16="http://schemas.microsoft.com/office/drawing/2014/main" id="{BBCD2191-364C-14E0-7859-65C137AA7CD0}"/>
                </a:ext>
              </a:extLst>
            </p:cNvPr>
            <p:cNvSpPr txBox="1"/>
            <p:nvPr/>
          </p:nvSpPr>
          <p:spPr>
            <a:xfrm>
              <a:off x="8534400" y="38989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E8EAEC"/>
                  </a:solidFill>
                  <a:latin typeface="Instrument Sans Medium" pitchFamily="2" charset="0"/>
                </a:rPr>
                <a:t>Análise</a:t>
              </a:r>
            </a:p>
          </p:txBody>
        </p:sp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2E776207-62F1-239B-20BE-D4F0616416AC}"/>
                </a:ext>
              </a:extLst>
            </p:cNvPr>
            <p:cNvSpPr/>
            <p:nvPr/>
          </p:nvSpPr>
          <p:spPr>
            <a:xfrm>
              <a:off x="8274050" y="4337050"/>
              <a:ext cx="139700" cy="1397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DA69CAE8-E86F-8978-0A93-DEFAA42C8B8B}"/>
                </a:ext>
              </a:extLst>
            </p:cNvPr>
            <p:cNvSpPr txBox="1"/>
            <p:nvPr/>
          </p:nvSpPr>
          <p:spPr>
            <a:xfrm>
              <a:off x="8534400" y="4318000"/>
              <a:ext cx="3048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250">
                  <a:solidFill>
                    <a:srgbClr val="46EB7E"/>
                  </a:solidFill>
                  <a:latin typeface="Instrument Sans Medium" pitchFamily="2" charset="0"/>
                </a:rPr>
                <a:t>Ação</a:t>
              </a:r>
            </a:p>
          </p:txBody>
        </p:sp>
      </p:grp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FDB40308-1917-A01A-8983-003BBE08C702}"/>
              </a:ext>
            </a:extLst>
          </p:cNvPr>
          <p:cNvCxnSpPr/>
          <p:nvPr/>
        </p:nvCxnSpPr>
        <p:spPr>
          <a:xfrm>
            <a:off x="4292600" y="2476500"/>
            <a:ext cx="0" cy="24130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7906AA8A-C277-CA54-C42D-E44ADDDBEBE0}"/>
              </a:ext>
            </a:extLst>
          </p:cNvPr>
          <p:cNvCxnSpPr/>
          <p:nvPr/>
        </p:nvCxnSpPr>
        <p:spPr>
          <a:xfrm>
            <a:off x="7899400" y="2476500"/>
            <a:ext cx="0" cy="2413000"/>
          </a:xfrm>
          <a:prstGeom prst="line">
            <a:avLst/>
          </a:prstGeom>
          <a:ln w="1270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0D80BAA2-C9D5-F4A0-D501-74FF7AEF1D59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48579719-66E2-1C14-EB4E-24AD33A0C464}"/>
              </a:ext>
            </a:extLst>
          </p:cNvPr>
          <p:cNvCxnSpPr/>
          <p:nvPr/>
        </p:nvCxnSpPr>
        <p:spPr>
          <a:xfrm>
            <a:off x="685800" y="6578600"/>
            <a:ext cx="7972878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Elipse 40">
            <a:extLst>
              <a:ext uri="{FF2B5EF4-FFF2-40B4-BE49-F238E27FC236}">
                <a16:creationId xmlns:a16="http://schemas.microsoft.com/office/drawing/2014/main" id="{15652EFD-67C4-A856-E0BA-5A4E559918CC}"/>
              </a:ext>
            </a:extLst>
          </p:cNvPr>
          <p:cNvSpPr/>
          <p:nvPr/>
        </p:nvSpPr>
        <p:spPr>
          <a:xfrm>
            <a:off x="8607878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6EE205E1-3411-EB0A-80CF-2BE2834356B0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11 / 14</a:t>
            </a:r>
          </a:p>
        </p:txBody>
      </p:sp>
    </p:spTree>
    <p:extLst>
      <p:ext uri="{BB962C8B-B14F-4D97-AF65-F5344CB8AC3E}">
        <p14:creationId xmlns:p14="http://schemas.microsoft.com/office/powerpoint/2010/main" val="9130162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C572607-CCF4-DB88-B56F-DA605C861D84}"/>
              </a:ext>
            </a:extLst>
          </p:cNvPr>
          <p:cNvSpPr txBox="1"/>
          <p:nvPr/>
        </p:nvSpPr>
        <p:spPr>
          <a:xfrm>
            <a:off x="685800" y="2413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0F7C47"/>
                </a:solidFill>
                <a:latin typeface="Instrument Sans Medium" pitchFamily="2" charset="0"/>
              </a:rPr>
              <a:t>COMO TRABALHAMOS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F8A2BB3-130F-150E-919D-9D7064E62D4F}"/>
              </a:ext>
            </a:extLst>
          </p:cNvPr>
          <p:cNvSpPr txBox="1"/>
          <p:nvPr/>
        </p:nvSpPr>
        <p:spPr>
          <a:xfrm>
            <a:off x="685800" y="27305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5400" b="1" spc="-160">
                <a:solidFill>
                  <a:srgbClr val="0B0B0C"/>
                </a:solidFill>
                <a:latin typeface="Urbanist" panose="020B0A04040200000203" pitchFamily="34" charset="0"/>
              </a:rPr>
              <a:t>Da dor ao </a:t>
            </a:r>
            <a:r>
              <a:rPr lang="pt-BR" sz="5400" b="1" spc="-160">
                <a:solidFill>
                  <a:srgbClr val="0F7C47"/>
                </a:solidFill>
                <a:latin typeface="Urbanist" panose="020B0A04040200000203" pitchFamily="34" charset="0"/>
              </a:rPr>
              <a:t>software.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78C64D53-E2B0-B5B4-C998-2E7502F36571}"/>
              </a:ext>
            </a:extLst>
          </p:cNvPr>
          <p:cNvCxnSpPr/>
          <p:nvPr/>
        </p:nvCxnSpPr>
        <p:spPr>
          <a:xfrm>
            <a:off x="6235700" y="1435100"/>
            <a:ext cx="0" cy="386080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Agrupar 8">
            <a:extLst>
              <a:ext uri="{FF2B5EF4-FFF2-40B4-BE49-F238E27FC236}">
                <a16:creationId xmlns:a16="http://schemas.microsoft.com/office/drawing/2014/main" id="{726EA1FB-C575-9947-A5A0-02C63392C6D5}"/>
              </a:ext>
            </a:extLst>
          </p:cNvPr>
          <p:cNvGrpSpPr/>
          <p:nvPr/>
        </p:nvGrpSpPr>
        <p:grpSpPr>
          <a:xfrm>
            <a:off x="5969000" y="1168400"/>
            <a:ext cx="5334000" cy="712232"/>
            <a:chOff x="5969000" y="1168400"/>
            <a:chExt cx="5334000" cy="712232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2E8C9F48-DAAF-F3CA-8A69-A92FE3A7D87B}"/>
                </a:ext>
              </a:extLst>
            </p:cNvPr>
            <p:cNvSpPr/>
            <p:nvPr/>
          </p:nvSpPr>
          <p:spPr>
            <a:xfrm>
              <a:off x="5969000" y="11684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EB691935-B524-6589-962E-DFA5D8B8B20A}"/>
                </a:ext>
              </a:extLst>
            </p:cNvPr>
            <p:cNvSpPr txBox="1"/>
            <p:nvPr/>
          </p:nvSpPr>
          <p:spPr>
            <a:xfrm>
              <a:off x="5969000" y="13335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1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5632FAF3-91B8-1CEF-7B7A-3D71650D8F06}"/>
                </a:ext>
              </a:extLst>
            </p:cNvPr>
            <p:cNvSpPr txBox="1"/>
            <p:nvPr/>
          </p:nvSpPr>
          <p:spPr>
            <a:xfrm>
              <a:off x="6731000" y="12192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Entender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0BD1EFFF-C208-F1B3-AD42-F77B9CBB0248}"/>
                </a:ext>
              </a:extLst>
            </p:cNvPr>
            <p:cNvSpPr txBox="1"/>
            <p:nvPr/>
          </p:nvSpPr>
          <p:spPr>
            <a:xfrm>
              <a:off x="6731000" y="15113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Mapeamos problema, impacto e contexto.</a:t>
              </a:r>
            </a:p>
          </p:txBody>
        </p:sp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68D34D-E843-E251-A83E-8B6875552CEA}"/>
              </a:ext>
            </a:extLst>
          </p:cNvPr>
          <p:cNvGrpSpPr/>
          <p:nvPr/>
        </p:nvGrpSpPr>
        <p:grpSpPr>
          <a:xfrm>
            <a:off x="5969000" y="2133600"/>
            <a:ext cx="5334000" cy="712232"/>
            <a:chOff x="5969000" y="2133600"/>
            <a:chExt cx="5334000" cy="712232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9F276DFF-1C22-BA9A-2B24-206E74CC65BD}"/>
                </a:ext>
              </a:extLst>
            </p:cNvPr>
            <p:cNvSpPr/>
            <p:nvPr/>
          </p:nvSpPr>
          <p:spPr>
            <a:xfrm>
              <a:off x="5969000" y="21336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B830C53-C0B5-D74A-85D0-1CE513DBBC5E}"/>
                </a:ext>
              </a:extLst>
            </p:cNvPr>
            <p:cNvSpPr txBox="1"/>
            <p:nvPr/>
          </p:nvSpPr>
          <p:spPr>
            <a:xfrm>
              <a:off x="5969000" y="22987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2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B3C85361-90B3-011E-9C6F-792904D07A72}"/>
                </a:ext>
              </a:extLst>
            </p:cNvPr>
            <p:cNvSpPr txBox="1"/>
            <p:nvPr/>
          </p:nvSpPr>
          <p:spPr>
            <a:xfrm>
              <a:off x="6731000" y="21844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Desenhar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AC7645CD-19BC-9870-70DF-4EBB38E3039F}"/>
                </a:ext>
              </a:extLst>
            </p:cNvPr>
            <p:cNvSpPr txBox="1"/>
            <p:nvPr/>
          </p:nvSpPr>
          <p:spPr>
            <a:xfrm>
              <a:off x="6731000" y="24765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Solução, experiência, arquitetura e integrações.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37AD9228-2E2C-E2B8-B650-D996DF707D12}"/>
              </a:ext>
            </a:extLst>
          </p:cNvPr>
          <p:cNvGrpSpPr/>
          <p:nvPr/>
        </p:nvGrpSpPr>
        <p:grpSpPr>
          <a:xfrm>
            <a:off x="5969000" y="3098800"/>
            <a:ext cx="5334000" cy="712232"/>
            <a:chOff x="5969000" y="3098800"/>
            <a:chExt cx="5334000" cy="712232"/>
          </a:xfrm>
        </p:grpSpPr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AB7EEE07-A0E3-F538-9AD4-36B5FE914D6C}"/>
                </a:ext>
              </a:extLst>
            </p:cNvPr>
            <p:cNvSpPr/>
            <p:nvPr/>
          </p:nvSpPr>
          <p:spPr>
            <a:xfrm>
              <a:off x="5969000" y="30988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5E1FEB5E-1DD0-44D6-2188-48BC1B399394}"/>
                </a:ext>
              </a:extLst>
            </p:cNvPr>
            <p:cNvSpPr txBox="1"/>
            <p:nvPr/>
          </p:nvSpPr>
          <p:spPr>
            <a:xfrm>
              <a:off x="5969000" y="32639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3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53EA91F9-5ED0-FB20-B125-536DD8760001}"/>
                </a:ext>
              </a:extLst>
            </p:cNvPr>
            <p:cNvSpPr txBox="1"/>
            <p:nvPr/>
          </p:nvSpPr>
          <p:spPr>
            <a:xfrm>
              <a:off x="6731000" y="31496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Construir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FF4AE81F-A319-00F7-9991-6004A1651FEC}"/>
                </a:ext>
              </a:extLst>
            </p:cNvPr>
            <p:cNvSpPr txBox="1"/>
            <p:nvPr/>
          </p:nvSpPr>
          <p:spPr>
            <a:xfrm>
              <a:off x="6731000" y="34417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Ciclos curtos, validação contínua.</a:t>
              </a:r>
            </a:p>
          </p:txBody>
        </p:sp>
      </p:grp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C182D105-D134-0CD2-CC3E-4DE8C75AB0D6}"/>
              </a:ext>
            </a:extLst>
          </p:cNvPr>
          <p:cNvGrpSpPr/>
          <p:nvPr/>
        </p:nvGrpSpPr>
        <p:grpSpPr>
          <a:xfrm>
            <a:off x="5969000" y="4064000"/>
            <a:ext cx="5334000" cy="712232"/>
            <a:chOff x="5969000" y="4064000"/>
            <a:chExt cx="5334000" cy="712232"/>
          </a:xfrm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A9406E79-3281-6FE4-F7AF-3BA4AFAC3A03}"/>
                </a:ext>
              </a:extLst>
            </p:cNvPr>
            <p:cNvSpPr/>
            <p:nvPr/>
          </p:nvSpPr>
          <p:spPr>
            <a:xfrm>
              <a:off x="5969000" y="406400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 cap="flat" cmpd="sng" algn="ctr">
              <a:solidFill>
                <a:srgbClr val="0B0B0C">
                  <a:alpha val="18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86483299-E9AE-0ED7-7AD9-9B8B713859FB}"/>
                </a:ext>
              </a:extLst>
            </p:cNvPr>
            <p:cNvSpPr txBox="1"/>
            <p:nvPr/>
          </p:nvSpPr>
          <p:spPr>
            <a:xfrm>
              <a:off x="5969000" y="42291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4</a:t>
              </a: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79F90FDB-8B9E-9B0A-14AB-946D14A81C9A}"/>
                </a:ext>
              </a:extLst>
            </p:cNvPr>
            <p:cNvSpPr txBox="1"/>
            <p:nvPr/>
          </p:nvSpPr>
          <p:spPr>
            <a:xfrm>
              <a:off x="6731000" y="41148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Implantar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07486C6B-62A9-4C0B-0E56-2610A243D973}"/>
                </a:ext>
              </a:extLst>
            </p:cNvPr>
            <p:cNvSpPr txBox="1"/>
            <p:nvPr/>
          </p:nvSpPr>
          <p:spPr>
            <a:xfrm>
              <a:off x="6731000" y="44069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Na operação real.</a:t>
              </a:r>
            </a:p>
          </p:txBody>
        </p:sp>
      </p:grp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B7347CE6-9CA9-0B9D-7075-8D8FA59E14C2}"/>
              </a:ext>
            </a:extLst>
          </p:cNvPr>
          <p:cNvGrpSpPr/>
          <p:nvPr/>
        </p:nvGrpSpPr>
        <p:grpSpPr>
          <a:xfrm>
            <a:off x="5969000" y="5029200"/>
            <a:ext cx="5334000" cy="712232"/>
            <a:chOff x="5969000" y="5029200"/>
            <a:chExt cx="5334000" cy="712232"/>
          </a:xfrm>
        </p:grpSpPr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C156E4C5-A809-40E3-8F84-98D183F3A40A}"/>
                </a:ext>
              </a:extLst>
            </p:cNvPr>
            <p:cNvSpPr/>
            <p:nvPr/>
          </p:nvSpPr>
          <p:spPr>
            <a:xfrm>
              <a:off x="5969000" y="5029200"/>
              <a:ext cx="533400" cy="533400"/>
            </a:xfrm>
            <a:prstGeom prst="ellipse">
              <a:avLst/>
            </a:prstGeom>
            <a:solidFill>
              <a:srgbClr val="46EB7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7EB87AA7-D9EA-D2B0-9EA4-5E0C90B30FED}"/>
                </a:ext>
              </a:extLst>
            </p:cNvPr>
            <p:cNvSpPr txBox="1"/>
            <p:nvPr/>
          </p:nvSpPr>
          <p:spPr>
            <a:xfrm>
              <a:off x="5969000" y="5194300"/>
              <a:ext cx="5334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</a:pPr>
              <a:r>
                <a:rPr lang="pt-BR" sz="1300" b="1">
                  <a:solidFill>
                    <a:srgbClr val="0B0B0C"/>
                  </a:solidFill>
                  <a:latin typeface="Urbanist" panose="020B0A04040200000203" pitchFamily="34" charset="0"/>
                </a:rPr>
                <a:t>5</a:t>
              </a:r>
            </a:p>
          </p:txBody>
        </p:sp>
        <p:sp>
          <p:nvSpPr>
            <p:cNvPr id="27" name="CaixaDeTexto 26">
              <a:extLst>
                <a:ext uri="{FF2B5EF4-FFF2-40B4-BE49-F238E27FC236}">
                  <a16:creationId xmlns:a16="http://schemas.microsoft.com/office/drawing/2014/main" id="{CEA2CC8F-1EAB-EC7F-24D5-A0D5BE269F16}"/>
                </a:ext>
              </a:extLst>
            </p:cNvPr>
            <p:cNvSpPr txBox="1"/>
            <p:nvPr/>
          </p:nvSpPr>
          <p:spPr>
            <a:xfrm>
              <a:off x="6731000" y="50800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50" b="1" spc="-20">
                  <a:solidFill>
                    <a:srgbClr val="0B0B0C"/>
                  </a:solidFill>
                  <a:latin typeface="Urbanist" panose="020B0A04040200000203" pitchFamily="34" charset="0"/>
                </a:rPr>
                <a:t>Evoluir</a:t>
              </a:r>
            </a:p>
          </p:txBody>
        </p: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3CA68053-48F3-F7A1-CE24-7F0153B94E7C}"/>
                </a:ext>
              </a:extLst>
            </p:cNvPr>
            <p:cNvSpPr txBox="1"/>
            <p:nvPr/>
          </p:nvSpPr>
          <p:spPr>
            <a:xfrm>
              <a:off x="6731000" y="5372100"/>
              <a:ext cx="4572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>
                <a:lnSpc>
                  <a:spcPct val="104000"/>
                </a:lnSpc>
              </a:pPr>
              <a:r>
                <a:rPr lang="pt-BR" sz="1050">
                  <a:solidFill>
                    <a:srgbClr val="575C61"/>
                  </a:solidFill>
                  <a:latin typeface="Instrument Sans Medium" pitchFamily="2" charset="0"/>
                </a:rPr>
                <a:t>Uso, resultados e novas oportunidades.</a:t>
              </a:r>
            </a:p>
          </p:txBody>
        </p:sp>
      </p:grp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FD1B84D5-BDC4-19E3-7077-F254FAB894E9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0B0B0C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7EE62BDF-007C-765B-FDE3-64850CE87C5A}"/>
              </a:ext>
            </a:extLst>
          </p:cNvPr>
          <p:cNvCxnSpPr/>
          <p:nvPr/>
        </p:nvCxnSpPr>
        <p:spPr>
          <a:xfrm>
            <a:off x="685800" y="6578600"/>
            <a:ext cx="8697685" cy="0"/>
          </a:xfrm>
          <a:prstGeom prst="line">
            <a:avLst/>
          </a:prstGeom>
          <a:ln w="19050" cap="flat" cmpd="sng" algn="ctr">
            <a:solidFill>
              <a:srgbClr val="0F7C4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396B443B-E5AE-4C23-4E56-A8CA8AF80C2D}"/>
              </a:ext>
            </a:extLst>
          </p:cNvPr>
          <p:cNvSpPr/>
          <p:nvPr/>
        </p:nvSpPr>
        <p:spPr>
          <a:xfrm>
            <a:off x="9332685" y="6527800"/>
            <a:ext cx="101600" cy="101600"/>
          </a:xfrm>
          <a:prstGeom prst="ellipse">
            <a:avLst/>
          </a:prstGeom>
          <a:solidFill>
            <a:srgbClr val="0F7C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59D607D-F469-153C-4806-79C49B08FA06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575C61"/>
                </a:solidFill>
                <a:latin typeface="Instrument Sans Medium" pitchFamily="2" charset="0"/>
              </a:rPr>
              <a:t>12 / 14</a:t>
            </a:r>
          </a:p>
        </p:txBody>
      </p:sp>
    </p:spTree>
    <p:extLst>
      <p:ext uri="{BB962C8B-B14F-4D97-AF65-F5344CB8AC3E}">
        <p14:creationId xmlns:p14="http://schemas.microsoft.com/office/powerpoint/2010/main" val="23349119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0204FDB-64D0-CB72-AB93-8246583200A1}"/>
              </a:ext>
            </a:extLst>
          </p:cNvPr>
          <p:cNvSpPr txBox="1"/>
          <p:nvPr/>
        </p:nvSpPr>
        <p:spPr>
          <a:xfrm>
            <a:off x="685800" y="571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000" spc="170">
                <a:solidFill>
                  <a:srgbClr val="46EB7E"/>
                </a:solidFill>
                <a:latin typeface="Instrument Sans Medium" pitchFamily="2" charset="0"/>
              </a:rPr>
              <a:t>PARA QUEM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B3117D7-91B1-530E-60AC-4FB475C660B8}"/>
              </a:ext>
            </a:extLst>
          </p:cNvPr>
          <p:cNvSpPr txBox="1"/>
          <p:nvPr/>
        </p:nvSpPr>
        <p:spPr>
          <a:xfrm>
            <a:off x="685800" y="965200"/>
            <a:ext cx="1082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4300" b="1" spc="-120">
                <a:solidFill>
                  <a:srgbClr val="FFFFFF"/>
                </a:solidFill>
                <a:latin typeface="Urbanist" panose="020B0A04040200000203" pitchFamily="34" charset="0"/>
              </a:rPr>
              <a:t>Para empresas que já têm operação —
e querem chegar ao </a:t>
            </a:r>
            <a:r>
              <a:rPr lang="pt-BR" sz="4300" b="1" spc="-120">
                <a:solidFill>
                  <a:srgbClr val="46EB7E"/>
                </a:solidFill>
                <a:latin typeface="Urbanist" panose="020B0A04040200000203" pitchFamily="34" charset="0"/>
              </a:rPr>
              <a:t>próximo nível.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463FC490-3FB3-10DD-1659-6E5FA452CD01}"/>
              </a:ext>
            </a:extLst>
          </p:cNvPr>
          <p:cNvSpPr/>
          <p:nvPr/>
        </p:nvSpPr>
        <p:spPr>
          <a:xfrm>
            <a:off x="685800" y="2946400"/>
            <a:ext cx="24130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Processos que não escalam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16D2F74-24CB-7145-C397-F34B4182DAA6}"/>
              </a:ext>
            </a:extLst>
          </p:cNvPr>
          <p:cNvSpPr/>
          <p:nvPr/>
        </p:nvSpPr>
        <p:spPr>
          <a:xfrm>
            <a:off x="3238500" y="2946400"/>
            <a:ext cx="21844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Sistemas desconectados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8131E06-063D-66C9-43D9-FD0D75FBE0B5}"/>
              </a:ext>
            </a:extLst>
          </p:cNvPr>
          <p:cNvSpPr/>
          <p:nvPr/>
        </p:nvSpPr>
        <p:spPr>
          <a:xfrm>
            <a:off x="5562600" y="2946400"/>
            <a:ext cx="17145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Dados espalhados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0EEBDBFF-BC8E-35FE-50F7-A542CAFF03C9}"/>
              </a:ext>
            </a:extLst>
          </p:cNvPr>
          <p:cNvSpPr/>
          <p:nvPr/>
        </p:nvSpPr>
        <p:spPr>
          <a:xfrm>
            <a:off x="7416800" y="2946400"/>
            <a:ext cx="3327400" cy="4191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250">
                <a:solidFill>
                  <a:srgbClr val="E8EAEC"/>
                </a:solidFill>
                <a:latin typeface="Instrument Sans Medium" pitchFamily="2" charset="0"/>
              </a:rPr>
              <a:t>Oportunidades digitais não exploradas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892695E-BB78-C272-C58F-9F2BFAC33A3C}"/>
              </a:ext>
            </a:extLst>
          </p:cNvPr>
          <p:cNvSpPr txBox="1"/>
          <p:nvPr/>
        </p:nvSpPr>
        <p:spPr>
          <a:xfrm>
            <a:off x="685800" y="5461000"/>
            <a:ext cx="812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30000"/>
              </a:lnSpc>
            </a:pPr>
            <a:r>
              <a:rPr lang="pt-BR" sz="1500">
                <a:solidFill>
                  <a:srgbClr val="9BA1A6"/>
                </a:solidFill>
                <a:latin typeface="Instrument Sans Medium" pitchFamily="2" charset="0"/>
              </a:rPr>
              <a:t>Se a empresa já funciona, mas a tecnologia começou a limitar o crescimento, </a:t>
            </a:r>
            <a:r>
              <a:rPr lang="pt-BR" sz="1500">
                <a:solidFill>
                  <a:srgbClr val="46EB7E"/>
                </a:solidFill>
                <a:latin typeface="Instrument Sans Medium" pitchFamily="2" charset="0"/>
              </a:rPr>
              <a:t>provavelmente existe algo que podemos construir.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767EBD38-1489-3F68-63D4-34BEC5D94AEF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7B4CF7E9-3971-5A94-16BB-F3A44DAD5590}"/>
              </a:ext>
            </a:extLst>
          </p:cNvPr>
          <p:cNvCxnSpPr/>
          <p:nvPr/>
        </p:nvCxnSpPr>
        <p:spPr>
          <a:xfrm>
            <a:off x="685800" y="6578600"/>
            <a:ext cx="9422493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F7184076-1D36-7F84-347D-604A20E38491}"/>
              </a:ext>
            </a:extLst>
          </p:cNvPr>
          <p:cNvSpPr/>
          <p:nvPr/>
        </p:nvSpPr>
        <p:spPr>
          <a:xfrm>
            <a:off x="10057493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E121A25-2FBA-115F-646B-3E18FF5D6C5B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13 / 14</a:t>
            </a:r>
          </a:p>
        </p:txBody>
      </p:sp>
    </p:spTree>
    <p:extLst>
      <p:ext uri="{BB962C8B-B14F-4D97-AF65-F5344CB8AC3E}">
        <p14:creationId xmlns:p14="http://schemas.microsoft.com/office/powerpoint/2010/main" val="8073345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 animBg="1"/>
      <p:bldP spid="6" grpId="0" animBg="1"/>
      <p:bldP spid="7" grpId="0" animBg="1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9374C0C2-89E6-5702-07D3-8DF5B373256A}"/>
              </a:ext>
            </a:extLst>
          </p:cNvPr>
          <p:cNvSpPr/>
          <p:nvPr/>
        </p:nvSpPr>
        <p:spPr>
          <a:xfrm>
            <a:off x="7810500" y="2730500"/>
            <a:ext cx="6273800" cy="6273800"/>
          </a:xfrm>
          <a:prstGeom prst="ellipse">
            <a:avLst/>
          </a:prstGeom>
          <a:solidFill>
            <a:srgbClr val="46EB7E">
              <a:alpha val="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DB47D998-79E3-B8B8-0C56-94C8AB5D5AC8}"/>
              </a:ext>
            </a:extLst>
          </p:cNvPr>
          <p:cNvSpPr/>
          <p:nvPr/>
        </p:nvSpPr>
        <p:spPr>
          <a:xfrm>
            <a:off x="8801100" y="3721100"/>
            <a:ext cx="4292600" cy="4292600"/>
          </a:xfrm>
          <a:prstGeom prst="ellipse">
            <a:avLst/>
          </a:prstGeom>
          <a:solidFill>
            <a:srgbClr val="46EB7E">
              <a:alpha val="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124301B0-A304-F0C6-08CF-37C550D9E7ED}"/>
              </a:ext>
            </a:extLst>
          </p:cNvPr>
          <p:cNvSpPr/>
          <p:nvPr/>
        </p:nvSpPr>
        <p:spPr>
          <a:xfrm>
            <a:off x="9715500" y="4635500"/>
            <a:ext cx="2463800" cy="2463800"/>
          </a:xfrm>
          <a:prstGeom prst="ellipse">
            <a:avLst/>
          </a:prstGeom>
          <a:solidFill>
            <a:srgbClr val="46EB7E">
              <a:alpha val="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20E4BE9-4F83-650F-58DF-51177B9ADF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533400"/>
            <a:ext cx="1082566" cy="3048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156B83CE-54F1-2FC1-FB3C-0FB389D1C25A}"/>
              </a:ext>
            </a:extLst>
          </p:cNvPr>
          <p:cNvSpPr txBox="1"/>
          <p:nvPr/>
        </p:nvSpPr>
        <p:spPr>
          <a:xfrm>
            <a:off x="685800" y="20955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pt-BR" sz="5500" b="1" spc="-160">
                <a:solidFill>
                  <a:srgbClr val="FFFFFF"/>
                </a:solidFill>
                <a:latin typeface="Urbanist" panose="020B0A04040200000203" pitchFamily="34" charset="0"/>
              </a:rPr>
              <a:t>Qual problema da sua empresa valeria a pena </a:t>
            </a:r>
            <a:r>
              <a:rPr lang="pt-BR" sz="5500" b="1" spc="-160">
                <a:solidFill>
                  <a:srgbClr val="46EB7E"/>
                </a:solidFill>
                <a:latin typeface="Urbanist" panose="020B0A04040200000203" pitchFamily="34" charset="0"/>
              </a:rPr>
              <a:t>resolver agora?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3C233E2-47B7-4E17-9BBA-E504C87F2C1A}"/>
              </a:ext>
            </a:extLst>
          </p:cNvPr>
          <p:cNvSpPr txBox="1"/>
          <p:nvPr/>
        </p:nvSpPr>
        <p:spPr>
          <a:xfrm>
            <a:off x="685800" y="37084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35000"/>
              </a:lnSpc>
            </a:pPr>
            <a:r>
              <a:rPr lang="pt-BR" sz="1400">
                <a:solidFill>
                  <a:srgbClr val="9BA1A6"/>
                </a:solidFill>
                <a:latin typeface="Instrument Sans Medium" pitchFamily="2" charset="0"/>
              </a:rPr>
              <a:t>Conte o contexto. Vamos entender a oportunidade e avaliar se existe uma solução tecnológica capaz de gerar impacto relevante.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817C32BE-B376-88B0-6EEA-241FAABB3BB9}"/>
              </a:ext>
            </a:extLst>
          </p:cNvPr>
          <p:cNvSpPr/>
          <p:nvPr/>
        </p:nvSpPr>
        <p:spPr>
          <a:xfrm>
            <a:off x="685800" y="4572000"/>
            <a:ext cx="2946400" cy="482600"/>
          </a:xfrm>
          <a:prstGeom prst="roundRect">
            <a:avLst>
              <a:gd name="adj" fmla="val 50000"/>
            </a:avLst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lang="pt-BR" sz="1300">
                <a:solidFill>
                  <a:srgbClr val="0B0B0C"/>
                </a:solidFill>
                <a:latin typeface="Instrument Sans Medium" pitchFamily="2" charset="0"/>
              </a:rPr>
              <a:t>WhatsApp +55 11 94879-3233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A1E82B4-95EC-006D-42A6-B453D328CF69}"/>
              </a:ext>
            </a:extLst>
          </p:cNvPr>
          <p:cNvSpPr/>
          <p:nvPr/>
        </p:nvSpPr>
        <p:spPr>
          <a:xfrm>
            <a:off x="3784600" y="4572000"/>
            <a:ext cx="2184400" cy="482600"/>
          </a:xfrm>
          <a:prstGeom prst="roundRect">
            <a:avLst>
              <a:gd name="adj" fmla="val 50000"/>
            </a:avLst>
          </a:prstGeom>
          <a:solidFill>
            <a:srgbClr val="131316"/>
          </a:solidFill>
          <a:ln w="12700" cap="flat" cmpd="sng" algn="ctr">
            <a:solidFill>
              <a:srgbClr val="FFFFFF">
                <a:alpha val="2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>
            <a:noAutofit/>
          </a:bodyPr>
          <a:lstStyle/>
          <a:p>
            <a:pPr algn="ctr"/>
            <a:r>
              <a:rPr lang="pt-BR" sz="1300">
                <a:solidFill>
                  <a:srgbClr val="E8EAEC"/>
                </a:solidFill>
                <a:latin typeface="Instrument Sans Medium" pitchFamily="2" charset="0"/>
              </a:rPr>
              <a:t>www.dreamy.app.br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05D0FA8-1278-329B-9DC2-0202CB938B4E}"/>
              </a:ext>
            </a:extLst>
          </p:cNvPr>
          <p:cNvSpPr txBox="1"/>
          <p:nvPr/>
        </p:nvSpPr>
        <p:spPr>
          <a:xfrm>
            <a:off x="685800" y="5257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00">
                <a:solidFill>
                  <a:srgbClr val="9BA1A6"/>
                </a:solidFill>
                <a:latin typeface="Instrument Sans Medium" pitchFamily="2" charset="0"/>
              </a:rPr>
              <a:t>Vamos falar sobre o seu negócio.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10C314ED-7DB3-7404-0BB1-711D53082203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FFFFFF">
                <a:alpha val="14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55D9922D-9D26-AAA7-491B-60E2D34B57CA}"/>
              </a:ext>
            </a:extLst>
          </p:cNvPr>
          <p:cNvCxnSpPr/>
          <p:nvPr/>
        </p:nvCxnSpPr>
        <p:spPr>
          <a:xfrm>
            <a:off x="685800" y="6578600"/>
            <a:ext cx="10147300" cy="0"/>
          </a:xfrm>
          <a:prstGeom prst="line">
            <a:avLst/>
          </a:prstGeom>
          <a:ln w="19050" cap="flat" cmpd="sng" algn="ctr">
            <a:solidFill>
              <a:srgbClr val="46EB7E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Elipse 13">
            <a:extLst>
              <a:ext uri="{FF2B5EF4-FFF2-40B4-BE49-F238E27FC236}">
                <a16:creationId xmlns:a16="http://schemas.microsoft.com/office/drawing/2014/main" id="{3253A4C9-1684-5710-F2D7-05B9B202B224}"/>
              </a:ext>
            </a:extLst>
          </p:cNvPr>
          <p:cNvSpPr/>
          <p:nvPr/>
        </p:nvSpPr>
        <p:spPr>
          <a:xfrm>
            <a:off x="10782300" y="6527800"/>
            <a:ext cx="101600" cy="101600"/>
          </a:xfrm>
          <a:prstGeom prst="ellipse">
            <a:avLst/>
          </a:prstGeom>
          <a:solidFill>
            <a:srgbClr val="46EB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751C8EA-7EC2-0DAE-2DD0-22D5904A1E6C}"/>
              </a:ext>
            </a:extLst>
          </p:cNvPr>
          <p:cNvSpPr txBox="1"/>
          <p:nvPr/>
        </p:nvSpPr>
        <p:spPr>
          <a:xfrm>
            <a:off x="10947400" y="6502400"/>
            <a:ext cx="558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04000"/>
              </a:lnSpc>
            </a:pPr>
            <a:r>
              <a:rPr lang="pt-BR" sz="850" spc="80">
                <a:solidFill>
                  <a:srgbClr val="9BA1A6"/>
                </a:solidFill>
                <a:latin typeface="Instrument Sans Medium" pitchFamily="2" charset="0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37843121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 animBg="1"/>
      <p:bldP spid="10" grpId="0" animBg="1"/>
      <p:bldP spid="11" grpId="0"/>
    </p:bld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2504</Words>
  <Application>Microsoft Office PowerPoint</Application>
  <PresentationFormat>Personalizar</PresentationFormat>
  <Paragraphs>204</Paragraphs>
  <Slides>14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0" baseType="lpstr">
      <vt:lpstr>Aptos</vt:lpstr>
      <vt:lpstr>Instrument Sans Medium</vt:lpstr>
      <vt:lpstr>Urbanist</vt:lpstr>
      <vt:lpstr>Arial</vt:lpstr>
      <vt:lpstr>Aptos Display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Dreamy — Apresentação Institucional</dc:title>
  <dc:creator>Dreamy</dc:creator>
  <cp:lastModifiedBy>Luigi Choffe</cp:lastModifiedBy>
  <cp:revision>1</cp:revision>
  <dcterms:created xsi:type="dcterms:W3CDTF">2026-08-25T14:43:16Z</dcterms:created>
  <dcterms:modified xsi:type="dcterms:W3CDTF">2026-08-25T14:43:16Z</dcterms:modified>
</cp:coreProperties>
</file>