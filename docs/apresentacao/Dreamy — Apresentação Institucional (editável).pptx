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embeddedFontLst>
    <p:embeddedFont>
      <p:font typeface="Instrument Sans Medium" pitchFamily="2" charset="0"/>
      <p:regular r:id="rId16"/>
    </p:embeddedFont>
    <p:embeddedFont>
      <p:font typeface="Urbanist" panose="020B0A04040200000203" pitchFamily="34" charset="0"/>
      <p:bold r:id="rId17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DA2606-C742-4145-AC00-CCBD39C995B6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771511-0358-40FB-8DAC-8C9F6D2A50F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6705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quebrar o gelo e fazer a promessa da conversa. ≈ 40s
Obrigado pelo tempo de vocês. Eu sou [seu nome], da Dreamy.
Antes de qualquer slide bonito, uma promessa: nos próximos dez minutos eu não vou falar de tecnologia pela tecnologia. Eu vou falar do negócio de vocês — de onde ele trava hoje e de onde ele pode ganhar mais.
A Dreamy constrói software sob medida e agentes de IA. Mas o nosso ponto de partida é sempre o mesmo, e está aí embaixo no slide: começamos pelo problema. A tecnologia vem depois.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71511-0358-40FB-8DAC-8C9F6D2A50F3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69042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Urgência com dados de mercado — deixe os números falarem e não se alongue. ≈ 40s
Antes de falar da Dreamy, trinta segundos sobre o momento.
88% das empresas no mundo já usam IA em pelo menos uma função — eram 78% há um ano. Só em 2024, foram 252 bilhões de dólares investidos em IA. E quem investe está tendo retorno: em média, 3,7 dólares de volta para cada 1 investido.
[pausa curta]
Ou seja: a pergunta deixou de ser SE vale a pena. A pergunta agora é ONDE — no seu negócio. E é exatamente isso que a gente veio responder.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71511-0358-40FB-8DAC-8C9F6D2A50F3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38351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gerar identificação — a plateia precisa se reconhecer na cena. ≈ 60s
Deixa eu descrever uma empresa, e você me diz se soa familiar.
A empresa cresce. Os processos vão ficando cada vez mais específicos. Os sistemas param de conversar entre si. Alguma planilha — geralmente uma que só uma pessoa entende — passa a sustentar decisões importantes. E lá no comercial, leads esfriam sem ninguém perceber.
[pausa — deixe a cena assentar]
Nada disso é falta de competência. É que a empresa cresceu mais rápido do que a tecnologia dela. E software pronto, de prateleira, não foi feito para o SEU processo — foi feito para a média.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71511-0358-40FB-8DAC-8C9F6D2A50F3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6952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a virada. Slide quase vazio de propósito — a força está na pausa. ≈ 15s
E é exatamente nesse ponto que a gente entra.
[pausa longa — não corra este slide]
Quando o software pronto acaba e o seu problema continua — esse é o nosso território.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71511-0358-40FB-8DAC-8C9F6D2A50F3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94073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remover a maior objeção ('não sei o que pedir') e mostrar honestidade. ≈ 50s
Uma coisa importante: você não precisa chegar para a gente sabendo o que construir.
Nenhum cliente nosso chegou com uma especificação técnica. Eles chegam com uma dor: "isso aqui demora demais", "estou desperdiçando oportunidade comercial", "não consigo enxergar a minha operação".
O nosso trabalho começa aí — nessa régua do slide: entender a dor, medir o impacto, achar a oportunidade, desenhar a solução, e só então escolher a tecnologia. E às vezes a resposta honesta do diagnóstico é: não vale a pena construir nada. Essa honestidade faz parte do serviço — ninguém aqui quer vender software que não devolve resultado.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71511-0358-40FB-8DAC-8C9F6D2A50F3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9277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dar o mapa da conversa e convidar a interrupção (engajamento). ≈ 40s
Na prática, o que a gente constrói se organiza em três frentes.
Um: receita nova — transformar o que a empresa já tem em um produto digital que os clientes dela pagariam para usar. Dois: operação — sistemas construídos em volta do seu processo, e não o contrário. Três: agentes de IA — colocar a IA para executar trabalho de verdade dentro da empresa.
Vou passar rápido pelas três. E pode me interromper na hora em que alguma fizer clique com algo que vocês vivem aí dentro — essa é a parte boa da conversa.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71511-0358-40FB-8DAC-8C9F6D2A50F3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16132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plantar a pergunta que fica na cabeça depois da reunião. ≈ 60s
Primeira frente.
A sua empresa já conquistou o mais difícil: clientes, confiança, conhecimento, distribuição. Isso levou anos. A pergunta que a gente faz é: o que MAIS essas pessoas comprariam de você?
Pode ser um portal, uma assinatura, uma ferramenta que resolve uma dor do seu cliente. Cada produto nasce da base que já existe — por isso esse gráfico é conceitual, sem números: os números vêm do diagnóstico, do SEU caso, não de uma promessa genérica minha.
Mas leva essa pergunta para casa: se uma parte dos seus clientes pagasse por um novo produto digital seu... o que valeria a pena construir?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71511-0358-40FB-8DAC-8C9F6D2A50F3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69523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inverter a lógica 'empresa se adapta ao software' e reforçar a parceria. ≈ 50s
Segunda frente.
Hoje, a informação da sua operação mora em lugares demais — está aí no slide: planilha, ERP, e-mail, documento... e na cabeça de gente boa. Software genérico obriga a SUA empresa a se adaptar a ELE. A gente inverte isso: constrói o sistema em volta do seu processo.
O resultado é um lugar só, com a informação consolidada — e decisão com visibilidade, não no feeling.
E vale repetir: você não precisa trazer a solução pronta. Você conhece o seu negócio; nós conhecemos tecnologia. O desenho a gente faz junto.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71511-0358-40FB-8DAC-8C9F6D2A50F3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06379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desfazer o mal-entendido 'agente = chatbot' e tranquilizar sobre controle. ≈ 50s
Terceira frente — e aqui eu preciso desfazer um mal-entendido.
Agente de IA não é chatbot. É software que executa etapas de um processo: interpreta informação, acessa as ferramentas que VOCÊ autorizar — CRM, ERP, WhatsApp, e-mail, documentos — e faz o trabalho.
Com escopo definido, com regras, com permissões. E quando o assunto precisa de gente, ele passa para gente — está aí na saída de baixo do diagrama.
Autonomia com controle. Sempre nessa ordem.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71511-0358-40FB-8DAC-8C9F6D2A50F3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54444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tornar concreto — três cenas do dia a dia que a plateia reconhece. ≈ 50s
Três lugares onde isso fica concreto.
No atendimento: o agente responde, consulta as informações, registra tudo no CRM — e chama um humano quando a conversa pede um humano.
Em vendas: ele pesquisa o lead, qualifica, prepara o follow-up — o vendedor chega na conversa pronto, em vez de gastar a manhã pesquisando.
Na operação: ele lê sistemas e documentos, consolida, analisa e age.
Repara no padrão das três colunas: o agente fica com o trabalho repetitivo; as pessoas ficam com o que exige gente.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71511-0358-40FB-8DAC-8C9F6D2A50F3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304436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reduzir o risco percebido — processo claro, ciclos curtos, sem sumiço. ≈ 45s
E como é trabalhar com a gente? Cinco passos, sem mistério.
Entender: a gente senta junto e mapeia problema, impacto e contexto. Desenhar: solução, experiência, arquitetura. Construir: em ciclos curtos — você vê o software crescendo e valida no caminho; a gente não some seis meses para voltar com uma surpresa. Implantar: na operação real, com quem usa de verdade. E evoluir: porque software bom não termina — acompanha o negócio.
Em cada ciclo você sabe o que está sendo feito, por quê, e o que vem depois.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71511-0358-40FB-8DAC-8C9F6D2A50F3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60799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qualificar com franqueza — quem tem fit se reconhece e se inclina. ≈ 40s
Sendo bem direto sobre para quem isso funciona: o nosso trabalho rende mais em empresa que já funciona.
Que já tem operação, clientes, time — e sente que a tecnologia virou o freio, e não o motor.
Se, enquanto eu falava, você lembrou de um processo que não escala, de sistemas que não conversam, de dados espalhados por aí... provavelmente existe algo que a gente pode construir juntos.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71511-0358-40FB-8DAC-8C9F6D2A50F3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71876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uma única pergunta + próximo passo simples. Termine e deixe a plateia falar. ≈ 40s
Então eu fecho com a única pergunta que importa hoje:
qual problema da SUA empresa valeria a pena resolver agora?
[pausa — deixe alguém responder; se ninguém responder, chame pelo nome quem demonstrou mais interesse]
Não precisa ser a resposta perfeita. Me conta o contexto, e a gente avalia junto se existe uma solução com impacto de verdade — inclusive se a resposta for "ainda não".
O próximo passo é simples: uma conversa. O WhatsApp está aí no slide. E como diz o nosso site: sem apresentação genérica — na próxima conversa, o assunto é o seu negócio.
Obrigado!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71511-0358-40FB-8DAC-8C9F6D2A50F3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806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BB37F1-B0AA-E6E3-C542-3BA3198C78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43DDF42-D4E1-E515-24B8-830B0655AA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DD50B6-71B5-75F9-C902-B2C385DE0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3449C-FCD2-433A-AFBA-B043EA6C2C26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33DD406-1773-2EBB-9F06-22BA9F0C8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13F76E3-E056-1E88-6D60-36C025E4D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7785A-F68A-4ACC-B72B-28FA95B84B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64792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98D8FD-07A3-6A68-6F08-256114DBD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159A156-C83A-0CA8-9B8C-A872017690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AD925EB-F440-B07A-9729-64095D518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3449C-FCD2-433A-AFBA-B043EA6C2C26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7B0CB7B-32EF-EB22-853B-5BE47628B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3FCBF22-D974-04E0-6236-9135DC373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7785A-F68A-4ACC-B72B-28FA95B84B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1119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8F3A2E-988D-A798-A2DB-324C8E331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86D28C7-2523-2F3C-71D6-C584EF1289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0EEDBA3-B9BF-77FA-E8F5-012BD2E4B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3449C-FCD2-433A-AFBA-B043EA6C2C26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73482AC-FB09-DEFB-471B-820D505E6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ABECD49-E5E2-7358-A16E-7BE1207F9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7785A-F68A-4ACC-B72B-28FA95B84B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49388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D1A063-7794-46BB-E87C-5E3C304CE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E8B4D72-64DE-5EF0-787C-58F70252E0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828CA4B-1C2D-4D21-00DF-6CBBFE66E4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4A955B9-55B3-C897-D2A2-54883D557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3449C-FCD2-433A-AFBA-B043EA6C2C26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3145A82-A52F-2DEA-6DA3-C769A9469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0BC2153-3C73-2C63-0F61-A1BF9DB64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7785A-F68A-4ACC-B72B-28FA95B84B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0269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1C6A71-108A-52B2-A465-53F422E0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655C1C9-3584-8581-8661-3FCBC3A1B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0EC9A26-C995-7FA7-61EE-41021D7BB2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157455C-EBC1-AB42-C5D3-5C9560200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4472204-867D-F7CC-E89A-6A8F52FDBC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3F4297D-3ADE-8406-C577-D41ECD1C6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3449C-FCD2-433A-AFBA-B043EA6C2C26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3A608186-3F74-D713-C992-B02FA47E7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A89FE307-AB1F-FCC1-12DC-214F6C98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7785A-F68A-4ACC-B72B-28FA95B84B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52579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79F6F1-9E53-C51C-6D81-AB8249B95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0C3989BA-4332-F645-503F-8D2FA3F8E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3449C-FCD2-433A-AFBA-B043EA6C2C26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C8C72D3-844B-4351-E299-1CCF8C683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7461323-A2F1-8064-FEFF-36E0722FE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7785A-F68A-4ACC-B72B-28FA95B84B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15273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FA15372-E320-90A6-7B66-EECBB57EE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3449C-FCD2-433A-AFBA-B043EA6C2C26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BB2065F-8E62-BD41-CDA0-D24366EC0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42F7A59-9813-C96B-A89D-8073E31D9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7785A-F68A-4ACC-B72B-28FA95B84B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6081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8B0123-B287-8051-3D9C-4CDD8E04AA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E2777C6-D869-34BC-5BCF-77CB01AFD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32743A9-1054-4906-9E69-9773262025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9B3D145-49FE-CCDB-A526-8E48C4C5E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3449C-FCD2-433A-AFBA-B043EA6C2C26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2E85451-50B1-C91C-3A2D-964F9B117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9AA7539-5373-ABB3-EA82-C3A1AB7BF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7785A-F68A-4ACC-B72B-28FA95B84B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8183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121F8C-57A9-0E23-86C9-6B6DB3641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408170E-C2BD-705D-80D3-7905C6EDD1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4533C60-2ECA-D1E6-A161-52F89E835F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C454B58-1976-358F-3E6A-8BA81AB24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3449C-FCD2-433A-AFBA-B043EA6C2C26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CD700D2-86F9-CC48-2E25-B25643E3D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595B4D6-475A-6275-766D-F31F90553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7785A-F68A-4ACC-B72B-28FA95B84B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97733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0F8606-9121-63ED-4F6A-D90CC3196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276A489-58C7-D14B-8B50-59F3E7CA95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9DBB506-402A-86A8-4A0B-24A6F3C9A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3449C-FCD2-433A-AFBA-B043EA6C2C26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2CD27F5-EEA9-C3F6-1825-022614B2D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E2C148A-F746-5A56-32EC-F6C1A17C1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7785A-F68A-4ACC-B72B-28FA95B84B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3890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580AC1C-D381-E98F-E1E6-6BAEDC467C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B5DB96C-D565-E6BA-866F-8F9E0021B5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AE720B6-D9AB-687E-0791-4FB582077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3449C-FCD2-433A-AFBA-B043EA6C2C26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DC401A5-C69B-2F85-2EA2-41E834FCB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B18BFCB-5683-7F4D-51D4-C2291ADB8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7785A-F68A-4ACC-B72B-28FA95B84B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375530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37CCACB-E755-5473-C414-7821EC0B0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9953ED5-8D3D-D90D-36A4-8F9B36AA55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EE2A432-AFFD-EBE7-2298-C31EBC551F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B3449C-FCD2-433A-AFBA-B043EA6C2C26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3AC48F2-3712-ECCC-5E9B-69FF4EA1B6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A2F46CA-62EA-7025-B5A7-4FA1D8EA3A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97785A-F68A-4ACC-B72B-28FA95B84B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2760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ipse 1">
            <a:extLst>
              <a:ext uri="{FF2B5EF4-FFF2-40B4-BE49-F238E27FC236}">
                <a16:creationId xmlns:a16="http://schemas.microsoft.com/office/drawing/2014/main" id="{129B6730-3317-2BD0-1E85-43F98F4519B3}"/>
              </a:ext>
            </a:extLst>
          </p:cNvPr>
          <p:cNvSpPr/>
          <p:nvPr/>
        </p:nvSpPr>
        <p:spPr>
          <a:xfrm>
            <a:off x="8089900" y="-1435100"/>
            <a:ext cx="5715000" cy="5715000"/>
          </a:xfrm>
          <a:prstGeom prst="ellipse">
            <a:avLst/>
          </a:prstGeom>
          <a:solidFill>
            <a:srgbClr val="46EB7E">
              <a:alpha val="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76513A0D-9E70-3E8A-4EBE-A6E30B9F43BD}"/>
              </a:ext>
            </a:extLst>
          </p:cNvPr>
          <p:cNvSpPr/>
          <p:nvPr/>
        </p:nvSpPr>
        <p:spPr>
          <a:xfrm>
            <a:off x="8953500" y="-571500"/>
            <a:ext cx="3987800" cy="3987800"/>
          </a:xfrm>
          <a:prstGeom prst="ellipse">
            <a:avLst/>
          </a:prstGeom>
          <a:solidFill>
            <a:srgbClr val="46EB7E">
              <a:alpha val="6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91C915CF-E5AD-26C1-3C5B-06B0744EAC9C}"/>
              </a:ext>
            </a:extLst>
          </p:cNvPr>
          <p:cNvSpPr/>
          <p:nvPr/>
        </p:nvSpPr>
        <p:spPr>
          <a:xfrm>
            <a:off x="9804400" y="279400"/>
            <a:ext cx="2286000" cy="2286000"/>
          </a:xfrm>
          <a:prstGeom prst="ellipse">
            <a:avLst/>
          </a:prstGeom>
          <a:solidFill>
            <a:srgbClr val="46EB7E">
              <a:alpha val="7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21B9D78-8421-753B-ACCC-FB090BD470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533400"/>
            <a:ext cx="1082566" cy="3048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1942A3CE-D069-1763-5E8F-04C7C26584A9}"/>
              </a:ext>
            </a:extLst>
          </p:cNvPr>
          <p:cNvSpPr txBox="1"/>
          <p:nvPr/>
        </p:nvSpPr>
        <p:spPr>
          <a:xfrm>
            <a:off x="685800" y="1778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46EB7E"/>
                </a:solidFill>
                <a:latin typeface="Instrument Sans Medium" pitchFamily="2" charset="0"/>
              </a:rPr>
              <a:t>SOFTWARE + INTELIGÊNCIA ARTIFICIAL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B1B40DC-3CE6-F2A0-F8BF-9E85BF401CE9}"/>
              </a:ext>
            </a:extLst>
          </p:cNvPr>
          <p:cNvSpPr txBox="1"/>
          <p:nvPr/>
        </p:nvSpPr>
        <p:spPr>
          <a:xfrm>
            <a:off x="685800" y="19050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  <a:t>Tecnologia sob</a:t>
            </a:r>
            <a:b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</a:br>
            <a: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  <a:t>medida para</a:t>
            </a:r>
            <a:b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</a:br>
            <a:r>
              <a:rPr lang="pt-BR" sz="5200" b="1" spc="-150">
                <a:solidFill>
                  <a:srgbClr val="46EB7E"/>
                </a:solidFill>
                <a:latin typeface="Urbanist" panose="020B0A04040200000203" pitchFamily="34" charset="0"/>
              </a:rPr>
              <a:t>ganhar mais</a:t>
            </a:r>
            <a: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  <a:t> e</a:t>
            </a:r>
            <a:b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</a:br>
            <a: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  <a:t>operar melhor.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B8038C8-934C-2137-F34D-B8A4DFF843C4}"/>
              </a:ext>
            </a:extLst>
          </p:cNvPr>
          <p:cNvSpPr txBox="1"/>
          <p:nvPr/>
        </p:nvSpPr>
        <p:spPr>
          <a:xfrm>
            <a:off x="685800" y="54356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00">
                <a:solidFill>
                  <a:srgbClr val="9BA1A6"/>
                </a:solidFill>
                <a:latin typeface="Instrument Sans Medium" pitchFamily="2" charset="0"/>
              </a:rPr>
              <a:t>Começamos pelo problema. A tecnologia vem depois.</a:t>
            </a:r>
          </a:p>
        </p:txBody>
      </p: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A267200A-4484-1060-7EA6-C0C087364C90}"/>
              </a:ext>
            </a:extLst>
          </p:cNvPr>
          <p:cNvGrpSpPr/>
          <p:nvPr/>
        </p:nvGrpSpPr>
        <p:grpSpPr>
          <a:xfrm>
            <a:off x="7087822" y="1257300"/>
            <a:ext cx="4175856" cy="4140200"/>
            <a:chOff x="7087822" y="1257300"/>
            <a:chExt cx="4175856" cy="4140200"/>
          </a:xfrm>
        </p:grpSpPr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2CBD5FF5-41B5-7006-CFF9-F3634C64672A}"/>
                </a:ext>
              </a:extLst>
            </p:cNvPr>
            <p:cNvSpPr/>
            <p:nvPr/>
          </p:nvSpPr>
          <p:spPr>
            <a:xfrm>
              <a:off x="7302500" y="1422400"/>
              <a:ext cx="3810000" cy="3810000"/>
            </a:xfrm>
            <a:prstGeom prst="ellipse">
              <a:avLst/>
            </a:prstGeom>
            <a:noFill/>
            <a:ln w="1905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0238F43E-4BFF-9444-0E8A-D7B3F8BB711E}"/>
                </a:ext>
              </a:extLst>
            </p:cNvPr>
            <p:cNvSpPr/>
            <p:nvPr/>
          </p:nvSpPr>
          <p:spPr>
            <a:xfrm>
              <a:off x="7785100" y="1905000"/>
              <a:ext cx="2844800" cy="2844800"/>
            </a:xfrm>
            <a:prstGeom prst="ellipse">
              <a:avLst/>
            </a:prstGeom>
            <a:solidFill>
              <a:srgbClr val="46EB7E">
                <a:alpha val="5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3D67EE89-FF4F-AEA5-AE14-F1C369A17EE1}"/>
                </a:ext>
              </a:extLst>
            </p:cNvPr>
            <p:cNvSpPr/>
            <p:nvPr/>
          </p:nvSpPr>
          <p:spPr>
            <a:xfrm>
              <a:off x="8216900" y="2336800"/>
              <a:ext cx="1981200" cy="1981200"/>
            </a:xfrm>
            <a:prstGeom prst="ellipse">
              <a:avLst/>
            </a:prstGeom>
            <a:solidFill>
              <a:srgbClr val="46EB7E">
                <a:alpha val="7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3" name="Conector reto 12">
              <a:extLst>
                <a:ext uri="{FF2B5EF4-FFF2-40B4-BE49-F238E27FC236}">
                  <a16:creationId xmlns:a16="http://schemas.microsoft.com/office/drawing/2014/main" id="{6E31601B-7028-4423-F106-9B13CE4C98DA}"/>
                </a:ext>
              </a:extLst>
            </p:cNvPr>
            <p:cNvCxnSpPr/>
            <p:nvPr/>
          </p:nvCxnSpPr>
          <p:spPr>
            <a:xfrm flipV="1">
              <a:off x="9207500" y="1422400"/>
              <a:ext cx="0" cy="19050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to 13">
              <a:extLst>
                <a:ext uri="{FF2B5EF4-FFF2-40B4-BE49-F238E27FC236}">
                  <a16:creationId xmlns:a16="http://schemas.microsoft.com/office/drawing/2014/main" id="{F2113063-2932-E194-15F3-4BE2DE72BD65}"/>
                </a:ext>
              </a:extLst>
            </p:cNvPr>
            <p:cNvCxnSpPr/>
            <p:nvPr/>
          </p:nvCxnSpPr>
          <p:spPr>
            <a:xfrm flipV="1">
              <a:off x="9207500" y="2374900"/>
              <a:ext cx="1649778" cy="9525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E9E8CA1B-707E-193C-C4B3-1FEBC6D12FF2}"/>
                </a:ext>
              </a:extLst>
            </p:cNvPr>
            <p:cNvCxnSpPr/>
            <p:nvPr/>
          </p:nvCxnSpPr>
          <p:spPr>
            <a:xfrm>
              <a:off x="9207500" y="3327400"/>
              <a:ext cx="1649778" cy="9525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to 15">
              <a:extLst>
                <a:ext uri="{FF2B5EF4-FFF2-40B4-BE49-F238E27FC236}">
                  <a16:creationId xmlns:a16="http://schemas.microsoft.com/office/drawing/2014/main" id="{51D21AA4-78B8-3A01-59EA-31506DCC4F1B}"/>
                </a:ext>
              </a:extLst>
            </p:cNvPr>
            <p:cNvCxnSpPr/>
            <p:nvPr/>
          </p:nvCxnSpPr>
          <p:spPr>
            <a:xfrm>
              <a:off x="9207500" y="3327400"/>
              <a:ext cx="0" cy="19050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992E1AB6-5BBB-8C33-7451-897B0565DF8C}"/>
                </a:ext>
              </a:extLst>
            </p:cNvPr>
            <p:cNvCxnSpPr/>
            <p:nvPr/>
          </p:nvCxnSpPr>
          <p:spPr>
            <a:xfrm flipH="1" flipV="1">
              <a:off x="7557722" y="2374900"/>
              <a:ext cx="1649778" cy="9525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to 17">
              <a:extLst>
                <a:ext uri="{FF2B5EF4-FFF2-40B4-BE49-F238E27FC236}">
                  <a16:creationId xmlns:a16="http://schemas.microsoft.com/office/drawing/2014/main" id="{1CA7E435-BA52-DE0F-816B-176F8B6C5925}"/>
                </a:ext>
              </a:extLst>
            </p:cNvPr>
            <p:cNvCxnSpPr/>
            <p:nvPr/>
          </p:nvCxnSpPr>
          <p:spPr>
            <a:xfrm flipH="1">
              <a:off x="7557722" y="3327400"/>
              <a:ext cx="1649778" cy="9525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tângulo: Cantos Arredondados 18">
              <a:extLst>
                <a:ext uri="{FF2B5EF4-FFF2-40B4-BE49-F238E27FC236}">
                  <a16:creationId xmlns:a16="http://schemas.microsoft.com/office/drawing/2014/main" id="{87AD3860-4188-EE55-DB43-4C1C0D4E195F}"/>
                </a:ext>
              </a:extLst>
            </p:cNvPr>
            <p:cNvSpPr/>
            <p:nvPr/>
          </p:nvSpPr>
          <p:spPr>
            <a:xfrm>
              <a:off x="8737600" y="1257300"/>
              <a:ext cx="939800" cy="3302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00">
                  <a:solidFill>
                    <a:srgbClr val="E8EAEC"/>
                  </a:solidFill>
                  <a:latin typeface="Instrument Sans Medium" pitchFamily="2" charset="0"/>
                </a:rPr>
                <a:t>Clientes</a:t>
              </a:r>
            </a:p>
          </p:txBody>
        </p:sp>
        <p:sp>
          <p:nvSpPr>
            <p:cNvPr id="20" name="Retângulo: Cantos Arredondados 19">
              <a:extLst>
                <a:ext uri="{FF2B5EF4-FFF2-40B4-BE49-F238E27FC236}">
                  <a16:creationId xmlns:a16="http://schemas.microsoft.com/office/drawing/2014/main" id="{475F23A0-80D9-2B9F-983A-CD07CDA431B5}"/>
                </a:ext>
              </a:extLst>
            </p:cNvPr>
            <p:cNvSpPr/>
            <p:nvPr/>
          </p:nvSpPr>
          <p:spPr>
            <a:xfrm>
              <a:off x="10450878" y="2209800"/>
              <a:ext cx="812800" cy="3302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00">
                  <a:solidFill>
                    <a:srgbClr val="E8EAEC"/>
                  </a:solidFill>
                  <a:latin typeface="Instrument Sans Medium" pitchFamily="2" charset="0"/>
                </a:rPr>
                <a:t>Dados</a:t>
              </a:r>
            </a:p>
          </p:txBody>
        </p:sp>
        <p:sp>
          <p:nvSpPr>
            <p:cNvPr id="21" name="Retângulo: Cantos Arredondados 20">
              <a:extLst>
                <a:ext uri="{FF2B5EF4-FFF2-40B4-BE49-F238E27FC236}">
                  <a16:creationId xmlns:a16="http://schemas.microsoft.com/office/drawing/2014/main" id="{1E378872-64BA-35BE-C9CA-17D11EF61AF7}"/>
                </a:ext>
              </a:extLst>
            </p:cNvPr>
            <p:cNvSpPr/>
            <p:nvPr/>
          </p:nvSpPr>
          <p:spPr>
            <a:xfrm>
              <a:off x="10450878" y="4114800"/>
              <a:ext cx="812800" cy="330200"/>
            </a:xfrm>
            <a:prstGeom prst="roundRect">
              <a:avLst>
                <a:gd name="adj" fmla="val 50000"/>
              </a:avLst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/>
            <a:lstStyle/>
            <a:p>
              <a:pPr algn="ctr"/>
              <a:r>
                <a:rPr lang="pt-BR" sz="1000">
                  <a:solidFill>
                    <a:srgbClr val="0B0B0C"/>
                  </a:solidFill>
                  <a:latin typeface="Instrument Sans Medium" pitchFamily="2" charset="0"/>
                </a:rPr>
                <a:t>IA</a:t>
              </a:r>
            </a:p>
          </p:txBody>
        </p:sp>
        <p:sp>
          <p:nvSpPr>
            <p:cNvPr id="22" name="Retângulo: Cantos Arredondados 21">
              <a:extLst>
                <a:ext uri="{FF2B5EF4-FFF2-40B4-BE49-F238E27FC236}">
                  <a16:creationId xmlns:a16="http://schemas.microsoft.com/office/drawing/2014/main" id="{D939D8C4-34F2-9B09-5D56-61BCD8C8442C}"/>
                </a:ext>
              </a:extLst>
            </p:cNvPr>
            <p:cNvSpPr/>
            <p:nvPr/>
          </p:nvSpPr>
          <p:spPr>
            <a:xfrm>
              <a:off x="8737600" y="5067300"/>
              <a:ext cx="939800" cy="3302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00">
                  <a:solidFill>
                    <a:srgbClr val="E8EAEC"/>
                  </a:solidFill>
                  <a:latin typeface="Instrument Sans Medium" pitchFamily="2" charset="0"/>
                </a:rPr>
                <a:t>Operação</a:t>
              </a:r>
            </a:p>
          </p:txBody>
        </p:sp>
        <p:sp>
          <p:nvSpPr>
            <p:cNvPr id="23" name="Retângulo: Cantos Arredondados 22">
              <a:extLst>
                <a:ext uri="{FF2B5EF4-FFF2-40B4-BE49-F238E27FC236}">
                  <a16:creationId xmlns:a16="http://schemas.microsoft.com/office/drawing/2014/main" id="{C2E7F57D-E476-8AD1-8483-8D8B9BE29036}"/>
                </a:ext>
              </a:extLst>
            </p:cNvPr>
            <p:cNvSpPr/>
            <p:nvPr/>
          </p:nvSpPr>
          <p:spPr>
            <a:xfrm>
              <a:off x="7087822" y="2209800"/>
              <a:ext cx="939800" cy="330200"/>
            </a:xfrm>
            <a:prstGeom prst="roundRect">
              <a:avLst>
                <a:gd name="adj" fmla="val 50000"/>
              </a:avLst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/>
            <a:lstStyle/>
            <a:p>
              <a:pPr algn="ctr"/>
              <a:r>
                <a:rPr lang="pt-BR" sz="1000">
                  <a:solidFill>
                    <a:srgbClr val="0B0B0C"/>
                  </a:solidFill>
                  <a:latin typeface="Instrument Sans Medium" pitchFamily="2" charset="0"/>
                </a:rPr>
                <a:t>Receita</a:t>
              </a:r>
            </a:p>
          </p:txBody>
        </p:sp>
        <p:sp>
          <p:nvSpPr>
            <p:cNvPr id="24" name="Retângulo: Cantos Arredondados 23">
              <a:extLst>
                <a:ext uri="{FF2B5EF4-FFF2-40B4-BE49-F238E27FC236}">
                  <a16:creationId xmlns:a16="http://schemas.microsoft.com/office/drawing/2014/main" id="{995C234C-C90F-2137-5978-B49AF53D548B}"/>
                </a:ext>
              </a:extLst>
            </p:cNvPr>
            <p:cNvSpPr/>
            <p:nvPr/>
          </p:nvSpPr>
          <p:spPr>
            <a:xfrm>
              <a:off x="7087822" y="4114800"/>
              <a:ext cx="939800" cy="3302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00">
                  <a:solidFill>
                    <a:srgbClr val="E8EAEC"/>
                  </a:solidFill>
                  <a:latin typeface="Instrument Sans Medium" pitchFamily="2" charset="0"/>
                </a:rPr>
                <a:t>Sistemas</a:t>
              </a:r>
            </a:p>
          </p:txBody>
        </p:sp>
        <p:sp>
          <p:nvSpPr>
            <p:cNvPr id="25" name="Elipse 24">
              <a:extLst>
                <a:ext uri="{FF2B5EF4-FFF2-40B4-BE49-F238E27FC236}">
                  <a16:creationId xmlns:a16="http://schemas.microsoft.com/office/drawing/2014/main" id="{BC34467F-3363-DFE1-A819-4C3DADFDDF70}"/>
                </a:ext>
              </a:extLst>
            </p:cNvPr>
            <p:cNvSpPr/>
            <p:nvPr/>
          </p:nvSpPr>
          <p:spPr>
            <a:xfrm>
              <a:off x="8572500" y="2692400"/>
              <a:ext cx="1270000" cy="12700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46EB7E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CaixaDeTexto 25">
              <a:extLst>
                <a:ext uri="{FF2B5EF4-FFF2-40B4-BE49-F238E27FC236}">
                  <a16:creationId xmlns:a16="http://schemas.microsoft.com/office/drawing/2014/main" id="{0307541E-7102-8921-DC97-413D730361BA}"/>
                </a:ext>
              </a:extLst>
            </p:cNvPr>
            <p:cNvSpPr txBox="1"/>
            <p:nvPr/>
          </p:nvSpPr>
          <p:spPr>
            <a:xfrm>
              <a:off x="8699500" y="3149600"/>
              <a:ext cx="1016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lang="pt-BR" sz="1050">
                  <a:solidFill>
                    <a:srgbClr val="FFFFFF"/>
                  </a:solidFill>
                  <a:latin typeface="Instrument Sans Medium" pitchFamily="2" charset="0"/>
                </a:rPr>
                <a:t>Sua
empresa</a:t>
              </a:r>
            </a:p>
          </p:txBody>
        </p:sp>
      </p:grp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FA314447-269C-5ED4-2B6F-CC484BF3C7A5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to 28">
            <a:extLst>
              <a:ext uri="{FF2B5EF4-FFF2-40B4-BE49-F238E27FC236}">
                <a16:creationId xmlns:a16="http://schemas.microsoft.com/office/drawing/2014/main" id="{E83A7C28-A36A-840C-1661-8707C2099680}"/>
              </a:ext>
            </a:extLst>
          </p:cNvPr>
          <p:cNvCxnSpPr/>
          <p:nvPr/>
        </p:nvCxnSpPr>
        <p:spPr>
          <a:xfrm>
            <a:off x="685800" y="6578600"/>
            <a:ext cx="780562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lipse 29">
            <a:extLst>
              <a:ext uri="{FF2B5EF4-FFF2-40B4-BE49-F238E27FC236}">
                <a16:creationId xmlns:a16="http://schemas.microsoft.com/office/drawing/2014/main" id="{81C4AE2A-40B0-82B3-3AD7-F9C7D7CB6CC7}"/>
              </a:ext>
            </a:extLst>
          </p:cNvPr>
          <p:cNvSpPr/>
          <p:nvPr/>
        </p:nvSpPr>
        <p:spPr>
          <a:xfrm>
            <a:off x="1415562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AF9683D2-7A6A-0A82-6549-144FB08AC839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01 / 13</a:t>
            </a:r>
          </a:p>
        </p:txBody>
      </p:sp>
    </p:spTree>
    <p:extLst>
      <p:ext uri="{BB962C8B-B14F-4D97-AF65-F5344CB8AC3E}">
        <p14:creationId xmlns:p14="http://schemas.microsoft.com/office/powerpoint/2010/main" val="5052060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38B06DF-31F7-CC8E-A573-6D20DF29D3DD}"/>
              </a:ext>
            </a:extLst>
          </p:cNvPr>
          <p:cNvSpPr txBox="1"/>
          <p:nvPr/>
        </p:nvSpPr>
        <p:spPr>
          <a:xfrm>
            <a:off x="685800" y="571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46EB7E"/>
                </a:solidFill>
                <a:latin typeface="Instrument Sans Medium" pitchFamily="2" charset="0"/>
              </a:rPr>
              <a:t>POR QUE AGORA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F36B22E-E0A8-6BAE-6E1E-FDCC03F48FD0}"/>
              </a:ext>
            </a:extLst>
          </p:cNvPr>
          <p:cNvSpPr txBox="1"/>
          <p:nvPr/>
        </p:nvSpPr>
        <p:spPr>
          <a:xfrm>
            <a:off x="685800" y="965200"/>
            <a:ext cx="939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4000" b="1" spc="-120">
                <a:solidFill>
                  <a:srgbClr val="FFFFFF"/>
                </a:solidFill>
                <a:latin typeface="Urbanist" panose="020B0A04040200000203" pitchFamily="34" charset="0"/>
              </a:rPr>
              <a:t>IA deixou de ser aposta. </a:t>
            </a:r>
            <a:r>
              <a:rPr lang="pt-BR" sz="4000" b="1" spc="-120">
                <a:solidFill>
                  <a:srgbClr val="46EB7E"/>
                </a:solidFill>
                <a:latin typeface="Urbanist" panose="020B0A04040200000203" pitchFamily="34" charset="0"/>
              </a:rPr>
              <a:t>É o novo padrão.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75488322-BF94-4608-ED17-72BC214B016A}"/>
              </a:ext>
            </a:extLst>
          </p:cNvPr>
          <p:cNvGrpSpPr/>
          <p:nvPr/>
        </p:nvGrpSpPr>
        <p:grpSpPr>
          <a:xfrm>
            <a:off x="685800" y="2603500"/>
            <a:ext cx="3111500" cy="2248932"/>
            <a:chOff x="685800" y="2603500"/>
            <a:chExt cx="3111500" cy="2248932"/>
          </a:xfrm>
        </p:grpSpPr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B3138522-1883-5D4E-9DCB-134F69A80B4F}"/>
                </a:ext>
              </a:extLst>
            </p:cNvPr>
            <p:cNvSpPr txBox="1"/>
            <p:nvPr/>
          </p:nvSpPr>
          <p:spPr>
            <a:xfrm>
              <a:off x="685800" y="2603500"/>
              <a:ext cx="31115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4200" b="1" spc="-80">
                  <a:solidFill>
                    <a:srgbClr val="FFFFFF"/>
                  </a:solidFill>
                  <a:latin typeface="Urbanist" panose="020B0A04040200000203" pitchFamily="34" charset="0"/>
                </a:rPr>
                <a:t>88%</a:t>
              </a:r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49A8363E-B2A6-835F-FB41-1393E2692F9F}"/>
                </a:ext>
              </a:extLst>
            </p:cNvPr>
            <p:cNvSpPr txBox="1"/>
            <p:nvPr/>
          </p:nvSpPr>
          <p:spPr>
            <a:xfrm>
              <a:off x="685800" y="3390900"/>
              <a:ext cx="27178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40000"/>
                </a:lnSpc>
              </a:pPr>
              <a:r>
                <a:rPr lang="pt-BR" sz="1200">
                  <a:solidFill>
                    <a:srgbClr val="E8EAEC"/>
                  </a:solidFill>
                  <a:latin typeface="Instrument Sans Medium" pitchFamily="2" charset="0"/>
                </a:rPr>
                <a:t>das empresas do mundo já usam IA em pelo menos uma função — eram 78% um ano antes.</a:t>
              </a:r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602F5AFD-707D-6BD6-3352-F8EECC1E9073}"/>
                </a:ext>
              </a:extLst>
            </p:cNvPr>
            <p:cNvSpPr txBox="1"/>
            <p:nvPr/>
          </p:nvSpPr>
          <p:spPr>
            <a:xfrm>
              <a:off x="685800" y="4483100"/>
              <a:ext cx="2921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en-US" sz="800" spc="90">
                  <a:solidFill>
                    <a:srgbClr val="9BA1A6"/>
                  </a:solidFill>
                  <a:latin typeface="Instrument Sans Medium" pitchFamily="2" charset="0"/>
                </a:rPr>
                <a:t>MCKINSEY · STATE OF AI 2025</a:t>
              </a:r>
              <a:endParaRPr lang="pt-BR" sz="800" spc="90">
                <a:solidFill>
                  <a:srgbClr val="9BA1A6"/>
                </a:solidFill>
                <a:latin typeface="Instrument Sans Medium" pitchFamily="2" charset="0"/>
              </a:endParaRPr>
            </a:p>
          </p:txBody>
        </p:sp>
      </p:grp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821FDCE4-ABC8-8909-E453-337044117DB0}"/>
              </a:ext>
            </a:extLst>
          </p:cNvPr>
          <p:cNvGrpSpPr/>
          <p:nvPr/>
        </p:nvGrpSpPr>
        <p:grpSpPr>
          <a:xfrm>
            <a:off x="4673600" y="2603500"/>
            <a:ext cx="3111500" cy="2248932"/>
            <a:chOff x="4673600" y="2603500"/>
            <a:chExt cx="3111500" cy="2248932"/>
          </a:xfrm>
        </p:grpSpPr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3AEBF73E-EE8F-9920-992E-1AC9919FE4D2}"/>
                </a:ext>
              </a:extLst>
            </p:cNvPr>
            <p:cNvSpPr txBox="1"/>
            <p:nvPr/>
          </p:nvSpPr>
          <p:spPr>
            <a:xfrm>
              <a:off x="4673600" y="2603500"/>
              <a:ext cx="31115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4200" b="1" spc="-80">
                  <a:solidFill>
                    <a:srgbClr val="FFFFFF"/>
                  </a:solidFill>
                  <a:latin typeface="Urbanist" panose="020B0A04040200000203" pitchFamily="34" charset="0"/>
                </a:rPr>
                <a:t>US$ 252 bi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060AC941-F05B-9F07-B299-A716D5291A0F}"/>
                </a:ext>
              </a:extLst>
            </p:cNvPr>
            <p:cNvSpPr txBox="1"/>
            <p:nvPr/>
          </p:nvSpPr>
          <p:spPr>
            <a:xfrm>
              <a:off x="4673600" y="3390900"/>
              <a:ext cx="27178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40000"/>
                </a:lnSpc>
              </a:pPr>
              <a:r>
                <a:rPr lang="pt-BR" sz="1200">
                  <a:solidFill>
                    <a:srgbClr val="E8EAEC"/>
                  </a:solidFill>
                  <a:latin typeface="Instrument Sans Medium" pitchFamily="2" charset="0"/>
                </a:rPr>
                <a:t>investidos em IA no mundo só em 2024 — alta de 44% sobre o ano anterior.</a:t>
              </a:r>
            </a:p>
          </p:txBody>
        </p:sp>
        <p:sp>
          <p:nvSpPr>
            <p:cNvPr id="10" name="CaixaDeTexto 9">
              <a:extLst>
                <a:ext uri="{FF2B5EF4-FFF2-40B4-BE49-F238E27FC236}">
                  <a16:creationId xmlns:a16="http://schemas.microsoft.com/office/drawing/2014/main" id="{753811E1-AB79-DF05-568F-FD1ECE1CD255}"/>
                </a:ext>
              </a:extLst>
            </p:cNvPr>
            <p:cNvSpPr txBox="1"/>
            <p:nvPr/>
          </p:nvSpPr>
          <p:spPr>
            <a:xfrm>
              <a:off x="4673600" y="4483100"/>
              <a:ext cx="2921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800" spc="90">
                  <a:solidFill>
                    <a:srgbClr val="9BA1A6"/>
                  </a:solidFill>
                  <a:latin typeface="Instrument Sans Medium" pitchFamily="2" charset="0"/>
                </a:rPr>
                <a:t>STANFORD · AI INDEX 2025</a:t>
              </a:r>
            </a:p>
          </p:txBody>
        </p: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06D9F510-984F-E64D-0124-F3B47F8B6379}"/>
              </a:ext>
            </a:extLst>
          </p:cNvPr>
          <p:cNvGrpSpPr/>
          <p:nvPr/>
        </p:nvGrpSpPr>
        <p:grpSpPr>
          <a:xfrm>
            <a:off x="8280400" y="2603500"/>
            <a:ext cx="3111500" cy="2248932"/>
            <a:chOff x="8280400" y="2603500"/>
            <a:chExt cx="3111500" cy="2248932"/>
          </a:xfrm>
        </p:grpSpPr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0FFE138C-6AF4-E48B-C795-BD23A130C8EF}"/>
                </a:ext>
              </a:extLst>
            </p:cNvPr>
            <p:cNvSpPr txBox="1"/>
            <p:nvPr/>
          </p:nvSpPr>
          <p:spPr>
            <a:xfrm>
              <a:off x="8280400" y="2603500"/>
              <a:ext cx="31115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4200" b="1" spc="-80">
                  <a:solidFill>
                    <a:srgbClr val="46EB7E"/>
                  </a:solidFill>
                  <a:latin typeface="Urbanist" panose="020B0A04040200000203" pitchFamily="34" charset="0"/>
                </a:rPr>
                <a:t>3,7×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73B30B01-B180-39B0-5A4C-47A112E9C98C}"/>
                </a:ext>
              </a:extLst>
            </p:cNvPr>
            <p:cNvSpPr txBox="1"/>
            <p:nvPr/>
          </p:nvSpPr>
          <p:spPr>
            <a:xfrm>
              <a:off x="8280400" y="3390900"/>
              <a:ext cx="27178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40000"/>
                </a:lnSpc>
              </a:pPr>
              <a:r>
                <a:rPr lang="pt-BR" sz="1200">
                  <a:solidFill>
                    <a:srgbClr val="E8EAEC"/>
                  </a:solidFill>
                  <a:latin typeface="Instrument Sans Medium" pitchFamily="2" charset="0"/>
                </a:rPr>
                <a:t>de retorno médio para cada US$ 1 investido em IA generativa.</a:t>
              </a:r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C7DD8972-FB2C-39F8-02DB-B3440EFC211A}"/>
                </a:ext>
              </a:extLst>
            </p:cNvPr>
            <p:cNvSpPr txBox="1"/>
            <p:nvPr/>
          </p:nvSpPr>
          <p:spPr>
            <a:xfrm>
              <a:off x="8280400" y="4483100"/>
              <a:ext cx="2921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800" spc="90">
                  <a:solidFill>
                    <a:srgbClr val="9BA1A6"/>
                  </a:solidFill>
                  <a:latin typeface="Instrument Sans Medium" pitchFamily="2" charset="0"/>
                </a:rPr>
                <a:t>IDC / MICROSOFT · 2024</a:t>
              </a:r>
            </a:p>
          </p:txBody>
        </p:sp>
      </p:grp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B0552089-B3C8-6FF7-34CD-78E5782E9B47}"/>
              </a:ext>
            </a:extLst>
          </p:cNvPr>
          <p:cNvCxnSpPr/>
          <p:nvPr/>
        </p:nvCxnSpPr>
        <p:spPr>
          <a:xfrm>
            <a:off x="4292600" y="2603500"/>
            <a:ext cx="0" cy="2095500"/>
          </a:xfrm>
          <a:prstGeom prst="line">
            <a:avLst/>
          </a:prstGeom>
          <a:ln w="1270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B7D6B39F-EB28-1F3B-116A-05992DC2DDDF}"/>
              </a:ext>
            </a:extLst>
          </p:cNvPr>
          <p:cNvCxnSpPr/>
          <p:nvPr/>
        </p:nvCxnSpPr>
        <p:spPr>
          <a:xfrm>
            <a:off x="7899400" y="2603500"/>
            <a:ext cx="0" cy="2095500"/>
          </a:xfrm>
          <a:prstGeom prst="line">
            <a:avLst/>
          </a:prstGeom>
          <a:ln w="1270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D3C66E76-1B6D-F848-51EB-3612BC49F76A}"/>
              </a:ext>
            </a:extLst>
          </p:cNvPr>
          <p:cNvSpPr txBox="1"/>
          <p:nvPr/>
        </p:nvSpPr>
        <p:spPr>
          <a:xfrm>
            <a:off x="685800" y="5613400"/>
            <a:ext cx="939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500">
                <a:solidFill>
                  <a:srgbClr val="9BA1A6"/>
                </a:solidFill>
                <a:latin typeface="Instrument Sans Medium" pitchFamily="2" charset="0"/>
              </a:rPr>
              <a:t>A pergunta deixou de ser “se”. Agora é </a:t>
            </a:r>
            <a:r>
              <a:rPr lang="pt-BR" sz="1500">
                <a:solidFill>
                  <a:srgbClr val="FFFFFF"/>
                </a:solidFill>
                <a:latin typeface="Instrument Sans Medium" pitchFamily="2" charset="0"/>
              </a:rPr>
              <a:t>“onde” — no seu negócio.</a:t>
            </a:r>
          </a:p>
        </p:txBody>
      </p: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453831A0-55B2-BAEC-1CB7-2BBA0A662950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0B94F032-8F52-9F9F-D8E5-419D3FFE413D}"/>
              </a:ext>
            </a:extLst>
          </p:cNvPr>
          <p:cNvCxnSpPr/>
          <p:nvPr/>
        </p:nvCxnSpPr>
        <p:spPr>
          <a:xfrm>
            <a:off x="685800" y="6578600"/>
            <a:ext cx="1561123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Elipse 20">
            <a:extLst>
              <a:ext uri="{FF2B5EF4-FFF2-40B4-BE49-F238E27FC236}">
                <a16:creationId xmlns:a16="http://schemas.microsoft.com/office/drawing/2014/main" id="{97AD62AB-8CD3-DB1A-B1F4-0E0E8129D918}"/>
              </a:ext>
            </a:extLst>
          </p:cNvPr>
          <p:cNvSpPr/>
          <p:nvPr/>
        </p:nvSpPr>
        <p:spPr>
          <a:xfrm>
            <a:off x="2196123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5A613EFA-3A1B-2F89-56A6-3611D40048F8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02 / 13</a:t>
            </a:r>
          </a:p>
        </p:txBody>
      </p:sp>
    </p:spTree>
    <p:extLst>
      <p:ext uri="{BB962C8B-B14F-4D97-AF65-F5344CB8AC3E}">
        <p14:creationId xmlns:p14="http://schemas.microsoft.com/office/powerpoint/2010/main" val="31426048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1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D03F3067-4B36-7C66-CE8E-DDF067BD8B16}"/>
              </a:ext>
            </a:extLst>
          </p:cNvPr>
          <p:cNvSpPr txBox="1"/>
          <p:nvPr/>
        </p:nvSpPr>
        <p:spPr>
          <a:xfrm>
            <a:off x="685800" y="571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46EB7E"/>
                </a:solidFill>
                <a:latin typeface="Instrument Sans Medium" pitchFamily="2" charset="0"/>
              </a:rPr>
              <a:t>O PROBLEMA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50F4773-5400-4ADD-7D8B-DCF14929EE23}"/>
              </a:ext>
            </a:extLst>
          </p:cNvPr>
          <p:cNvSpPr txBox="1"/>
          <p:nvPr/>
        </p:nvSpPr>
        <p:spPr>
          <a:xfrm>
            <a:off x="685800" y="19685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4800" b="1" spc="-140">
                <a:solidFill>
                  <a:srgbClr val="FFFFFF"/>
                </a:solidFill>
                <a:latin typeface="Urbanist" panose="020B0A04040200000203" pitchFamily="34" charset="0"/>
              </a:rPr>
              <a:t>Nem todo problema da sua empresa cabe em um </a:t>
            </a:r>
            <a:r>
              <a:rPr lang="pt-BR" sz="4800" b="1" spc="-140">
                <a:solidFill>
                  <a:srgbClr val="9BA1A6"/>
                </a:solidFill>
                <a:latin typeface="Urbanist" panose="020B0A04040200000203" pitchFamily="34" charset="0"/>
              </a:rPr>
              <a:t>software pronto.</a:t>
            </a:r>
          </a:p>
        </p:txBody>
      </p: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392FA1E5-E7FB-352E-A64C-61DE1F75A099}"/>
              </a:ext>
            </a:extLst>
          </p:cNvPr>
          <p:cNvGrpSpPr/>
          <p:nvPr/>
        </p:nvGrpSpPr>
        <p:grpSpPr>
          <a:xfrm>
            <a:off x="6616700" y="1682750"/>
            <a:ext cx="4660900" cy="3987800"/>
            <a:chOff x="6616700" y="1682750"/>
            <a:chExt cx="4660900" cy="3987800"/>
          </a:xfrm>
        </p:grpSpPr>
        <p:cxnSp>
          <p:nvCxnSpPr>
            <p:cNvPr id="4" name="Conector reto 3">
              <a:extLst>
                <a:ext uri="{FF2B5EF4-FFF2-40B4-BE49-F238E27FC236}">
                  <a16:creationId xmlns:a16="http://schemas.microsoft.com/office/drawing/2014/main" id="{0A2805A7-F67A-3B85-D2E5-03C0CB634630}"/>
                </a:ext>
              </a:extLst>
            </p:cNvPr>
            <p:cNvCxnSpPr/>
            <p:nvPr/>
          </p:nvCxnSpPr>
          <p:spPr>
            <a:xfrm>
              <a:off x="7823200" y="2565400"/>
              <a:ext cx="1714500" cy="8763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ector reto 4">
              <a:extLst>
                <a:ext uri="{FF2B5EF4-FFF2-40B4-BE49-F238E27FC236}">
                  <a16:creationId xmlns:a16="http://schemas.microsoft.com/office/drawing/2014/main" id="{8F0423E1-FD96-C1F6-3C2C-70A343333047}"/>
                </a:ext>
              </a:extLst>
            </p:cNvPr>
            <p:cNvCxnSpPr/>
            <p:nvPr/>
          </p:nvCxnSpPr>
          <p:spPr>
            <a:xfrm flipH="1">
              <a:off x="8204200" y="3441700"/>
              <a:ext cx="1333500" cy="11430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ector reto 5">
              <a:extLst>
                <a:ext uri="{FF2B5EF4-FFF2-40B4-BE49-F238E27FC236}">
                  <a16:creationId xmlns:a16="http://schemas.microsoft.com/office/drawing/2014/main" id="{8B86E83E-6A34-6FE9-6783-677F530B734A}"/>
                </a:ext>
              </a:extLst>
            </p:cNvPr>
            <p:cNvCxnSpPr/>
            <p:nvPr/>
          </p:nvCxnSpPr>
          <p:spPr>
            <a:xfrm>
              <a:off x="8204200" y="4584700"/>
              <a:ext cx="850900" cy="8509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7C5AF340-F1E9-5D31-DA6B-3D939B364D17}"/>
                </a:ext>
              </a:extLst>
            </p:cNvPr>
            <p:cNvCxnSpPr/>
            <p:nvPr/>
          </p:nvCxnSpPr>
          <p:spPr>
            <a:xfrm flipH="1">
              <a:off x="9537700" y="2565400"/>
              <a:ext cx="876300" cy="8763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ector reto 7">
              <a:extLst>
                <a:ext uri="{FF2B5EF4-FFF2-40B4-BE49-F238E27FC236}">
                  <a16:creationId xmlns:a16="http://schemas.microsoft.com/office/drawing/2014/main" id="{6D8737C6-806D-6862-28AC-66E70E9B5A69}"/>
                </a:ext>
              </a:extLst>
            </p:cNvPr>
            <p:cNvCxnSpPr/>
            <p:nvPr/>
          </p:nvCxnSpPr>
          <p:spPr>
            <a:xfrm flipV="1">
              <a:off x="6985000" y="2565400"/>
              <a:ext cx="838200" cy="11176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reto 8">
              <a:extLst>
                <a:ext uri="{FF2B5EF4-FFF2-40B4-BE49-F238E27FC236}">
                  <a16:creationId xmlns:a16="http://schemas.microsoft.com/office/drawing/2014/main" id="{5686088B-1B1C-A5BE-81D9-F062BB716EFD}"/>
                </a:ext>
              </a:extLst>
            </p:cNvPr>
            <p:cNvCxnSpPr/>
            <p:nvPr/>
          </p:nvCxnSpPr>
          <p:spPr>
            <a:xfrm>
              <a:off x="10414000" y="2565400"/>
              <a:ext cx="469900" cy="17272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A4D42348-8224-9F7B-4EFF-CD57F73A68E9}"/>
                </a:ext>
              </a:extLst>
            </p:cNvPr>
            <p:cNvCxnSpPr/>
            <p:nvPr/>
          </p:nvCxnSpPr>
          <p:spPr>
            <a:xfrm flipV="1">
              <a:off x="9690100" y="4292600"/>
              <a:ext cx="1193800" cy="2921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tângulo: Cantos Arredondados 10">
              <a:extLst>
                <a:ext uri="{FF2B5EF4-FFF2-40B4-BE49-F238E27FC236}">
                  <a16:creationId xmlns:a16="http://schemas.microsoft.com/office/drawing/2014/main" id="{E4991964-1FA6-6B18-235B-58C5C36128B6}"/>
                </a:ext>
              </a:extLst>
            </p:cNvPr>
            <p:cNvSpPr/>
            <p:nvPr/>
          </p:nvSpPr>
          <p:spPr>
            <a:xfrm>
              <a:off x="6616700" y="2349500"/>
              <a:ext cx="2540000" cy="4191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100">
                  <a:solidFill>
                    <a:srgbClr val="E8EAEC"/>
                  </a:solidFill>
                  <a:latin typeface="Instrument Sans Medium" pitchFamily="2" charset="0"/>
                </a:rPr>
                <a:t>Sistemas que não conversam</a:t>
              </a:r>
            </a:p>
          </p:txBody>
        </p:sp>
        <p:sp>
          <p:nvSpPr>
            <p:cNvPr id="12" name="Retângulo: Cantos Arredondados 11">
              <a:extLst>
                <a:ext uri="{FF2B5EF4-FFF2-40B4-BE49-F238E27FC236}">
                  <a16:creationId xmlns:a16="http://schemas.microsoft.com/office/drawing/2014/main" id="{CAA5703D-E08D-F0CF-6805-2823B56EED13}"/>
                </a:ext>
              </a:extLst>
            </p:cNvPr>
            <p:cNvSpPr/>
            <p:nvPr/>
          </p:nvSpPr>
          <p:spPr>
            <a:xfrm>
              <a:off x="9563100" y="3225800"/>
              <a:ext cx="1714500" cy="4191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100">
                  <a:solidFill>
                    <a:srgbClr val="E8EAEC"/>
                  </a:solidFill>
                  <a:latin typeface="Instrument Sans Medium" pitchFamily="2" charset="0"/>
                </a:rPr>
                <a:t>Trabalho manual</a:t>
              </a:r>
            </a:p>
          </p:txBody>
        </p:sp>
        <p:sp>
          <p:nvSpPr>
            <p:cNvPr id="13" name="Retângulo: Cantos Arredondados 12">
              <a:extLst>
                <a:ext uri="{FF2B5EF4-FFF2-40B4-BE49-F238E27FC236}">
                  <a16:creationId xmlns:a16="http://schemas.microsoft.com/office/drawing/2014/main" id="{57199B78-1A66-EC67-B61B-0E35679E711A}"/>
                </a:ext>
              </a:extLst>
            </p:cNvPr>
            <p:cNvSpPr/>
            <p:nvPr/>
          </p:nvSpPr>
          <p:spPr>
            <a:xfrm>
              <a:off x="8839200" y="4368800"/>
              <a:ext cx="1727200" cy="4191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100">
                  <a:solidFill>
                    <a:srgbClr val="E8EAEC"/>
                  </a:solidFill>
                  <a:latin typeface="Instrument Sans Medium" pitchFamily="2" charset="0"/>
                </a:rPr>
                <a:t>Planilhas críticas</a:t>
              </a:r>
            </a:p>
          </p:txBody>
        </p:sp>
        <p:sp>
          <p:nvSpPr>
            <p:cNvPr id="14" name="Retângulo: Cantos Arredondados 13">
              <a:extLst>
                <a:ext uri="{FF2B5EF4-FFF2-40B4-BE49-F238E27FC236}">
                  <a16:creationId xmlns:a16="http://schemas.microsoft.com/office/drawing/2014/main" id="{811BE308-64E8-C702-D405-D51A5C9E7EE6}"/>
                </a:ext>
              </a:extLst>
            </p:cNvPr>
            <p:cNvSpPr/>
            <p:nvPr/>
          </p:nvSpPr>
          <p:spPr>
            <a:xfrm>
              <a:off x="7823200" y="5232400"/>
              <a:ext cx="2438400" cy="4191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100">
                  <a:solidFill>
                    <a:srgbClr val="E8EAEC"/>
                  </a:solidFill>
                  <a:latin typeface="Instrument Sans Medium" pitchFamily="2" charset="0"/>
                </a:rPr>
                <a:t>Leads sem acompanhamento</a:t>
              </a:r>
            </a:p>
          </p:txBody>
        </p:sp>
        <p:sp>
          <p:nvSpPr>
            <p:cNvPr id="15" name="Elipse 14">
              <a:extLst>
                <a:ext uri="{FF2B5EF4-FFF2-40B4-BE49-F238E27FC236}">
                  <a16:creationId xmlns:a16="http://schemas.microsoft.com/office/drawing/2014/main" id="{45CFAC0A-6F4F-B4E1-FD08-B8D117F57333}"/>
                </a:ext>
              </a:extLst>
            </p:cNvPr>
            <p:cNvSpPr/>
            <p:nvPr/>
          </p:nvSpPr>
          <p:spPr>
            <a:xfrm>
              <a:off x="6940550" y="3638550"/>
              <a:ext cx="88900" cy="88900"/>
            </a:xfrm>
            <a:prstGeom prst="ellipse">
              <a:avLst/>
            </a:prstGeom>
            <a:solidFill>
              <a:srgbClr val="FFFFFF">
                <a:alpha val="32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Elipse 15">
              <a:extLst>
                <a:ext uri="{FF2B5EF4-FFF2-40B4-BE49-F238E27FC236}">
                  <a16:creationId xmlns:a16="http://schemas.microsoft.com/office/drawing/2014/main" id="{3BF93F44-8659-A666-0A52-D89D9C3815C2}"/>
                </a:ext>
              </a:extLst>
            </p:cNvPr>
            <p:cNvSpPr/>
            <p:nvPr/>
          </p:nvSpPr>
          <p:spPr>
            <a:xfrm>
              <a:off x="10839450" y="4248150"/>
              <a:ext cx="88900" cy="88900"/>
            </a:xfrm>
            <a:prstGeom prst="ellipse">
              <a:avLst/>
            </a:prstGeom>
            <a:solidFill>
              <a:srgbClr val="FFFFFF">
                <a:alpha val="32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Elipse 16">
              <a:extLst>
                <a:ext uri="{FF2B5EF4-FFF2-40B4-BE49-F238E27FC236}">
                  <a16:creationId xmlns:a16="http://schemas.microsoft.com/office/drawing/2014/main" id="{DCA9558E-4D60-1DBE-3DC5-8C1DA889EAB0}"/>
                </a:ext>
              </a:extLst>
            </p:cNvPr>
            <p:cNvSpPr/>
            <p:nvPr/>
          </p:nvSpPr>
          <p:spPr>
            <a:xfrm>
              <a:off x="7600950" y="1682750"/>
              <a:ext cx="88900" cy="88900"/>
            </a:xfrm>
            <a:prstGeom prst="ellipse">
              <a:avLst/>
            </a:prstGeom>
            <a:solidFill>
              <a:srgbClr val="FFFFFF">
                <a:alpha val="32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Elipse 17">
              <a:extLst>
                <a:ext uri="{FF2B5EF4-FFF2-40B4-BE49-F238E27FC236}">
                  <a16:creationId xmlns:a16="http://schemas.microsoft.com/office/drawing/2014/main" id="{702A90A3-307C-05D2-79FD-AF1854AD8FE2}"/>
                </a:ext>
              </a:extLst>
            </p:cNvPr>
            <p:cNvSpPr/>
            <p:nvPr/>
          </p:nvSpPr>
          <p:spPr>
            <a:xfrm>
              <a:off x="10458450" y="1682750"/>
              <a:ext cx="88900" cy="88900"/>
            </a:xfrm>
            <a:prstGeom prst="ellipse">
              <a:avLst/>
            </a:prstGeom>
            <a:solidFill>
              <a:srgbClr val="FFFFFF">
                <a:alpha val="32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C9F8648F-E06D-9CB3-1979-FE1635BF4493}"/>
                </a:ext>
              </a:extLst>
            </p:cNvPr>
            <p:cNvSpPr/>
            <p:nvPr/>
          </p:nvSpPr>
          <p:spPr>
            <a:xfrm>
              <a:off x="11131550" y="5581650"/>
              <a:ext cx="88900" cy="88900"/>
            </a:xfrm>
            <a:prstGeom prst="ellipse">
              <a:avLst/>
            </a:prstGeom>
            <a:solidFill>
              <a:srgbClr val="FFFFFF">
                <a:alpha val="32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7FDB644F-CC77-2528-FF45-83497B4B6396}"/>
                </a:ext>
              </a:extLst>
            </p:cNvPr>
            <p:cNvSpPr/>
            <p:nvPr/>
          </p:nvSpPr>
          <p:spPr>
            <a:xfrm>
              <a:off x="6711950" y="4730750"/>
              <a:ext cx="88900" cy="88900"/>
            </a:xfrm>
            <a:prstGeom prst="ellipse">
              <a:avLst/>
            </a:prstGeom>
            <a:solidFill>
              <a:srgbClr val="FFFFFF">
                <a:alpha val="32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cxnSp>
        <p:nvCxnSpPr>
          <p:cNvPr id="22" name="Conector reto 21">
            <a:extLst>
              <a:ext uri="{FF2B5EF4-FFF2-40B4-BE49-F238E27FC236}">
                <a16:creationId xmlns:a16="http://schemas.microsoft.com/office/drawing/2014/main" id="{0FD729BF-DFBF-EE2E-7C44-2B9CB6D216A9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5B72EBE7-1F7E-07A0-EB69-644AF1635E0C}"/>
              </a:ext>
            </a:extLst>
          </p:cNvPr>
          <p:cNvCxnSpPr/>
          <p:nvPr/>
        </p:nvCxnSpPr>
        <p:spPr>
          <a:xfrm>
            <a:off x="685800" y="6578600"/>
            <a:ext cx="2341685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Elipse 23">
            <a:extLst>
              <a:ext uri="{FF2B5EF4-FFF2-40B4-BE49-F238E27FC236}">
                <a16:creationId xmlns:a16="http://schemas.microsoft.com/office/drawing/2014/main" id="{1501AFB2-3013-6BC7-6BD0-274C6EEB9BCC}"/>
              </a:ext>
            </a:extLst>
          </p:cNvPr>
          <p:cNvSpPr/>
          <p:nvPr/>
        </p:nvSpPr>
        <p:spPr>
          <a:xfrm>
            <a:off x="2976685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ADAA300B-1496-E94E-CE4A-F0805F54077E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03 / 13</a:t>
            </a:r>
          </a:p>
        </p:txBody>
      </p:sp>
    </p:spTree>
    <p:extLst>
      <p:ext uri="{BB962C8B-B14F-4D97-AF65-F5344CB8AC3E}">
        <p14:creationId xmlns:p14="http://schemas.microsoft.com/office/powerpoint/2010/main" val="37954266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ipse 1">
            <a:extLst>
              <a:ext uri="{FF2B5EF4-FFF2-40B4-BE49-F238E27FC236}">
                <a16:creationId xmlns:a16="http://schemas.microsoft.com/office/drawing/2014/main" id="{D1EE73D7-B5AA-2A70-106F-1FA93ADEA88F}"/>
              </a:ext>
            </a:extLst>
          </p:cNvPr>
          <p:cNvSpPr/>
          <p:nvPr/>
        </p:nvSpPr>
        <p:spPr>
          <a:xfrm>
            <a:off x="-1993900" y="2578100"/>
            <a:ext cx="6654800" cy="6654800"/>
          </a:xfrm>
          <a:prstGeom prst="ellipse">
            <a:avLst/>
          </a:prstGeom>
          <a:solidFill>
            <a:srgbClr val="46EB7E">
              <a:alpha val="6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0409C87F-BA93-8FC4-0EEB-70C4F43D2A60}"/>
              </a:ext>
            </a:extLst>
          </p:cNvPr>
          <p:cNvSpPr/>
          <p:nvPr/>
        </p:nvSpPr>
        <p:spPr>
          <a:xfrm>
            <a:off x="-952500" y="3619500"/>
            <a:ext cx="4572000" cy="4572000"/>
          </a:xfrm>
          <a:prstGeom prst="ellipse">
            <a:avLst/>
          </a:prstGeom>
          <a:solidFill>
            <a:srgbClr val="46EB7E">
              <a:alpha val="7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9DC79EAA-E0A2-E79B-0353-3C20B1E931CF}"/>
              </a:ext>
            </a:extLst>
          </p:cNvPr>
          <p:cNvSpPr/>
          <p:nvPr/>
        </p:nvSpPr>
        <p:spPr>
          <a:xfrm>
            <a:off x="0" y="4572000"/>
            <a:ext cx="2667000" cy="2667000"/>
          </a:xfrm>
          <a:prstGeom prst="ellipse">
            <a:avLst/>
          </a:prstGeom>
          <a:solidFill>
            <a:srgbClr val="46EB7E">
              <a:alpha val="8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D3890CE-1725-12AD-CB49-FFD21FD19E4F}"/>
              </a:ext>
            </a:extLst>
          </p:cNvPr>
          <p:cNvSpPr txBox="1"/>
          <p:nvPr/>
        </p:nvSpPr>
        <p:spPr>
          <a:xfrm>
            <a:off x="685800" y="2540000"/>
            <a:ext cx="1028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9200" b="1" spc="-270">
                <a:solidFill>
                  <a:srgbClr val="FFFFFF"/>
                </a:solidFill>
                <a:latin typeface="Urbanist" panose="020B0A04040200000203" pitchFamily="34" charset="0"/>
              </a:rPr>
              <a:t>É nesse ponto que </a:t>
            </a:r>
            <a:r>
              <a:rPr lang="pt-BR" sz="9200" b="1" spc="-270">
                <a:solidFill>
                  <a:srgbClr val="46EB7E"/>
                </a:solidFill>
                <a:latin typeface="Urbanist" panose="020B0A04040200000203" pitchFamily="34" charset="0"/>
              </a:rPr>
              <a:t>entramos.</a:t>
            </a:r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5B709A8E-F5B8-3B88-A71A-C1C46162BF73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C4EC358F-3ABF-1FB2-0279-7321EB3DBC93}"/>
              </a:ext>
            </a:extLst>
          </p:cNvPr>
          <p:cNvCxnSpPr/>
          <p:nvPr/>
        </p:nvCxnSpPr>
        <p:spPr>
          <a:xfrm>
            <a:off x="685800" y="6578600"/>
            <a:ext cx="3122246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ipse 7">
            <a:extLst>
              <a:ext uri="{FF2B5EF4-FFF2-40B4-BE49-F238E27FC236}">
                <a16:creationId xmlns:a16="http://schemas.microsoft.com/office/drawing/2014/main" id="{E5260655-6E19-5D1B-D490-69F06AFEBECB}"/>
              </a:ext>
            </a:extLst>
          </p:cNvPr>
          <p:cNvSpPr/>
          <p:nvPr/>
        </p:nvSpPr>
        <p:spPr>
          <a:xfrm>
            <a:off x="3757246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9205575-9048-6C02-63A2-C4DE3D36D38C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04 / 13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4CEB9E6-93D0-A925-629B-940EAA62F08D}"/>
              </a:ext>
            </a:extLst>
          </p:cNvPr>
          <p:cNvSpPr txBox="1"/>
          <p:nvPr/>
        </p:nvSpPr>
        <p:spPr>
          <a:xfrm>
            <a:off x="685800" y="4978400"/>
            <a:ext cx="889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500">
                <a:solidFill>
                  <a:srgbClr val="9BA1A6"/>
                </a:solidFill>
                <a:latin typeface="Instrument Sans Medium" pitchFamily="2" charset="0"/>
              </a:rPr>
              <a:t>A Dreamy resolve gargalos de negócio que o software de prateleira não resolve.</a:t>
            </a:r>
          </a:p>
        </p:txBody>
      </p:sp>
    </p:spTree>
    <p:extLst>
      <p:ext uri="{BB962C8B-B14F-4D97-AF65-F5344CB8AC3E}">
        <p14:creationId xmlns:p14="http://schemas.microsoft.com/office/powerpoint/2010/main" val="16515596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4867CF58-DE7A-FFB0-35C8-3B8F3AD39466}"/>
              </a:ext>
            </a:extLst>
          </p:cNvPr>
          <p:cNvSpPr txBox="1"/>
          <p:nvPr/>
        </p:nvSpPr>
        <p:spPr>
          <a:xfrm>
            <a:off x="685800" y="571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0F7C47"/>
                </a:solidFill>
                <a:latin typeface="Instrument Sans Medium" pitchFamily="2" charset="0"/>
              </a:rPr>
              <a:t>DIAGNÓSTICO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0FFA826-5106-6250-6EE5-ADDF9EABCC0C}"/>
              </a:ext>
            </a:extLst>
          </p:cNvPr>
          <p:cNvSpPr txBox="1"/>
          <p:nvPr/>
        </p:nvSpPr>
        <p:spPr>
          <a:xfrm>
            <a:off x="685800" y="9652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4800" b="1" spc="-140">
                <a:solidFill>
                  <a:srgbClr val="0B0B0C"/>
                </a:solidFill>
                <a:latin typeface="Urbanist" panose="020B0A04040200000203" pitchFamily="34" charset="0"/>
              </a:rPr>
              <a:t>Você não precisa saber </a:t>
            </a:r>
            <a:r>
              <a:rPr lang="pt-BR" sz="4800" b="1" spc="-140">
                <a:solidFill>
                  <a:srgbClr val="0F7C47"/>
                </a:solidFill>
                <a:latin typeface="Urbanist" panose="020B0A04040200000203" pitchFamily="34" charset="0"/>
              </a:rPr>
              <a:t>o que construir.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BD4063C-6C8B-B7C6-68F0-545F55EB55EA}"/>
              </a:ext>
            </a:extLst>
          </p:cNvPr>
          <p:cNvSpPr txBox="1"/>
          <p:nvPr/>
        </p:nvSpPr>
        <p:spPr>
          <a:xfrm>
            <a:off x="685800" y="24892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500">
                <a:solidFill>
                  <a:srgbClr val="575C61"/>
                </a:solidFill>
                <a:latin typeface="Instrument Sans Medium" pitchFamily="2" charset="0"/>
              </a:rPr>
              <a:t>Identificamos gargalos que consomem dinheiro ou limitam crescimento — e avaliamos como software ou IA pode resolvê-los.</a:t>
            </a: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5C8B6D3C-3D3D-1D0F-F58D-0A7D7B503699}"/>
              </a:ext>
            </a:extLst>
          </p:cNvPr>
          <p:cNvCxnSpPr/>
          <p:nvPr/>
        </p:nvCxnSpPr>
        <p:spPr>
          <a:xfrm>
            <a:off x="952500" y="4191000"/>
            <a:ext cx="10287000" cy="0"/>
          </a:xfrm>
          <a:prstGeom prst="line">
            <a:avLst/>
          </a:prstGeom>
          <a:ln w="19050" cap="flat" cmpd="sng" algn="ctr">
            <a:solidFill>
              <a:srgbClr val="0B0B0C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Agrupar 8">
            <a:extLst>
              <a:ext uri="{FF2B5EF4-FFF2-40B4-BE49-F238E27FC236}">
                <a16:creationId xmlns:a16="http://schemas.microsoft.com/office/drawing/2014/main" id="{2E953A93-B484-2C58-A69B-A00E321F0F1D}"/>
              </a:ext>
            </a:extLst>
          </p:cNvPr>
          <p:cNvGrpSpPr/>
          <p:nvPr/>
        </p:nvGrpSpPr>
        <p:grpSpPr>
          <a:xfrm>
            <a:off x="190500" y="3924300"/>
            <a:ext cx="1524000" cy="1067832"/>
            <a:chOff x="190500" y="3924300"/>
            <a:chExt cx="1524000" cy="1067832"/>
          </a:xfrm>
        </p:grpSpPr>
        <p:sp>
          <p:nvSpPr>
            <p:cNvPr id="6" name="Elipse 5">
              <a:extLst>
                <a:ext uri="{FF2B5EF4-FFF2-40B4-BE49-F238E27FC236}">
                  <a16:creationId xmlns:a16="http://schemas.microsoft.com/office/drawing/2014/main" id="{8FE24720-FDC8-29D7-6EE6-C28F955E833F}"/>
                </a:ext>
              </a:extLst>
            </p:cNvPr>
            <p:cNvSpPr/>
            <p:nvPr/>
          </p:nvSpPr>
          <p:spPr>
            <a:xfrm>
              <a:off x="685800" y="39243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ABF8A627-F411-25E7-00ED-E97E7B0689A8}"/>
                </a:ext>
              </a:extLst>
            </p:cNvPr>
            <p:cNvSpPr txBox="1"/>
            <p:nvPr/>
          </p:nvSpPr>
          <p:spPr>
            <a:xfrm>
              <a:off x="685800" y="40894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1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EF70F21F-0265-BAED-3295-9D994953AD12}"/>
                </a:ext>
              </a:extLst>
            </p:cNvPr>
            <p:cNvSpPr txBox="1"/>
            <p:nvPr/>
          </p:nvSpPr>
          <p:spPr>
            <a:xfrm>
              <a:off x="190500" y="4622800"/>
              <a:ext cx="152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300">
                  <a:solidFill>
                    <a:srgbClr val="0B0B0C"/>
                  </a:solidFill>
                  <a:latin typeface="Instrument Sans Medium" pitchFamily="2" charset="0"/>
                </a:rPr>
                <a:t>Dor</a:t>
              </a:r>
            </a:p>
          </p:txBody>
        </p:sp>
      </p:grp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CEEC91C7-C999-07D3-872C-804DE23C2065}"/>
              </a:ext>
            </a:extLst>
          </p:cNvPr>
          <p:cNvGrpSpPr/>
          <p:nvPr/>
        </p:nvGrpSpPr>
        <p:grpSpPr>
          <a:xfrm>
            <a:off x="2247900" y="3924300"/>
            <a:ext cx="1524000" cy="1067832"/>
            <a:chOff x="2247900" y="3924300"/>
            <a:chExt cx="1524000" cy="1067832"/>
          </a:xfrm>
        </p:grpSpPr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81692BED-5CBC-E8FD-18CB-D3DF8F3FBF89}"/>
                </a:ext>
              </a:extLst>
            </p:cNvPr>
            <p:cNvSpPr/>
            <p:nvPr/>
          </p:nvSpPr>
          <p:spPr>
            <a:xfrm>
              <a:off x="2743200" y="39243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E9CDF77-748C-A9D6-069D-966F708EE444}"/>
                </a:ext>
              </a:extLst>
            </p:cNvPr>
            <p:cNvSpPr txBox="1"/>
            <p:nvPr/>
          </p:nvSpPr>
          <p:spPr>
            <a:xfrm>
              <a:off x="2743200" y="40894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2</a:t>
              </a:r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42EB95B4-7486-2672-7A49-FAD90079E13D}"/>
                </a:ext>
              </a:extLst>
            </p:cNvPr>
            <p:cNvSpPr txBox="1"/>
            <p:nvPr/>
          </p:nvSpPr>
          <p:spPr>
            <a:xfrm>
              <a:off x="2247900" y="4622800"/>
              <a:ext cx="152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300">
                  <a:solidFill>
                    <a:srgbClr val="0B0B0C"/>
                  </a:solidFill>
                  <a:latin typeface="Instrument Sans Medium" pitchFamily="2" charset="0"/>
                </a:rPr>
                <a:t>Impacto</a:t>
              </a:r>
            </a:p>
          </p:txBody>
        </p:sp>
      </p:grpSp>
      <p:grpSp>
        <p:nvGrpSpPr>
          <p:cNvPr id="17" name="Agrupar 16">
            <a:extLst>
              <a:ext uri="{FF2B5EF4-FFF2-40B4-BE49-F238E27FC236}">
                <a16:creationId xmlns:a16="http://schemas.microsoft.com/office/drawing/2014/main" id="{1BD85D83-52C9-AF9D-A595-58F969C574E4}"/>
              </a:ext>
            </a:extLst>
          </p:cNvPr>
          <p:cNvGrpSpPr/>
          <p:nvPr/>
        </p:nvGrpSpPr>
        <p:grpSpPr>
          <a:xfrm>
            <a:off x="4305300" y="3924300"/>
            <a:ext cx="1524000" cy="1067832"/>
            <a:chOff x="4305300" y="3924300"/>
            <a:chExt cx="1524000" cy="1067832"/>
          </a:xfrm>
        </p:grpSpPr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A738F543-0207-9B53-381F-EC400F9E157D}"/>
                </a:ext>
              </a:extLst>
            </p:cNvPr>
            <p:cNvSpPr/>
            <p:nvPr/>
          </p:nvSpPr>
          <p:spPr>
            <a:xfrm>
              <a:off x="4800600" y="39243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24E5ADA9-3832-99BD-F037-AFF0ADDB81E5}"/>
                </a:ext>
              </a:extLst>
            </p:cNvPr>
            <p:cNvSpPr txBox="1"/>
            <p:nvPr/>
          </p:nvSpPr>
          <p:spPr>
            <a:xfrm>
              <a:off x="4800600" y="40894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3</a:t>
              </a: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30D92EE9-C097-CFE5-2A37-89BE7B35139D}"/>
                </a:ext>
              </a:extLst>
            </p:cNvPr>
            <p:cNvSpPr txBox="1"/>
            <p:nvPr/>
          </p:nvSpPr>
          <p:spPr>
            <a:xfrm>
              <a:off x="4305300" y="4622800"/>
              <a:ext cx="152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300">
                  <a:solidFill>
                    <a:srgbClr val="0B0B0C"/>
                  </a:solidFill>
                  <a:latin typeface="Instrument Sans Medium" pitchFamily="2" charset="0"/>
                </a:rPr>
                <a:t>Oportunidade</a:t>
              </a:r>
            </a:p>
          </p:txBody>
        </p:sp>
      </p:grp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60314AFF-A55C-2BB9-6FCC-E8F6C88F1A59}"/>
              </a:ext>
            </a:extLst>
          </p:cNvPr>
          <p:cNvGrpSpPr/>
          <p:nvPr/>
        </p:nvGrpSpPr>
        <p:grpSpPr>
          <a:xfrm>
            <a:off x="6362700" y="3924300"/>
            <a:ext cx="1524000" cy="1067832"/>
            <a:chOff x="6362700" y="3924300"/>
            <a:chExt cx="1524000" cy="1067832"/>
          </a:xfrm>
        </p:grpSpPr>
        <p:sp>
          <p:nvSpPr>
            <p:cNvPr id="18" name="Elipse 17">
              <a:extLst>
                <a:ext uri="{FF2B5EF4-FFF2-40B4-BE49-F238E27FC236}">
                  <a16:creationId xmlns:a16="http://schemas.microsoft.com/office/drawing/2014/main" id="{A24B6086-5705-B84C-D7DB-9FFA3A383A25}"/>
                </a:ext>
              </a:extLst>
            </p:cNvPr>
            <p:cNvSpPr/>
            <p:nvPr/>
          </p:nvSpPr>
          <p:spPr>
            <a:xfrm>
              <a:off x="6858000" y="39243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B7AD96C1-9DD3-61A9-60CA-5FCD7DA038E2}"/>
                </a:ext>
              </a:extLst>
            </p:cNvPr>
            <p:cNvSpPr txBox="1"/>
            <p:nvPr/>
          </p:nvSpPr>
          <p:spPr>
            <a:xfrm>
              <a:off x="6858000" y="40894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4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32144ECA-4BBE-5128-ACB6-A97C7E594467}"/>
                </a:ext>
              </a:extLst>
            </p:cNvPr>
            <p:cNvSpPr txBox="1"/>
            <p:nvPr/>
          </p:nvSpPr>
          <p:spPr>
            <a:xfrm>
              <a:off x="6362700" y="4622800"/>
              <a:ext cx="152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300">
                  <a:solidFill>
                    <a:srgbClr val="0B0B0C"/>
                  </a:solidFill>
                  <a:latin typeface="Instrument Sans Medium" pitchFamily="2" charset="0"/>
                </a:rPr>
                <a:t>Solução</a:t>
              </a:r>
            </a:p>
          </p:txBody>
        </p:sp>
      </p:grp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F48456F3-52E2-ABC4-E19A-A5F5695D1FF1}"/>
              </a:ext>
            </a:extLst>
          </p:cNvPr>
          <p:cNvGrpSpPr/>
          <p:nvPr/>
        </p:nvGrpSpPr>
        <p:grpSpPr>
          <a:xfrm>
            <a:off x="8420100" y="3924300"/>
            <a:ext cx="1524000" cy="1067832"/>
            <a:chOff x="8420100" y="3924300"/>
            <a:chExt cx="1524000" cy="1067832"/>
          </a:xfrm>
        </p:grpSpPr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0514BB0A-7DD8-882E-8BBB-FAF144286146}"/>
                </a:ext>
              </a:extLst>
            </p:cNvPr>
            <p:cNvSpPr/>
            <p:nvPr/>
          </p:nvSpPr>
          <p:spPr>
            <a:xfrm>
              <a:off x="8915400" y="39243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E7146D61-AB55-3F2C-3668-394C64728F55}"/>
                </a:ext>
              </a:extLst>
            </p:cNvPr>
            <p:cNvSpPr txBox="1"/>
            <p:nvPr/>
          </p:nvSpPr>
          <p:spPr>
            <a:xfrm>
              <a:off x="8915400" y="40894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5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18115492-761A-9173-7358-66F72BFE7794}"/>
                </a:ext>
              </a:extLst>
            </p:cNvPr>
            <p:cNvSpPr txBox="1"/>
            <p:nvPr/>
          </p:nvSpPr>
          <p:spPr>
            <a:xfrm>
              <a:off x="8420100" y="4622800"/>
              <a:ext cx="152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300">
                  <a:solidFill>
                    <a:srgbClr val="0B0B0C"/>
                  </a:solidFill>
                  <a:latin typeface="Instrument Sans Medium" pitchFamily="2" charset="0"/>
                </a:rPr>
                <a:t>Tecnologia</a:t>
              </a:r>
            </a:p>
          </p:txBody>
        </p:sp>
      </p:grpSp>
      <p:grpSp>
        <p:nvGrpSpPr>
          <p:cNvPr id="29" name="Agrupar 28">
            <a:extLst>
              <a:ext uri="{FF2B5EF4-FFF2-40B4-BE49-F238E27FC236}">
                <a16:creationId xmlns:a16="http://schemas.microsoft.com/office/drawing/2014/main" id="{50AC23F6-676B-9266-E7F8-3D7E8E6DD823}"/>
              </a:ext>
            </a:extLst>
          </p:cNvPr>
          <p:cNvGrpSpPr/>
          <p:nvPr/>
        </p:nvGrpSpPr>
        <p:grpSpPr>
          <a:xfrm>
            <a:off x="10477500" y="3924300"/>
            <a:ext cx="1524000" cy="1067832"/>
            <a:chOff x="10477500" y="3924300"/>
            <a:chExt cx="1524000" cy="1067832"/>
          </a:xfrm>
        </p:grpSpPr>
        <p:sp>
          <p:nvSpPr>
            <p:cNvPr id="26" name="Elipse 25">
              <a:extLst>
                <a:ext uri="{FF2B5EF4-FFF2-40B4-BE49-F238E27FC236}">
                  <a16:creationId xmlns:a16="http://schemas.microsoft.com/office/drawing/2014/main" id="{66A5629C-F678-BBC6-F0A5-AE6D5A09F900}"/>
                </a:ext>
              </a:extLst>
            </p:cNvPr>
            <p:cNvSpPr/>
            <p:nvPr/>
          </p:nvSpPr>
          <p:spPr>
            <a:xfrm>
              <a:off x="10972800" y="3924300"/>
              <a:ext cx="533400" cy="5334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CaixaDeTexto 26">
              <a:extLst>
                <a:ext uri="{FF2B5EF4-FFF2-40B4-BE49-F238E27FC236}">
                  <a16:creationId xmlns:a16="http://schemas.microsoft.com/office/drawing/2014/main" id="{809A0FCE-A7B5-E9FC-2D8B-4C61ADA27C39}"/>
                </a:ext>
              </a:extLst>
            </p:cNvPr>
            <p:cNvSpPr txBox="1"/>
            <p:nvPr/>
          </p:nvSpPr>
          <p:spPr>
            <a:xfrm>
              <a:off x="10972800" y="40894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6</a:t>
              </a:r>
            </a:p>
          </p:txBody>
        </p:sp>
        <p:sp>
          <p:nvSpPr>
            <p:cNvPr id="28" name="CaixaDeTexto 27">
              <a:extLst>
                <a:ext uri="{FF2B5EF4-FFF2-40B4-BE49-F238E27FC236}">
                  <a16:creationId xmlns:a16="http://schemas.microsoft.com/office/drawing/2014/main" id="{A072D6C7-25A2-959E-84F0-338A95BBE452}"/>
                </a:ext>
              </a:extLst>
            </p:cNvPr>
            <p:cNvSpPr txBox="1"/>
            <p:nvPr/>
          </p:nvSpPr>
          <p:spPr>
            <a:xfrm>
              <a:off x="10477500" y="4622800"/>
              <a:ext cx="152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300">
                  <a:solidFill>
                    <a:srgbClr val="0B0B0C"/>
                  </a:solidFill>
                  <a:latin typeface="Instrument Sans Medium" pitchFamily="2" charset="0"/>
                </a:rPr>
                <a:t>Resultado</a:t>
              </a:r>
            </a:p>
          </p:txBody>
        </p:sp>
      </p:grpSp>
      <p:cxnSp>
        <p:nvCxnSpPr>
          <p:cNvPr id="30" name="Conector reto 29">
            <a:extLst>
              <a:ext uri="{FF2B5EF4-FFF2-40B4-BE49-F238E27FC236}">
                <a16:creationId xmlns:a16="http://schemas.microsoft.com/office/drawing/2014/main" id="{83B9C5AE-5845-3A42-BE5D-D58E5C8D3E7E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0B0B0C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AE390BAA-19EC-6007-B5D7-EB61ACE94C02}"/>
              </a:ext>
            </a:extLst>
          </p:cNvPr>
          <p:cNvCxnSpPr/>
          <p:nvPr/>
        </p:nvCxnSpPr>
        <p:spPr>
          <a:xfrm>
            <a:off x="685800" y="6578600"/>
            <a:ext cx="3902808" cy="0"/>
          </a:xfrm>
          <a:prstGeom prst="line">
            <a:avLst/>
          </a:prstGeom>
          <a:ln w="19050" cap="flat" cmpd="sng" algn="ctr">
            <a:solidFill>
              <a:srgbClr val="0F7C4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BB984DA5-7AA7-84B1-FCDE-3398B1F48B14}"/>
              </a:ext>
            </a:extLst>
          </p:cNvPr>
          <p:cNvSpPr/>
          <p:nvPr/>
        </p:nvSpPr>
        <p:spPr>
          <a:xfrm>
            <a:off x="4537808" y="6527800"/>
            <a:ext cx="101600" cy="101600"/>
          </a:xfrm>
          <a:prstGeom prst="ellipse">
            <a:avLst/>
          </a:prstGeom>
          <a:solidFill>
            <a:srgbClr val="0F7C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934C0CAB-5583-B262-BC9D-6D9D600070F5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575C61"/>
                </a:solidFill>
                <a:latin typeface="Instrument Sans Medium" pitchFamily="2" charset="0"/>
              </a:rPr>
              <a:t>05 / 13</a:t>
            </a:r>
          </a:p>
        </p:txBody>
      </p:sp>
    </p:spTree>
    <p:extLst>
      <p:ext uri="{BB962C8B-B14F-4D97-AF65-F5344CB8AC3E}">
        <p14:creationId xmlns:p14="http://schemas.microsoft.com/office/powerpoint/2010/main" val="656586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A6FE129D-523A-B7D7-5C70-410DF9F6613D}"/>
              </a:ext>
            </a:extLst>
          </p:cNvPr>
          <p:cNvSpPr txBox="1"/>
          <p:nvPr/>
        </p:nvSpPr>
        <p:spPr>
          <a:xfrm>
            <a:off x="685800" y="571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46EB7E"/>
                </a:solidFill>
                <a:latin typeface="Instrument Sans Medium" pitchFamily="2" charset="0"/>
              </a:rPr>
              <a:t>SOLUÇÕES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487064B-F5C0-5E3D-21A6-190E9188A175}"/>
              </a:ext>
            </a:extLst>
          </p:cNvPr>
          <p:cNvSpPr txBox="1"/>
          <p:nvPr/>
        </p:nvSpPr>
        <p:spPr>
          <a:xfrm>
            <a:off x="685800" y="990600"/>
            <a:ext cx="838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4000" b="1" spc="-120">
                <a:solidFill>
                  <a:srgbClr val="FFFFFF"/>
                </a:solidFill>
                <a:latin typeface="Urbanist" panose="020B0A04040200000203" pitchFamily="34" charset="0"/>
              </a:rPr>
              <a:t>Três formas de transformar tecnologia em </a:t>
            </a:r>
            <a:r>
              <a:rPr lang="pt-BR" sz="4000" b="1" spc="-120">
                <a:solidFill>
                  <a:srgbClr val="46EB7E"/>
                </a:solidFill>
                <a:latin typeface="Urbanist" panose="020B0A04040200000203" pitchFamily="34" charset="0"/>
              </a:rPr>
              <a:t>resultado.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40B4207B-4EBB-7B79-FDEB-1ED6851AF0E3}"/>
              </a:ext>
            </a:extLst>
          </p:cNvPr>
          <p:cNvGrpSpPr/>
          <p:nvPr/>
        </p:nvGrpSpPr>
        <p:grpSpPr>
          <a:xfrm>
            <a:off x="685800" y="2984500"/>
            <a:ext cx="3073400" cy="2071132"/>
            <a:chOff x="685800" y="2984500"/>
            <a:chExt cx="3073400" cy="2071132"/>
          </a:xfrm>
        </p:grpSpPr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D57C9D53-A664-3635-4FAB-C4461A77487E}"/>
                </a:ext>
              </a:extLst>
            </p:cNvPr>
            <p:cNvSpPr txBox="1"/>
            <p:nvPr/>
          </p:nvSpPr>
          <p:spPr>
            <a:xfrm>
              <a:off x="685800" y="2984500"/>
              <a:ext cx="254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7800" b="1" spc="-150">
                  <a:ln w="13970" cap="flat" cmpd="sng" algn="ctr">
                    <a:solidFill>
                      <a:srgbClr val="46EB7E">
                        <a:alpha val="65000"/>
                      </a:srgb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noFill/>
                  <a:latin typeface="Urbanist" panose="020B0A04040200000203" pitchFamily="34" charset="0"/>
                </a:rPr>
                <a:t>01</a:t>
              </a:r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813118D7-794C-5001-9DC0-72167ED4FEA9}"/>
                </a:ext>
              </a:extLst>
            </p:cNvPr>
            <p:cNvSpPr txBox="1"/>
            <p:nvPr/>
          </p:nvSpPr>
          <p:spPr>
            <a:xfrm>
              <a:off x="685800" y="4254500"/>
              <a:ext cx="2921000" cy="38100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2100" b="1" spc="-40">
                  <a:solidFill>
                    <a:srgbClr val="FFFFFF"/>
                  </a:solidFill>
                  <a:latin typeface="Urbanist" panose="020B0A04040200000203" pitchFamily="34" charset="0"/>
                </a:rPr>
                <a:t>Nova Receita Digital</a:t>
              </a:r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093D0F60-A735-0D35-1FE0-70EF70BC9CD1}"/>
                </a:ext>
              </a:extLst>
            </p:cNvPr>
            <p:cNvSpPr txBox="1"/>
            <p:nvPr/>
          </p:nvSpPr>
          <p:spPr>
            <a:xfrm>
              <a:off x="685800" y="4686300"/>
              <a:ext cx="307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35000"/>
                </a:lnSpc>
              </a:pPr>
              <a:r>
                <a:rPr lang="pt-BR" sz="1250">
                  <a:solidFill>
                    <a:srgbClr val="9BA1A6"/>
                  </a:solidFill>
                  <a:latin typeface="Instrument Sans Medium" pitchFamily="2" charset="0"/>
                </a:rPr>
                <a:t>Novos produtos digitais a partir dos ativos que a empresa já tem.</a:t>
              </a:r>
            </a:p>
          </p:txBody>
        </p:sp>
      </p:grp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82944C30-94A9-167A-0B17-E7F9229F809F}"/>
              </a:ext>
            </a:extLst>
          </p:cNvPr>
          <p:cNvGrpSpPr/>
          <p:nvPr/>
        </p:nvGrpSpPr>
        <p:grpSpPr>
          <a:xfrm>
            <a:off x="4673600" y="2984500"/>
            <a:ext cx="3073400" cy="2071132"/>
            <a:chOff x="4673600" y="2984500"/>
            <a:chExt cx="3073400" cy="2071132"/>
          </a:xfrm>
        </p:grpSpPr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97508C4E-B7F6-D756-FB5D-AF76B7F73781}"/>
                </a:ext>
              </a:extLst>
            </p:cNvPr>
            <p:cNvSpPr txBox="1"/>
            <p:nvPr/>
          </p:nvSpPr>
          <p:spPr>
            <a:xfrm>
              <a:off x="4673600" y="2984500"/>
              <a:ext cx="254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7800" b="1" spc="-150">
                  <a:ln w="13970" cap="flat" cmpd="sng" algn="ctr">
                    <a:solidFill>
                      <a:srgbClr val="46EB7E">
                        <a:alpha val="65000"/>
                      </a:srgb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noFill/>
                  <a:latin typeface="Urbanist" panose="020B0A04040200000203" pitchFamily="34" charset="0"/>
                </a:rPr>
                <a:t>02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D3B17931-AA97-C943-D4B5-3D72D684B6F2}"/>
                </a:ext>
              </a:extLst>
            </p:cNvPr>
            <p:cNvSpPr txBox="1"/>
            <p:nvPr/>
          </p:nvSpPr>
          <p:spPr>
            <a:xfrm>
              <a:off x="4673600" y="4254500"/>
              <a:ext cx="2921000" cy="38100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2100" b="1" spc="-40">
                  <a:solidFill>
                    <a:srgbClr val="FFFFFF"/>
                  </a:solidFill>
                  <a:latin typeface="Urbanist" panose="020B0A04040200000203" pitchFamily="34" charset="0"/>
                </a:rPr>
                <a:t>Sistemas Sob Medida</a:t>
              </a:r>
            </a:p>
          </p:txBody>
        </p:sp>
        <p:sp>
          <p:nvSpPr>
            <p:cNvPr id="10" name="CaixaDeTexto 9">
              <a:extLst>
                <a:ext uri="{FF2B5EF4-FFF2-40B4-BE49-F238E27FC236}">
                  <a16:creationId xmlns:a16="http://schemas.microsoft.com/office/drawing/2014/main" id="{DB87460A-954D-2B2E-43D3-84BFD82603B7}"/>
                </a:ext>
              </a:extLst>
            </p:cNvPr>
            <p:cNvSpPr txBox="1"/>
            <p:nvPr/>
          </p:nvSpPr>
          <p:spPr>
            <a:xfrm>
              <a:off x="4673600" y="4686300"/>
              <a:ext cx="307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35000"/>
                </a:lnSpc>
              </a:pPr>
              <a:r>
                <a:rPr lang="pt-BR" sz="1250">
                  <a:solidFill>
                    <a:srgbClr val="9BA1A6"/>
                  </a:solidFill>
                  <a:latin typeface="Instrument Sans Medium" pitchFamily="2" charset="0"/>
                </a:rPr>
                <a:t>Sistemas específicos para eliminar gargalos e centralizar a operação.</a:t>
              </a:r>
            </a:p>
          </p:txBody>
        </p: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02F3B802-EE0F-08B7-A8D6-BDFA62D15A65}"/>
              </a:ext>
            </a:extLst>
          </p:cNvPr>
          <p:cNvGrpSpPr/>
          <p:nvPr/>
        </p:nvGrpSpPr>
        <p:grpSpPr>
          <a:xfrm>
            <a:off x="8280400" y="2984500"/>
            <a:ext cx="3073400" cy="2071132"/>
            <a:chOff x="8280400" y="2984500"/>
            <a:chExt cx="3073400" cy="2071132"/>
          </a:xfrm>
        </p:grpSpPr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4434591F-CF29-94E9-824D-9678FAFC6961}"/>
                </a:ext>
              </a:extLst>
            </p:cNvPr>
            <p:cNvSpPr txBox="1"/>
            <p:nvPr/>
          </p:nvSpPr>
          <p:spPr>
            <a:xfrm>
              <a:off x="8280400" y="2984500"/>
              <a:ext cx="254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7800" b="1" spc="-150">
                  <a:ln w="13970" cap="flat" cmpd="sng" algn="ctr">
                    <a:solidFill>
                      <a:srgbClr val="46EB7E">
                        <a:alpha val="65000"/>
                      </a:srgb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noFill/>
                  <a:latin typeface="Urbanist" panose="020B0A04040200000203" pitchFamily="34" charset="0"/>
                </a:rPr>
                <a:t>03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2AB15254-3937-C95D-4221-D37D0BD82BA7}"/>
                </a:ext>
              </a:extLst>
            </p:cNvPr>
            <p:cNvSpPr txBox="1"/>
            <p:nvPr/>
          </p:nvSpPr>
          <p:spPr>
            <a:xfrm>
              <a:off x="8280400" y="4254500"/>
              <a:ext cx="2921000" cy="38100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2100" b="1" spc="-40">
                  <a:solidFill>
                    <a:srgbClr val="FFFFFF"/>
                  </a:solidFill>
                  <a:latin typeface="Urbanist" panose="020B0A04040200000203" pitchFamily="34" charset="0"/>
                </a:rPr>
                <a:t>Agentes de IA</a:t>
              </a:r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482C141E-7CD1-A628-C2AF-8D28523DD01B}"/>
                </a:ext>
              </a:extLst>
            </p:cNvPr>
            <p:cNvSpPr txBox="1"/>
            <p:nvPr/>
          </p:nvSpPr>
          <p:spPr>
            <a:xfrm>
              <a:off x="8280400" y="4686300"/>
              <a:ext cx="307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35000"/>
                </a:lnSpc>
              </a:pPr>
              <a:r>
                <a:rPr lang="pt-BR" sz="1250">
                  <a:solidFill>
                    <a:srgbClr val="9BA1A6"/>
                  </a:solidFill>
                  <a:latin typeface="Instrument Sans Medium" pitchFamily="2" charset="0"/>
                </a:rPr>
                <a:t>IA conectada aos dados e sistemas da empresa, executando trabalho real.</a:t>
              </a:r>
            </a:p>
          </p:txBody>
        </p:sp>
      </p:grp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4DF9025F-CE8B-2BDC-6FFB-AD4DDF76B9C2}"/>
              </a:ext>
            </a:extLst>
          </p:cNvPr>
          <p:cNvCxnSpPr/>
          <p:nvPr/>
        </p:nvCxnSpPr>
        <p:spPr>
          <a:xfrm>
            <a:off x="4292600" y="2984500"/>
            <a:ext cx="0" cy="2476500"/>
          </a:xfrm>
          <a:prstGeom prst="line">
            <a:avLst/>
          </a:prstGeom>
          <a:ln w="1270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BB3762B5-F4AC-90B9-68BD-1941239EFEDF}"/>
              </a:ext>
            </a:extLst>
          </p:cNvPr>
          <p:cNvCxnSpPr/>
          <p:nvPr/>
        </p:nvCxnSpPr>
        <p:spPr>
          <a:xfrm>
            <a:off x="7899400" y="2984500"/>
            <a:ext cx="0" cy="2476500"/>
          </a:xfrm>
          <a:prstGeom prst="line">
            <a:avLst/>
          </a:prstGeom>
          <a:ln w="1270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36A5CB52-99C7-321D-8CC2-BAB4FBC7F447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20E17F70-C18E-8660-D8DD-0B2790C10254}"/>
              </a:ext>
            </a:extLst>
          </p:cNvPr>
          <p:cNvCxnSpPr/>
          <p:nvPr/>
        </p:nvCxnSpPr>
        <p:spPr>
          <a:xfrm>
            <a:off x="685800" y="6578600"/>
            <a:ext cx="4683369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Elipse 19">
            <a:extLst>
              <a:ext uri="{FF2B5EF4-FFF2-40B4-BE49-F238E27FC236}">
                <a16:creationId xmlns:a16="http://schemas.microsoft.com/office/drawing/2014/main" id="{96045231-6E19-9725-1DD4-E0895BA876ED}"/>
              </a:ext>
            </a:extLst>
          </p:cNvPr>
          <p:cNvSpPr/>
          <p:nvPr/>
        </p:nvSpPr>
        <p:spPr>
          <a:xfrm>
            <a:off x="5318369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3E766EB4-6D73-C69C-C153-672D1B00EE56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06 / 13</a:t>
            </a:r>
          </a:p>
        </p:txBody>
      </p:sp>
    </p:spTree>
    <p:extLst>
      <p:ext uri="{BB962C8B-B14F-4D97-AF65-F5344CB8AC3E}">
        <p14:creationId xmlns:p14="http://schemas.microsoft.com/office/powerpoint/2010/main" val="35746372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grupar 4">
            <a:extLst>
              <a:ext uri="{FF2B5EF4-FFF2-40B4-BE49-F238E27FC236}">
                <a16:creationId xmlns:a16="http://schemas.microsoft.com/office/drawing/2014/main" id="{3DD1801E-6D2D-E58A-C019-B0E6080BEAC6}"/>
              </a:ext>
            </a:extLst>
          </p:cNvPr>
          <p:cNvGrpSpPr/>
          <p:nvPr/>
        </p:nvGrpSpPr>
        <p:grpSpPr>
          <a:xfrm>
            <a:off x="685800" y="609600"/>
            <a:ext cx="10134600" cy="699532"/>
            <a:chOff x="685800" y="609600"/>
            <a:chExt cx="10134600" cy="699532"/>
          </a:xfrm>
        </p:grpSpPr>
        <p:sp>
          <p:nvSpPr>
            <p:cNvPr id="2" name="CaixaDeTexto 1">
              <a:extLst>
                <a:ext uri="{FF2B5EF4-FFF2-40B4-BE49-F238E27FC236}">
                  <a16:creationId xmlns:a16="http://schemas.microsoft.com/office/drawing/2014/main" id="{9073723E-D78E-EA78-669B-707A84EDECEC}"/>
                </a:ext>
              </a:extLst>
            </p:cNvPr>
            <p:cNvSpPr txBox="1"/>
            <p:nvPr/>
          </p:nvSpPr>
          <p:spPr>
            <a:xfrm>
              <a:off x="685800" y="609600"/>
              <a:ext cx="1422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6800" b="1" spc="-120">
                  <a:ln w="13970" cap="flat" cmpd="sng" algn="ctr">
                    <a:solidFill>
                      <a:srgbClr val="46EB7E">
                        <a:alpha val="65000"/>
                      </a:srgb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noFill/>
                  <a:latin typeface="Urbanist" panose="020B0A04040200000203" pitchFamily="34" charset="0"/>
                </a:rPr>
                <a:t>01</a:t>
              </a: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0AE3542D-CB77-CFD2-5A5D-A5378D2E161A}"/>
                </a:ext>
              </a:extLst>
            </p:cNvPr>
            <p:cNvSpPr txBox="1"/>
            <p:nvPr/>
          </p:nvSpPr>
          <p:spPr>
            <a:xfrm>
              <a:off x="2438400" y="660400"/>
              <a:ext cx="508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00" spc="170">
                  <a:solidFill>
                    <a:srgbClr val="46EB7E"/>
                  </a:solidFill>
                  <a:latin typeface="Instrument Sans Medium" pitchFamily="2" charset="0"/>
                </a:rPr>
                <a:t>NOVA RECEITA DIGITAL</a:t>
              </a:r>
            </a:p>
          </p:txBody>
        </p:sp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A2B75174-AC56-DE75-9E64-CA739E89AEFA}"/>
                </a:ext>
              </a:extLst>
            </p:cNvPr>
            <p:cNvSpPr txBox="1"/>
            <p:nvPr/>
          </p:nvSpPr>
          <p:spPr>
            <a:xfrm>
              <a:off x="2438400" y="939800"/>
              <a:ext cx="838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3800" b="1" spc="-110">
                  <a:solidFill>
                    <a:srgbClr val="FFFFFF"/>
                  </a:solidFill>
                  <a:latin typeface="Urbanist" panose="020B0A04040200000203" pitchFamily="34" charset="0"/>
                </a:rPr>
                <a:t>Transforme sua base de clientes em uma </a:t>
              </a:r>
              <a:r>
                <a:rPr lang="pt-BR" sz="3800" b="1" spc="-110">
                  <a:solidFill>
                    <a:srgbClr val="46EB7E"/>
                  </a:solidFill>
                  <a:latin typeface="Urbanist" panose="020B0A04040200000203" pitchFamily="34" charset="0"/>
                </a:rPr>
                <a:t>nova fonte de receita.</a:t>
              </a:r>
            </a:p>
          </p:txBody>
        </p:sp>
      </p:grpSp>
      <p:sp>
        <p:nvSpPr>
          <p:cNvPr id="6" name="CaixaDeTexto 5">
            <a:extLst>
              <a:ext uri="{FF2B5EF4-FFF2-40B4-BE49-F238E27FC236}">
                <a16:creationId xmlns:a16="http://schemas.microsoft.com/office/drawing/2014/main" id="{2690C99B-45BC-3E50-9F1A-7D094AA70C8A}"/>
              </a:ext>
            </a:extLst>
          </p:cNvPr>
          <p:cNvSpPr txBox="1"/>
          <p:nvPr/>
        </p:nvSpPr>
        <p:spPr>
          <a:xfrm>
            <a:off x="9601200" y="6604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140">
                <a:solidFill>
                  <a:srgbClr val="9BA1A6"/>
                </a:solidFill>
                <a:latin typeface="Instrument Sans Medium" pitchFamily="2" charset="0"/>
              </a:rPr>
              <a:t>ILUSTRATIVO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7F99D391-6309-8FFC-4F64-21F0732E8DDC}"/>
              </a:ext>
            </a:extLst>
          </p:cNvPr>
          <p:cNvGrpSpPr/>
          <p:nvPr/>
        </p:nvGrpSpPr>
        <p:grpSpPr>
          <a:xfrm>
            <a:off x="654050" y="2260600"/>
            <a:ext cx="10045700" cy="3239532"/>
            <a:chOff x="654050" y="2260600"/>
            <a:chExt cx="10045700" cy="3239532"/>
          </a:xfrm>
        </p:grpSpPr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FB979CBF-CF87-B5AB-CC7A-B65D1F77C278}"/>
                </a:ext>
              </a:extLst>
            </p:cNvPr>
            <p:cNvCxnSpPr/>
            <p:nvPr/>
          </p:nvCxnSpPr>
          <p:spPr>
            <a:xfrm>
              <a:off x="723900" y="4724400"/>
              <a:ext cx="9906000" cy="0"/>
            </a:xfrm>
            <a:prstGeom prst="line">
              <a:avLst/>
            </a:prstGeom>
            <a:ln w="15240" cap="flat" cmpd="sng" algn="ctr">
              <a:solidFill>
                <a:srgbClr val="FFFFFF">
                  <a:alpha val="1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ector reto 7">
              <a:extLst>
                <a:ext uri="{FF2B5EF4-FFF2-40B4-BE49-F238E27FC236}">
                  <a16:creationId xmlns:a16="http://schemas.microsoft.com/office/drawing/2014/main" id="{3432B9D7-E0A4-FB6E-1B35-691814EE191F}"/>
                </a:ext>
              </a:extLst>
            </p:cNvPr>
            <p:cNvCxnSpPr/>
            <p:nvPr/>
          </p:nvCxnSpPr>
          <p:spPr>
            <a:xfrm flipV="1">
              <a:off x="723900" y="4305300"/>
              <a:ext cx="9906000" cy="1778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1C06F7B2-F6E1-AD70-760D-74A349F21989}"/>
                </a:ext>
              </a:extLst>
            </p:cNvPr>
            <p:cNvSpPr txBox="1"/>
            <p:nvPr/>
          </p:nvSpPr>
          <p:spPr>
            <a:xfrm>
              <a:off x="8763000" y="4089400"/>
              <a:ext cx="18669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>
                <a:lnSpc>
                  <a:spcPct val="104000"/>
                </a:lnSpc>
              </a:pPr>
              <a:r>
                <a:rPr lang="pt-BR" sz="950">
                  <a:solidFill>
                    <a:srgbClr val="9BA1A6"/>
                  </a:solidFill>
                  <a:latin typeface="Instrument Sans Medium" pitchFamily="2" charset="0"/>
                </a:rPr>
                <a:t>receita atual</a:t>
              </a:r>
            </a:p>
          </p:txBody>
        </p:sp>
        <p:sp>
          <p:nvSpPr>
            <p:cNvPr id="10" name="Forma Livre: Forma 9">
              <a:extLst>
                <a:ext uri="{FF2B5EF4-FFF2-40B4-BE49-F238E27FC236}">
                  <a16:creationId xmlns:a16="http://schemas.microsoft.com/office/drawing/2014/main" id="{AAE7783A-FDCE-7154-472A-5B9117863BC1}"/>
                </a:ext>
              </a:extLst>
            </p:cNvPr>
            <p:cNvSpPr/>
            <p:nvPr/>
          </p:nvSpPr>
          <p:spPr>
            <a:xfrm>
              <a:off x="723900" y="2565400"/>
              <a:ext cx="9906001" cy="2159001"/>
            </a:xfrm>
            <a:custGeom>
              <a:avLst/>
              <a:gdLst/>
              <a:ahLst/>
              <a:cxnLst/>
              <a:rect l="0" t="0" r="0" b="0"/>
              <a:pathLst>
                <a:path w="9906001" h="2159001">
                  <a:moveTo>
                    <a:pt x="0" y="1879600"/>
                  </a:moveTo>
                  <a:cubicBezTo>
                    <a:pt x="1244600" y="1854200"/>
                    <a:pt x="2197100" y="1803400"/>
                    <a:pt x="3302000" y="1689100"/>
                  </a:cubicBezTo>
                  <a:cubicBezTo>
                    <a:pt x="4445000" y="1562100"/>
                    <a:pt x="5499100" y="1270000"/>
                    <a:pt x="6604000" y="889000"/>
                  </a:cubicBezTo>
                  <a:cubicBezTo>
                    <a:pt x="7747000" y="508000"/>
                    <a:pt x="8890000" y="254000"/>
                    <a:pt x="9906000" y="0"/>
                  </a:cubicBezTo>
                  <a:lnTo>
                    <a:pt x="9906000" y="2159000"/>
                  </a:lnTo>
                  <a:lnTo>
                    <a:pt x="0" y="2159000"/>
                  </a:lnTo>
                </a:path>
              </a:pathLst>
            </a:custGeom>
            <a:solidFill>
              <a:srgbClr val="46EB7E">
                <a:alpha val="10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Forma Livre: Forma 10">
              <a:extLst>
                <a:ext uri="{FF2B5EF4-FFF2-40B4-BE49-F238E27FC236}">
                  <a16:creationId xmlns:a16="http://schemas.microsoft.com/office/drawing/2014/main" id="{C9A07BB9-1851-E2DB-E7B9-CA605EE8D76D}"/>
                </a:ext>
              </a:extLst>
            </p:cNvPr>
            <p:cNvSpPr/>
            <p:nvPr/>
          </p:nvSpPr>
          <p:spPr>
            <a:xfrm>
              <a:off x="723900" y="2565400"/>
              <a:ext cx="9906001" cy="1879601"/>
            </a:xfrm>
            <a:custGeom>
              <a:avLst/>
              <a:gdLst/>
              <a:ahLst/>
              <a:cxnLst/>
              <a:rect l="0" t="0" r="0" b="0"/>
              <a:pathLst>
                <a:path w="9906001" h="1879601">
                  <a:moveTo>
                    <a:pt x="0" y="1879600"/>
                  </a:moveTo>
                  <a:cubicBezTo>
                    <a:pt x="1244600" y="1854200"/>
                    <a:pt x="2197100" y="1803400"/>
                    <a:pt x="3302000" y="1689100"/>
                  </a:cubicBezTo>
                  <a:cubicBezTo>
                    <a:pt x="4445000" y="1562100"/>
                    <a:pt x="5499100" y="1270000"/>
                    <a:pt x="6604000" y="889000"/>
                  </a:cubicBezTo>
                  <a:cubicBezTo>
                    <a:pt x="7747000" y="508000"/>
                    <a:pt x="8890000" y="254000"/>
                    <a:pt x="9906000" y="0"/>
                  </a:cubicBezTo>
                </a:path>
              </a:pathLst>
            </a:custGeom>
            <a:ln w="30480" cap="flat" cmpd="sng" algn="ctr">
              <a:solidFill>
                <a:srgbClr val="46EB7E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84D8FE22-81B5-26CD-8CB4-C45EC9B6A697}"/>
                </a:ext>
              </a:extLst>
            </p:cNvPr>
            <p:cNvSpPr txBox="1"/>
            <p:nvPr/>
          </p:nvSpPr>
          <p:spPr>
            <a:xfrm>
              <a:off x="8763000" y="2260600"/>
              <a:ext cx="18669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>
                <a:lnSpc>
                  <a:spcPct val="104000"/>
                </a:lnSpc>
              </a:pPr>
              <a:r>
                <a:rPr lang="pt-BR" sz="950">
                  <a:solidFill>
                    <a:srgbClr val="46EB7E"/>
                  </a:solidFill>
                  <a:latin typeface="Instrument Sans Medium" pitchFamily="2" charset="0"/>
                </a:rPr>
                <a:t>nova receita digital</a:t>
              </a:r>
            </a:p>
          </p:txBody>
        </p: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DAD9AB7C-2ACD-3A96-A280-4FB84EE30849}"/>
                </a:ext>
              </a:extLst>
            </p:cNvPr>
            <p:cNvSpPr/>
            <p:nvPr/>
          </p:nvSpPr>
          <p:spPr>
            <a:xfrm>
              <a:off x="654050" y="43751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FFFFFF">
                  <a:alpha val="5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47DB3E83-5CE7-3A44-7670-A4A5F685DDE0}"/>
                </a:ext>
              </a:extLst>
            </p:cNvPr>
            <p:cNvSpPr txBox="1"/>
            <p:nvPr/>
          </p:nvSpPr>
          <p:spPr>
            <a:xfrm>
              <a:off x="723900" y="49022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00">
                  <a:solidFill>
                    <a:srgbClr val="E8EAEC"/>
                  </a:solidFill>
                  <a:latin typeface="Instrument Sans Medium" pitchFamily="2" charset="0"/>
                </a:rPr>
                <a:t>Base atual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620F8783-299F-504B-761C-FAF60ADE67DC}"/>
                </a:ext>
              </a:extLst>
            </p:cNvPr>
            <p:cNvSpPr txBox="1"/>
            <p:nvPr/>
          </p:nvSpPr>
          <p:spPr>
            <a:xfrm>
              <a:off x="723900" y="51308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950">
                  <a:solidFill>
                    <a:srgbClr val="9BA1A6"/>
                  </a:solidFill>
                  <a:latin typeface="Instrument Sans Medium" pitchFamily="2" charset="0"/>
                </a:rPr>
                <a:t>clientes, conhecimento, dados</a:t>
              </a:r>
            </a:p>
          </p:txBody>
        </p:sp>
        <p:sp>
          <p:nvSpPr>
            <p:cNvPr id="16" name="Elipse 15">
              <a:extLst>
                <a:ext uri="{FF2B5EF4-FFF2-40B4-BE49-F238E27FC236}">
                  <a16:creationId xmlns:a16="http://schemas.microsoft.com/office/drawing/2014/main" id="{CB9A4BFF-7F68-9F0A-A6E2-4911F93B4582}"/>
                </a:ext>
              </a:extLst>
            </p:cNvPr>
            <p:cNvSpPr/>
            <p:nvPr/>
          </p:nvSpPr>
          <p:spPr>
            <a:xfrm>
              <a:off x="3956050" y="41846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FFFFFF">
                  <a:alpha val="5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1B5611F5-5472-B882-A54A-20D19B8198ED}"/>
                </a:ext>
              </a:extLst>
            </p:cNvPr>
            <p:cNvSpPr txBox="1"/>
            <p:nvPr/>
          </p:nvSpPr>
          <p:spPr>
            <a:xfrm>
              <a:off x="3073400" y="49022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200">
                  <a:solidFill>
                    <a:srgbClr val="E8EAEC"/>
                  </a:solidFill>
                  <a:latin typeface="Instrument Sans Medium" pitchFamily="2" charset="0"/>
                </a:rPr>
                <a:t>Produto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7E8EECF3-A246-81FC-450F-010DE7F177F0}"/>
                </a:ext>
              </a:extLst>
            </p:cNvPr>
            <p:cNvSpPr txBox="1"/>
            <p:nvPr/>
          </p:nvSpPr>
          <p:spPr>
            <a:xfrm>
              <a:off x="3073400" y="51308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950">
                  <a:solidFill>
                    <a:srgbClr val="9BA1A6"/>
                  </a:solidFill>
                  <a:latin typeface="Instrument Sans Medium" pitchFamily="2" charset="0"/>
                </a:rPr>
                <a:t>novo produto digital</a:t>
              </a:r>
            </a:p>
          </p:txBody>
        </p: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6D60F588-ACB5-F82A-EDCE-130EF84D9439}"/>
                </a:ext>
              </a:extLst>
            </p:cNvPr>
            <p:cNvSpPr/>
            <p:nvPr/>
          </p:nvSpPr>
          <p:spPr>
            <a:xfrm>
              <a:off x="7258050" y="33845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FFFFFF">
                  <a:alpha val="5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39665EC7-538F-8C88-7B77-5D72F43A913E}"/>
                </a:ext>
              </a:extLst>
            </p:cNvPr>
            <p:cNvSpPr txBox="1"/>
            <p:nvPr/>
          </p:nvSpPr>
          <p:spPr>
            <a:xfrm>
              <a:off x="6375400" y="49022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200">
                  <a:solidFill>
                    <a:srgbClr val="E8EAEC"/>
                  </a:solidFill>
                  <a:latin typeface="Instrument Sans Medium" pitchFamily="2" charset="0"/>
                </a:rPr>
                <a:t>Assinatura</a:t>
              </a:r>
            </a:p>
          </p:txBody>
        </p: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59B48443-5A26-303F-49D0-A4C31642FEBD}"/>
                </a:ext>
              </a:extLst>
            </p:cNvPr>
            <p:cNvSpPr txBox="1"/>
            <p:nvPr/>
          </p:nvSpPr>
          <p:spPr>
            <a:xfrm>
              <a:off x="6375400" y="51308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950">
                  <a:solidFill>
                    <a:srgbClr val="9BA1A6"/>
                  </a:solidFill>
                  <a:latin typeface="Instrument Sans Medium" pitchFamily="2" charset="0"/>
                </a:rPr>
                <a:t>modelo de cobrança</a:t>
              </a:r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EAC4DB70-DA2A-F7D7-F759-2DE97BF04E74}"/>
                </a:ext>
              </a:extLst>
            </p:cNvPr>
            <p:cNvSpPr/>
            <p:nvPr/>
          </p:nvSpPr>
          <p:spPr>
            <a:xfrm>
              <a:off x="10560050" y="2495550"/>
              <a:ext cx="139700" cy="1397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3BD6CD30-BF83-D58B-4A7E-6BFFAD286234}"/>
                </a:ext>
              </a:extLst>
            </p:cNvPr>
            <p:cNvSpPr txBox="1"/>
            <p:nvPr/>
          </p:nvSpPr>
          <p:spPr>
            <a:xfrm>
              <a:off x="8724900" y="49022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>
                <a:lnSpc>
                  <a:spcPct val="104000"/>
                </a:lnSpc>
              </a:pPr>
              <a:r>
                <a:rPr lang="pt-BR" sz="1200">
                  <a:solidFill>
                    <a:srgbClr val="46EB7E"/>
                  </a:solidFill>
                  <a:latin typeface="Instrument Sans Medium" pitchFamily="2" charset="0"/>
                </a:rPr>
                <a:t>Receita recorrente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E9260952-DF5B-F4B7-4E20-121357BCEA88}"/>
                </a:ext>
              </a:extLst>
            </p:cNvPr>
            <p:cNvSpPr txBox="1"/>
            <p:nvPr/>
          </p:nvSpPr>
          <p:spPr>
            <a:xfrm>
              <a:off x="8724900" y="51308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>
                <a:lnSpc>
                  <a:spcPct val="104000"/>
                </a:lnSpc>
              </a:pPr>
              <a:r>
                <a:rPr lang="pt-BR" sz="950">
                  <a:solidFill>
                    <a:srgbClr val="9BA1A6"/>
                  </a:solidFill>
                  <a:latin typeface="Instrument Sans Medium" pitchFamily="2" charset="0"/>
                </a:rPr>
                <a:t>nova linha de receita</a:t>
              </a:r>
            </a:p>
          </p:txBody>
        </p:sp>
      </p:grp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1FE4C5DC-D379-70BD-934E-1D91E1A748BF}"/>
              </a:ext>
            </a:extLst>
          </p:cNvPr>
          <p:cNvSpPr txBox="1"/>
          <p:nvPr/>
        </p:nvSpPr>
        <p:spPr>
          <a:xfrm>
            <a:off x="685800" y="5816600"/>
            <a:ext cx="1016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400">
                <a:solidFill>
                  <a:srgbClr val="9BA1A6"/>
                </a:solidFill>
                <a:latin typeface="Instrument Sans Medium" pitchFamily="2" charset="0"/>
              </a:rPr>
              <a:t>Se parte dos seus clientes pagasse por um novo produto digital, </a:t>
            </a:r>
            <a:r>
              <a:rPr lang="pt-BR" sz="1400">
                <a:solidFill>
                  <a:srgbClr val="FFFFFF"/>
                </a:solidFill>
                <a:latin typeface="Instrument Sans Medium" pitchFamily="2" charset="0"/>
              </a:rPr>
              <a:t>o que valeria a pena construir?</a:t>
            </a:r>
          </a:p>
        </p:txBody>
      </p:sp>
      <p:cxnSp>
        <p:nvCxnSpPr>
          <p:cNvPr id="27" name="Conector reto 26">
            <a:extLst>
              <a:ext uri="{FF2B5EF4-FFF2-40B4-BE49-F238E27FC236}">
                <a16:creationId xmlns:a16="http://schemas.microsoft.com/office/drawing/2014/main" id="{FFC92987-A323-ED5A-2A7D-F20DB1FAD723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F6119D24-EDE5-EDFB-0A79-EE83612BCD26}"/>
              </a:ext>
            </a:extLst>
          </p:cNvPr>
          <p:cNvCxnSpPr/>
          <p:nvPr/>
        </p:nvCxnSpPr>
        <p:spPr>
          <a:xfrm>
            <a:off x="685800" y="6578600"/>
            <a:ext cx="5463931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Elipse 28">
            <a:extLst>
              <a:ext uri="{FF2B5EF4-FFF2-40B4-BE49-F238E27FC236}">
                <a16:creationId xmlns:a16="http://schemas.microsoft.com/office/drawing/2014/main" id="{4838009F-423B-6578-C34C-74D8014F1530}"/>
              </a:ext>
            </a:extLst>
          </p:cNvPr>
          <p:cNvSpPr/>
          <p:nvPr/>
        </p:nvSpPr>
        <p:spPr>
          <a:xfrm>
            <a:off x="6098931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07393EE2-2C26-9059-25A2-C05687BC8101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07 / 13</a:t>
            </a:r>
          </a:p>
        </p:txBody>
      </p:sp>
    </p:spTree>
    <p:extLst>
      <p:ext uri="{BB962C8B-B14F-4D97-AF65-F5344CB8AC3E}">
        <p14:creationId xmlns:p14="http://schemas.microsoft.com/office/powerpoint/2010/main" val="34779889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grupar 4">
            <a:extLst>
              <a:ext uri="{FF2B5EF4-FFF2-40B4-BE49-F238E27FC236}">
                <a16:creationId xmlns:a16="http://schemas.microsoft.com/office/drawing/2014/main" id="{73B94436-BDA1-900A-4930-42B800304575}"/>
              </a:ext>
            </a:extLst>
          </p:cNvPr>
          <p:cNvGrpSpPr/>
          <p:nvPr/>
        </p:nvGrpSpPr>
        <p:grpSpPr>
          <a:xfrm>
            <a:off x="685800" y="609600"/>
            <a:ext cx="10134600" cy="699532"/>
            <a:chOff x="685800" y="609600"/>
            <a:chExt cx="10134600" cy="699532"/>
          </a:xfrm>
        </p:grpSpPr>
        <p:sp>
          <p:nvSpPr>
            <p:cNvPr id="2" name="CaixaDeTexto 1">
              <a:extLst>
                <a:ext uri="{FF2B5EF4-FFF2-40B4-BE49-F238E27FC236}">
                  <a16:creationId xmlns:a16="http://schemas.microsoft.com/office/drawing/2014/main" id="{BB7CD056-5B92-397C-4E81-625E4B8D1D13}"/>
                </a:ext>
              </a:extLst>
            </p:cNvPr>
            <p:cNvSpPr txBox="1"/>
            <p:nvPr/>
          </p:nvSpPr>
          <p:spPr>
            <a:xfrm>
              <a:off x="685800" y="609600"/>
              <a:ext cx="1422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6800" b="1" spc="-120">
                  <a:ln w="13970" cap="flat" cmpd="sng" algn="ctr">
                    <a:solidFill>
                      <a:srgbClr val="46EB7E">
                        <a:alpha val="65000"/>
                      </a:srgb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noFill/>
                  <a:latin typeface="Urbanist" panose="020B0A04040200000203" pitchFamily="34" charset="0"/>
                </a:rPr>
                <a:t>02</a:t>
              </a: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54750A3C-051C-1599-1F5D-44619E4B9A56}"/>
                </a:ext>
              </a:extLst>
            </p:cNvPr>
            <p:cNvSpPr txBox="1"/>
            <p:nvPr/>
          </p:nvSpPr>
          <p:spPr>
            <a:xfrm>
              <a:off x="2438400" y="660400"/>
              <a:ext cx="508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00" spc="170">
                  <a:solidFill>
                    <a:srgbClr val="46EB7E"/>
                  </a:solidFill>
                  <a:latin typeface="Instrument Sans Medium" pitchFamily="2" charset="0"/>
                </a:rPr>
                <a:t>SISTEMAS SOB MEDIDA</a:t>
              </a:r>
            </a:p>
          </p:txBody>
        </p:sp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08547206-7241-B1FD-B316-CA1A2CBF2283}"/>
                </a:ext>
              </a:extLst>
            </p:cNvPr>
            <p:cNvSpPr txBox="1"/>
            <p:nvPr/>
          </p:nvSpPr>
          <p:spPr>
            <a:xfrm>
              <a:off x="2438400" y="939800"/>
              <a:ext cx="838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3800" b="1" spc="-110">
                  <a:solidFill>
                    <a:srgbClr val="FFFFFF"/>
                  </a:solidFill>
                  <a:latin typeface="Urbanist" panose="020B0A04040200000203" pitchFamily="34" charset="0"/>
                </a:rPr>
                <a:t>Sua operação é única. </a:t>
              </a:r>
              <a:r>
                <a:rPr lang="pt-BR" sz="3800" b="1" spc="-110">
                  <a:solidFill>
                    <a:srgbClr val="46EB7E"/>
                  </a:solidFill>
                  <a:latin typeface="Urbanist" panose="020B0A04040200000203" pitchFamily="34" charset="0"/>
                </a:rPr>
                <a:t>Seu sistema também pode ser.</a:t>
              </a:r>
            </a:p>
          </p:txBody>
        </p:sp>
      </p:grp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8D68BA26-2233-2B60-3D7F-98FDA876D6BE}"/>
              </a:ext>
            </a:extLst>
          </p:cNvPr>
          <p:cNvGrpSpPr/>
          <p:nvPr/>
        </p:nvGrpSpPr>
        <p:grpSpPr>
          <a:xfrm>
            <a:off x="685800" y="2628900"/>
            <a:ext cx="10045700" cy="2844800"/>
            <a:chOff x="685800" y="2628900"/>
            <a:chExt cx="10045700" cy="2844800"/>
          </a:xfrm>
        </p:grpSpPr>
        <p:sp>
          <p:nvSpPr>
            <p:cNvPr id="6" name="Forma Livre: Forma 5">
              <a:extLst>
                <a:ext uri="{FF2B5EF4-FFF2-40B4-BE49-F238E27FC236}">
                  <a16:creationId xmlns:a16="http://schemas.microsoft.com/office/drawing/2014/main" id="{D7C37778-1D81-B6F7-C66E-EC9511CC97A0}"/>
                </a:ext>
              </a:extLst>
            </p:cNvPr>
            <p:cNvSpPr/>
            <p:nvPr/>
          </p:nvSpPr>
          <p:spPr>
            <a:xfrm>
              <a:off x="1866900" y="2819400"/>
              <a:ext cx="2692401" cy="927101"/>
            </a:xfrm>
            <a:custGeom>
              <a:avLst/>
              <a:gdLst/>
              <a:ahLst/>
              <a:cxnLst/>
              <a:rect l="0" t="0" r="0" b="0"/>
              <a:pathLst>
                <a:path w="2692401" h="927101">
                  <a:moveTo>
                    <a:pt x="0" y="0"/>
                  </a:moveTo>
                  <a:cubicBezTo>
                    <a:pt x="1727200" y="0"/>
                    <a:pt x="2184400" y="927100"/>
                    <a:pt x="2692400" y="927100"/>
                  </a:cubicBezTo>
                </a:path>
              </a:pathLst>
            </a:custGeom>
            <a:ln w="13970" cap="flat" cmpd="sng" algn="ctr">
              <a:solidFill>
                <a:srgbClr val="FFFFFF">
                  <a:alpha val="2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Forma Livre: Forma 6">
              <a:extLst>
                <a:ext uri="{FF2B5EF4-FFF2-40B4-BE49-F238E27FC236}">
                  <a16:creationId xmlns:a16="http://schemas.microsoft.com/office/drawing/2014/main" id="{F5051D7E-060E-7331-01E1-7990EDF66BC4}"/>
                </a:ext>
              </a:extLst>
            </p:cNvPr>
            <p:cNvSpPr/>
            <p:nvPr/>
          </p:nvSpPr>
          <p:spPr>
            <a:xfrm>
              <a:off x="2679700" y="3403600"/>
              <a:ext cx="1879601" cy="393701"/>
            </a:xfrm>
            <a:custGeom>
              <a:avLst/>
              <a:gdLst/>
              <a:ahLst/>
              <a:cxnLst/>
              <a:rect l="0" t="0" r="0" b="0"/>
              <a:pathLst>
                <a:path w="1879601" h="393701">
                  <a:moveTo>
                    <a:pt x="0" y="0"/>
                  </a:moveTo>
                  <a:cubicBezTo>
                    <a:pt x="1320800" y="0"/>
                    <a:pt x="1371600" y="393700"/>
                    <a:pt x="1879600" y="393700"/>
                  </a:cubicBezTo>
                </a:path>
              </a:pathLst>
            </a:custGeom>
            <a:ln w="13970" cap="flat" cmpd="sng" algn="ctr">
              <a:solidFill>
                <a:srgbClr val="FFFFFF">
                  <a:alpha val="2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Forma Livre: Forma 7">
              <a:extLst>
                <a:ext uri="{FF2B5EF4-FFF2-40B4-BE49-F238E27FC236}">
                  <a16:creationId xmlns:a16="http://schemas.microsoft.com/office/drawing/2014/main" id="{BAB03F4C-988E-6210-33D5-BC51EF604920}"/>
                </a:ext>
              </a:extLst>
            </p:cNvPr>
            <p:cNvSpPr/>
            <p:nvPr/>
          </p:nvSpPr>
          <p:spPr>
            <a:xfrm>
              <a:off x="1930400" y="3848100"/>
              <a:ext cx="2628901" cy="177801"/>
            </a:xfrm>
            <a:custGeom>
              <a:avLst/>
              <a:gdLst/>
              <a:ahLst/>
              <a:cxnLst/>
              <a:rect l="0" t="0" r="0" b="0"/>
              <a:pathLst>
                <a:path w="2628901" h="177801">
                  <a:moveTo>
                    <a:pt x="0" y="177800"/>
                  </a:moveTo>
                  <a:cubicBezTo>
                    <a:pt x="1695450" y="177800"/>
                    <a:pt x="2120900" y="0"/>
                    <a:pt x="2628900" y="0"/>
                  </a:cubicBezTo>
                </a:path>
              </a:pathLst>
            </a:custGeom>
            <a:ln w="13970" cap="flat" cmpd="sng" algn="ctr">
              <a:solidFill>
                <a:srgbClr val="FFFFFF">
                  <a:alpha val="2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Forma Livre: Forma 8">
              <a:extLst>
                <a:ext uri="{FF2B5EF4-FFF2-40B4-BE49-F238E27FC236}">
                  <a16:creationId xmlns:a16="http://schemas.microsoft.com/office/drawing/2014/main" id="{239FBCDE-DF6D-22FB-E557-71D66CE55E81}"/>
                </a:ext>
              </a:extLst>
            </p:cNvPr>
            <p:cNvSpPr/>
            <p:nvPr/>
          </p:nvSpPr>
          <p:spPr>
            <a:xfrm>
              <a:off x="3289300" y="3911600"/>
              <a:ext cx="1270001" cy="736601"/>
            </a:xfrm>
            <a:custGeom>
              <a:avLst/>
              <a:gdLst/>
              <a:ahLst/>
              <a:cxnLst/>
              <a:rect l="0" t="0" r="0" b="0"/>
              <a:pathLst>
                <a:path w="1270001" h="736601">
                  <a:moveTo>
                    <a:pt x="0" y="736600"/>
                  </a:moveTo>
                  <a:cubicBezTo>
                    <a:pt x="1016000" y="736600"/>
                    <a:pt x="762000" y="0"/>
                    <a:pt x="1270000" y="0"/>
                  </a:cubicBezTo>
                </a:path>
              </a:pathLst>
            </a:custGeom>
            <a:ln w="13970" cap="flat" cmpd="sng" algn="ctr">
              <a:solidFill>
                <a:srgbClr val="FFFFFF">
                  <a:alpha val="2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Forma Livre: Forma 9">
              <a:extLst>
                <a:ext uri="{FF2B5EF4-FFF2-40B4-BE49-F238E27FC236}">
                  <a16:creationId xmlns:a16="http://schemas.microsoft.com/office/drawing/2014/main" id="{361632BA-80BE-6543-0D91-51210AD8CF21}"/>
                </a:ext>
              </a:extLst>
            </p:cNvPr>
            <p:cNvSpPr/>
            <p:nvPr/>
          </p:nvSpPr>
          <p:spPr>
            <a:xfrm>
              <a:off x="2159000" y="3962400"/>
              <a:ext cx="2400301" cy="1320801"/>
            </a:xfrm>
            <a:custGeom>
              <a:avLst/>
              <a:gdLst/>
              <a:ahLst/>
              <a:cxnLst/>
              <a:rect l="0" t="0" r="0" b="0"/>
              <a:pathLst>
                <a:path w="2400301" h="1320801">
                  <a:moveTo>
                    <a:pt x="0" y="1320800"/>
                  </a:moveTo>
                  <a:cubicBezTo>
                    <a:pt x="1581150" y="1320800"/>
                    <a:pt x="1892300" y="0"/>
                    <a:pt x="2400300" y="0"/>
                  </a:cubicBezTo>
                </a:path>
              </a:pathLst>
            </a:custGeom>
            <a:ln w="13970" cap="flat" cmpd="sng" algn="ctr">
              <a:solidFill>
                <a:srgbClr val="FFFFFF">
                  <a:alpha val="2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Retângulo: Cantos Arredondados 10">
              <a:extLst>
                <a:ext uri="{FF2B5EF4-FFF2-40B4-BE49-F238E27FC236}">
                  <a16:creationId xmlns:a16="http://schemas.microsoft.com/office/drawing/2014/main" id="{7F77D15B-F05A-8D9E-FD77-B35E38E850A4}"/>
                </a:ext>
              </a:extLst>
            </p:cNvPr>
            <p:cNvSpPr/>
            <p:nvPr/>
          </p:nvSpPr>
          <p:spPr>
            <a:xfrm>
              <a:off x="685800" y="2628900"/>
              <a:ext cx="1181100" cy="3810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Planilhas</a:t>
              </a:r>
            </a:p>
          </p:txBody>
        </p:sp>
        <p:sp>
          <p:nvSpPr>
            <p:cNvPr id="12" name="Retângulo: Cantos Arredondados 11">
              <a:extLst>
                <a:ext uri="{FF2B5EF4-FFF2-40B4-BE49-F238E27FC236}">
                  <a16:creationId xmlns:a16="http://schemas.microsoft.com/office/drawing/2014/main" id="{7CE09B04-77F2-37D5-B409-B74422BB313E}"/>
                </a:ext>
              </a:extLst>
            </p:cNvPr>
            <p:cNvSpPr/>
            <p:nvPr/>
          </p:nvSpPr>
          <p:spPr>
            <a:xfrm>
              <a:off x="1765300" y="3213100"/>
              <a:ext cx="914400" cy="3810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ERP</a:t>
              </a:r>
            </a:p>
          </p:txBody>
        </p:sp>
        <p:sp>
          <p:nvSpPr>
            <p:cNvPr id="13" name="Retângulo: Cantos Arredondados 12">
              <a:extLst>
                <a:ext uri="{FF2B5EF4-FFF2-40B4-BE49-F238E27FC236}">
                  <a16:creationId xmlns:a16="http://schemas.microsoft.com/office/drawing/2014/main" id="{7B8CCE7D-837D-915D-7262-991825E6D726}"/>
                </a:ext>
              </a:extLst>
            </p:cNvPr>
            <p:cNvSpPr/>
            <p:nvPr/>
          </p:nvSpPr>
          <p:spPr>
            <a:xfrm>
              <a:off x="876300" y="3835400"/>
              <a:ext cx="1054100" cy="3810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E-mail</a:t>
              </a:r>
            </a:p>
          </p:txBody>
        </p:sp>
        <p:sp>
          <p:nvSpPr>
            <p:cNvPr id="14" name="Retângulo: Cantos Arredondados 13">
              <a:extLst>
                <a:ext uri="{FF2B5EF4-FFF2-40B4-BE49-F238E27FC236}">
                  <a16:creationId xmlns:a16="http://schemas.microsoft.com/office/drawing/2014/main" id="{FAE89738-6174-CDA6-9033-46CF89B360D4}"/>
                </a:ext>
              </a:extLst>
            </p:cNvPr>
            <p:cNvSpPr/>
            <p:nvPr/>
          </p:nvSpPr>
          <p:spPr>
            <a:xfrm>
              <a:off x="1955800" y="4457700"/>
              <a:ext cx="1333500" cy="3810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Documentos</a:t>
              </a:r>
            </a:p>
          </p:txBody>
        </p:sp>
        <p:sp>
          <p:nvSpPr>
            <p:cNvPr id="15" name="Retângulo: Cantos Arredondados 14">
              <a:extLst>
                <a:ext uri="{FF2B5EF4-FFF2-40B4-BE49-F238E27FC236}">
                  <a16:creationId xmlns:a16="http://schemas.microsoft.com/office/drawing/2014/main" id="{CD35097A-F665-12CC-1E8E-9A0FD6970CEA}"/>
                </a:ext>
              </a:extLst>
            </p:cNvPr>
            <p:cNvSpPr/>
            <p:nvPr/>
          </p:nvSpPr>
          <p:spPr>
            <a:xfrm>
              <a:off x="1104900" y="5092700"/>
              <a:ext cx="1054100" cy="3810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Pessoas</a:t>
              </a:r>
            </a:p>
          </p:txBody>
        </p:sp>
        <p:sp>
          <p:nvSpPr>
            <p:cNvPr id="16" name="Retângulo: Cantos Arredondados 15">
              <a:extLst>
                <a:ext uri="{FF2B5EF4-FFF2-40B4-BE49-F238E27FC236}">
                  <a16:creationId xmlns:a16="http://schemas.microsoft.com/office/drawing/2014/main" id="{FC3698D2-4E4C-07D1-9A2E-C9126DDF7249}"/>
                </a:ext>
              </a:extLst>
            </p:cNvPr>
            <p:cNvSpPr/>
            <p:nvPr/>
          </p:nvSpPr>
          <p:spPr>
            <a:xfrm>
              <a:off x="4559300" y="3327400"/>
              <a:ext cx="2768600" cy="1104900"/>
            </a:xfrm>
            <a:prstGeom prst="roundRect">
              <a:avLst>
                <a:gd name="adj" fmla="val 22000"/>
              </a:avLst>
            </a:prstGeom>
            <a:solidFill>
              <a:srgbClr val="46EB7E">
                <a:alpha val="6000"/>
              </a:srgbClr>
            </a:solidFill>
            <a:ln w="19050" cap="flat" cmpd="sng" algn="ctr">
              <a:solidFill>
                <a:srgbClr val="46EB7E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D11C38F7-4058-7AE7-2129-469E722374ED}"/>
                </a:ext>
              </a:extLst>
            </p:cNvPr>
            <p:cNvSpPr txBox="1"/>
            <p:nvPr/>
          </p:nvSpPr>
          <p:spPr>
            <a:xfrm>
              <a:off x="4559300" y="3657600"/>
              <a:ext cx="27686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600" b="1">
                  <a:solidFill>
                    <a:srgbClr val="FFFFFF"/>
                  </a:solidFill>
                  <a:latin typeface="Urbanist" panose="020B0A04040200000203" pitchFamily="34" charset="0"/>
                </a:rPr>
                <a:t>Sistema sob medida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86C28A67-8C30-793F-C0D9-7647CB3A80C0}"/>
                </a:ext>
              </a:extLst>
            </p:cNvPr>
            <p:cNvSpPr txBox="1"/>
            <p:nvPr/>
          </p:nvSpPr>
          <p:spPr>
            <a:xfrm>
              <a:off x="4559300" y="3987800"/>
              <a:ext cx="27686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950">
                  <a:solidFill>
                    <a:srgbClr val="9BA1A6"/>
                  </a:solidFill>
                  <a:latin typeface="Instrument Sans Medium" pitchFamily="2" charset="0"/>
                </a:rPr>
                <a:t>construído em torno da operação</a:t>
              </a:r>
            </a:p>
          </p:txBody>
        </p:sp>
        <p:cxnSp>
          <p:nvCxnSpPr>
            <p:cNvPr id="19" name="Conector reto 18">
              <a:extLst>
                <a:ext uri="{FF2B5EF4-FFF2-40B4-BE49-F238E27FC236}">
                  <a16:creationId xmlns:a16="http://schemas.microsoft.com/office/drawing/2014/main" id="{3E3EB043-9187-3CF2-7A38-4D68D05953B9}"/>
                </a:ext>
              </a:extLst>
            </p:cNvPr>
            <p:cNvCxnSpPr/>
            <p:nvPr/>
          </p:nvCxnSpPr>
          <p:spPr>
            <a:xfrm>
              <a:off x="7327900" y="3873500"/>
              <a:ext cx="711200" cy="0"/>
            </a:xfrm>
            <a:prstGeom prst="line">
              <a:avLst/>
            </a:prstGeom>
            <a:ln w="15240" cap="flat" cmpd="sng" algn="ctr">
              <a:solidFill>
                <a:srgbClr val="FFFFFF">
                  <a:alpha val="3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539DAE18-242C-8C63-7EAA-01FAD07091B0}"/>
                </a:ext>
              </a:extLst>
            </p:cNvPr>
            <p:cNvSpPr/>
            <p:nvPr/>
          </p:nvSpPr>
          <p:spPr>
            <a:xfrm>
              <a:off x="7645400" y="3835400"/>
              <a:ext cx="76200" cy="762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Retângulo: Cantos Arredondados 20">
              <a:extLst>
                <a:ext uri="{FF2B5EF4-FFF2-40B4-BE49-F238E27FC236}">
                  <a16:creationId xmlns:a16="http://schemas.microsoft.com/office/drawing/2014/main" id="{8CE86E1F-89AD-B22C-B493-777C80D344D8}"/>
                </a:ext>
              </a:extLst>
            </p:cNvPr>
            <p:cNvSpPr/>
            <p:nvPr/>
          </p:nvSpPr>
          <p:spPr>
            <a:xfrm>
              <a:off x="8064500" y="3644900"/>
              <a:ext cx="2667000" cy="457200"/>
            </a:xfrm>
            <a:prstGeom prst="roundRect">
              <a:avLst>
                <a:gd name="adj" fmla="val 50000"/>
              </a:avLst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/>
            <a:lstStyle/>
            <a:p>
              <a:pPr algn="ctr"/>
              <a:r>
                <a:rPr lang="pt-BR" sz="1250">
                  <a:solidFill>
                    <a:srgbClr val="0B0B0C"/>
                  </a:solidFill>
                  <a:latin typeface="Instrument Sans Medium" pitchFamily="2" charset="0"/>
                </a:rPr>
                <a:t>Decisão com visibilidade</a:t>
              </a:r>
            </a:p>
          </p:txBody>
        </p:sp>
      </p:grp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AA0A96A6-9B30-D0B6-B464-BDA80FE0C68A}"/>
              </a:ext>
            </a:extLst>
          </p:cNvPr>
          <p:cNvSpPr txBox="1"/>
          <p:nvPr/>
        </p:nvSpPr>
        <p:spPr>
          <a:xfrm>
            <a:off x="685800" y="5816600"/>
            <a:ext cx="1092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400">
                <a:solidFill>
                  <a:srgbClr val="FFFFFF"/>
                </a:solidFill>
                <a:latin typeface="Instrument Sans Medium" pitchFamily="2" charset="0"/>
              </a:rPr>
              <a:t>Tailor made: personalizado para a sua operação.</a:t>
            </a:r>
            <a:r>
              <a:rPr lang="pt-BR" sz="1400">
                <a:solidFill>
                  <a:srgbClr val="9BA1A6"/>
                </a:solidFill>
                <a:latin typeface="Instrument Sans Medium" pitchFamily="2" charset="0"/>
              </a:rPr>
              <a:t> Você conhece seu negócio; nós conhecemos tecnologia.</a:t>
            </a:r>
          </a:p>
        </p:txBody>
      </p:sp>
      <p:cxnSp>
        <p:nvCxnSpPr>
          <p:cNvPr id="24" name="Conector reto 23">
            <a:extLst>
              <a:ext uri="{FF2B5EF4-FFF2-40B4-BE49-F238E27FC236}">
                <a16:creationId xmlns:a16="http://schemas.microsoft.com/office/drawing/2014/main" id="{931B3A2E-F726-F0F0-06BC-E3DD5B0A68F3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to 24">
            <a:extLst>
              <a:ext uri="{FF2B5EF4-FFF2-40B4-BE49-F238E27FC236}">
                <a16:creationId xmlns:a16="http://schemas.microsoft.com/office/drawing/2014/main" id="{C97DE53A-7C77-721E-D004-06AB7E1C5A95}"/>
              </a:ext>
            </a:extLst>
          </p:cNvPr>
          <p:cNvCxnSpPr/>
          <p:nvPr/>
        </p:nvCxnSpPr>
        <p:spPr>
          <a:xfrm>
            <a:off x="685800" y="6578600"/>
            <a:ext cx="6244492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Elipse 25">
            <a:extLst>
              <a:ext uri="{FF2B5EF4-FFF2-40B4-BE49-F238E27FC236}">
                <a16:creationId xmlns:a16="http://schemas.microsoft.com/office/drawing/2014/main" id="{E8B5D80A-8FA6-6CC2-F2BA-E101CF876BB4}"/>
              </a:ext>
            </a:extLst>
          </p:cNvPr>
          <p:cNvSpPr/>
          <p:nvPr/>
        </p:nvSpPr>
        <p:spPr>
          <a:xfrm>
            <a:off x="6879492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C62109B0-7F2F-6EC2-A842-A25FB4B519A3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08 / 13</a:t>
            </a:r>
          </a:p>
        </p:txBody>
      </p:sp>
    </p:spTree>
    <p:extLst>
      <p:ext uri="{BB962C8B-B14F-4D97-AF65-F5344CB8AC3E}">
        <p14:creationId xmlns:p14="http://schemas.microsoft.com/office/powerpoint/2010/main" val="24063176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grupar 4">
            <a:extLst>
              <a:ext uri="{FF2B5EF4-FFF2-40B4-BE49-F238E27FC236}">
                <a16:creationId xmlns:a16="http://schemas.microsoft.com/office/drawing/2014/main" id="{1A822E18-0D08-6821-0A6D-7BF02AA6B163}"/>
              </a:ext>
            </a:extLst>
          </p:cNvPr>
          <p:cNvGrpSpPr/>
          <p:nvPr/>
        </p:nvGrpSpPr>
        <p:grpSpPr>
          <a:xfrm>
            <a:off x="685800" y="609600"/>
            <a:ext cx="10134600" cy="699532"/>
            <a:chOff x="685800" y="609600"/>
            <a:chExt cx="10134600" cy="699532"/>
          </a:xfrm>
        </p:grpSpPr>
        <p:sp>
          <p:nvSpPr>
            <p:cNvPr id="2" name="CaixaDeTexto 1">
              <a:extLst>
                <a:ext uri="{FF2B5EF4-FFF2-40B4-BE49-F238E27FC236}">
                  <a16:creationId xmlns:a16="http://schemas.microsoft.com/office/drawing/2014/main" id="{F1BA8728-BB9B-BE43-E542-246BEFBBAE9A}"/>
                </a:ext>
              </a:extLst>
            </p:cNvPr>
            <p:cNvSpPr txBox="1"/>
            <p:nvPr/>
          </p:nvSpPr>
          <p:spPr>
            <a:xfrm>
              <a:off x="685800" y="609600"/>
              <a:ext cx="1422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6800" b="1" spc="-120">
                  <a:ln w="13970" cap="flat" cmpd="sng" algn="ctr">
                    <a:solidFill>
                      <a:srgbClr val="46EB7E">
                        <a:alpha val="65000"/>
                      </a:srgb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noFill/>
                  <a:latin typeface="Urbanist" panose="020B0A04040200000203" pitchFamily="34" charset="0"/>
                </a:rPr>
                <a:t>03</a:t>
              </a: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60A4B6D6-E1FB-9234-2789-6C560A0A5D8F}"/>
                </a:ext>
              </a:extLst>
            </p:cNvPr>
            <p:cNvSpPr txBox="1"/>
            <p:nvPr/>
          </p:nvSpPr>
          <p:spPr>
            <a:xfrm>
              <a:off x="2438400" y="660400"/>
              <a:ext cx="508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00" spc="170">
                  <a:solidFill>
                    <a:srgbClr val="46EB7E"/>
                  </a:solidFill>
                  <a:latin typeface="Instrument Sans Medium" pitchFamily="2" charset="0"/>
                </a:rPr>
                <a:t>AGENTES DE IA</a:t>
              </a:r>
            </a:p>
          </p:txBody>
        </p:sp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3C8BAAD9-2A6D-38C1-3032-7192EB276CF0}"/>
                </a:ext>
              </a:extLst>
            </p:cNvPr>
            <p:cNvSpPr txBox="1"/>
            <p:nvPr/>
          </p:nvSpPr>
          <p:spPr>
            <a:xfrm>
              <a:off x="2438400" y="939800"/>
              <a:ext cx="838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3800" b="1" spc="-110">
                  <a:solidFill>
                    <a:srgbClr val="FFFFFF"/>
                  </a:solidFill>
                  <a:latin typeface="Urbanist" panose="020B0A04040200000203" pitchFamily="34" charset="0"/>
                </a:rPr>
                <a:t>Coloque a IA para </a:t>
              </a:r>
              <a:r>
                <a:rPr lang="pt-BR" sz="3800" b="1" spc="-110">
                  <a:solidFill>
                    <a:srgbClr val="46EB7E"/>
                  </a:solidFill>
                  <a:latin typeface="Urbanist" panose="020B0A04040200000203" pitchFamily="34" charset="0"/>
                </a:rPr>
                <a:t>executar trabalho</a:t>
              </a:r>
              <a:r>
                <a:rPr lang="pt-BR" sz="3800" b="1" spc="-110">
                  <a:solidFill>
                    <a:srgbClr val="FFFFFF"/>
                  </a:solidFill>
                  <a:latin typeface="Urbanist" panose="020B0A04040200000203" pitchFamily="34" charset="0"/>
                </a:rPr>
                <a:t> dentro da sua empresa.</a:t>
              </a:r>
            </a:p>
          </p:txBody>
        </p:sp>
      </p:grpSp>
      <p:grpSp>
        <p:nvGrpSpPr>
          <p:cNvPr id="26" name="Agrupar 25">
            <a:extLst>
              <a:ext uri="{FF2B5EF4-FFF2-40B4-BE49-F238E27FC236}">
                <a16:creationId xmlns:a16="http://schemas.microsoft.com/office/drawing/2014/main" id="{9C8F0B80-C16E-0D21-AEC2-9A085329986E}"/>
              </a:ext>
            </a:extLst>
          </p:cNvPr>
          <p:cNvGrpSpPr/>
          <p:nvPr/>
        </p:nvGrpSpPr>
        <p:grpSpPr>
          <a:xfrm>
            <a:off x="666750" y="2514600"/>
            <a:ext cx="8616950" cy="2743200"/>
            <a:chOff x="666750" y="2514600"/>
            <a:chExt cx="8616950" cy="2743200"/>
          </a:xfrm>
        </p:grpSpPr>
        <p:sp>
          <p:nvSpPr>
            <p:cNvPr id="6" name="Elipse 5">
              <a:extLst>
                <a:ext uri="{FF2B5EF4-FFF2-40B4-BE49-F238E27FC236}">
                  <a16:creationId xmlns:a16="http://schemas.microsoft.com/office/drawing/2014/main" id="{395C608B-A863-7CCA-9221-782CA11B58FF}"/>
                </a:ext>
              </a:extLst>
            </p:cNvPr>
            <p:cNvSpPr/>
            <p:nvPr/>
          </p:nvSpPr>
          <p:spPr>
            <a:xfrm>
              <a:off x="2222500" y="2654300"/>
              <a:ext cx="2514600" cy="2514600"/>
            </a:xfrm>
            <a:prstGeom prst="ellipse">
              <a:avLst/>
            </a:prstGeom>
            <a:noFill/>
            <a:ln w="15240" cap="flat" cmpd="sng" algn="ctr">
              <a:solidFill>
                <a:srgbClr val="FFFFFF">
                  <a:alpha val="1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FB0C3245-A15E-C94F-5632-4C803F27F0B6}"/>
                </a:ext>
              </a:extLst>
            </p:cNvPr>
            <p:cNvCxnSpPr/>
            <p:nvPr/>
          </p:nvCxnSpPr>
          <p:spPr>
            <a:xfrm flipV="1">
              <a:off x="3479800" y="2781300"/>
              <a:ext cx="635000" cy="1130300"/>
            </a:xfrm>
            <a:prstGeom prst="line">
              <a:avLst/>
            </a:prstGeom>
            <a:ln w="1524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ector reto 7">
              <a:extLst>
                <a:ext uri="{FF2B5EF4-FFF2-40B4-BE49-F238E27FC236}">
                  <a16:creationId xmlns:a16="http://schemas.microsoft.com/office/drawing/2014/main" id="{969F44A1-CD25-73EF-59F2-E5F30BAA8864}"/>
                </a:ext>
              </a:extLst>
            </p:cNvPr>
            <p:cNvCxnSpPr/>
            <p:nvPr/>
          </p:nvCxnSpPr>
          <p:spPr>
            <a:xfrm flipH="1" flipV="1">
              <a:off x="2305050" y="2686050"/>
              <a:ext cx="1174750" cy="1225550"/>
            </a:xfrm>
            <a:prstGeom prst="line">
              <a:avLst/>
            </a:prstGeom>
            <a:ln w="1524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reto 8">
              <a:extLst>
                <a:ext uri="{FF2B5EF4-FFF2-40B4-BE49-F238E27FC236}">
                  <a16:creationId xmlns:a16="http://schemas.microsoft.com/office/drawing/2014/main" id="{FD1D5196-CBB4-391C-0EFC-9A49B1D13291}"/>
                </a:ext>
              </a:extLst>
            </p:cNvPr>
            <p:cNvCxnSpPr/>
            <p:nvPr/>
          </p:nvCxnSpPr>
          <p:spPr>
            <a:xfrm flipH="1" flipV="1">
              <a:off x="1352550" y="3476625"/>
              <a:ext cx="2127250" cy="434975"/>
            </a:xfrm>
            <a:prstGeom prst="line">
              <a:avLst/>
            </a:prstGeom>
            <a:ln w="1524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93BD72FA-B92A-1C2A-4EF2-978FFC2814D6}"/>
                </a:ext>
              </a:extLst>
            </p:cNvPr>
            <p:cNvCxnSpPr/>
            <p:nvPr/>
          </p:nvCxnSpPr>
          <p:spPr>
            <a:xfrm flipH="1">
              <a:off x="1352550" y="3911600"/>
              <a:ext cx="2127250" cy="422275"/>
            </a:xfrm>
            <a:prstGeom prst="line">
              <a:avLst/>
            </a:prstGeom>
            <a:ln w="1524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to 10">
              <a:extLst>
                <a:ext uri="{FF2B5EF4-FFF2-40B4-BE49-F238E27FC236}">
                  <a16:creationId xmlns:a16="http://schemas.microsoft.com/office/drawing/2014/main" id="{63ACB7BE-4BDE-2BB6-90FC-C2AD1A468A81}"/>
                </a:ext>
              </a:extLst>
            </p:cNvPr>
            <p:cNvCxnSpPr/>
            <p:nvPr/>
          </p:nvCxnSpPr>
          <p:spPr>
            <a:xfrm flipH="1">
              <a:off x="2305050" y="3911600"/>
              <a:ext cx="1174750" cy="1174750"/>
            </a:xfrm>
            <a:prstGeom prst="line">
              <a:avLst/>
            </a:prstGeom>
            <a:ln w="1524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CC78C660-B2E0-44B9-8B1C-01EC84E5DF53}"/>
                </a:ext>
              </a:extLst>
            </p:cNvPr>
            <p:cNvCxnSpPr/>
            <p:nvPr/>
          </p:nvCxnSpPr>
          <p:spPr>
            <a:xfrm>
              <a:off x="3479800" y="3911600"/>
              <a:ext cx="635000" cy="1079500"/>
            </a:xfrm>
            <a:prstGeom prst="line">
              <a:avLst/>
            </a:prstGeom>
            <a:ln w="1524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to 12">
              <a:extLst>
                <a:ext uri="{FF2B5EF4-FFF2-40B4-BE49-F238E27FC236}">
                  <a16:creationId xmlns:a16="http://schemas.microsoft.com/office/drawing/2014/main" id="{258C07FE-DCF9-ED82-4984-ECA3B55711A5}"/>
                </a:ext>
              </a:extLst>
            </p:cNvPr>
            <p:cNvCxnSpPr/>
            <p:nvPr/>
          </p:nvCxnSpPr>
          <p:spPr>
            <a:xfrm flipV="1">
              <a:off x="3987800" y="3441700"/>
              <a:ext cx="2146300" cy="292100"/>
            </a:xfrm>
            <a:prstGeom prst="line">
              <a:avLst/>
            </a:prstGeom>
            <a:ln w="15240" cap="flat" cmpd="sng" algn="ctr">
              <a:solidFill>
                <a:srgbClr val="FFFFFF">
                  <a:alpha val="3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to 13">
              <a:extLst>
                <a:ext uri="{FF2B5EF4-FFF2-40B4-BE49-F238E27FC236}">
                  <a16:creationId xmlns:a16="http://schemas.microsoft.com/office/drawing/2014/main" id="{A4B1F0CC-A163-0585-72E1-719E659E4603}"/>
                </a:ext>
              </a:extLst>
            </p:cNvPr>
            <p:cNvCxnSpPr/>
            <p:nvPr/>
          </p:nvCxnSpPr>
          <p:spPr>
            <a:xfrm>
              <a:off x="3987800" y="4089400"/>
              <a:ext cx="2146300" cy="266700"/>
            </a:xfrm>
            <a:prstGeom prst="line">
              <a:avLst/>
            </a:prstGeom>
            <a:ln w="15240" cap="flat" cmpd="sng" algn="ctr">
              <a:solidFill>
                <a:srgbClr val="FFFFFF">
                  <a:alpha val="3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Elipse 14">
              <a:extLst>
                <a:ext uri="{FF2B5EF4-FFF2-40B4-BE49-F238E27FC236}">
                  <a16:creationId xmlns:a16="http://schemas.microsoft.com/office/drawing/2014/main" id="{DD13402E-2873-886C-D222-FC737F9C718D}"/>
                </a:ext>
              </a:extLst>
            </p:cNvPr>
            <p:cNvSpPr/>
            <p:nvPr/>
          </p:nvSpPr>
          <p:spPr>
            <a:xfrm>
              <a:off x="4787900" y="3594100"/>
              <a:ext cx="76200" cy="762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Retângulo: Cantos Arredondados 15">
              <a:extLst>
                <a:ext uri="{FF2B5EF4-FFF2-40B4-BE49-F238E27FC236}">
                  <a16:creationId xmlns:a16="http://schemas.microsoft.com/office/drawing/2014/main" id="{64BEE028-A072-ABC2-7EDC-E28E7C2218AD}"/>
                </a:ext>
              </a:extLst>
            </p:cNvPr>
            <p:cNvSpPr/>
            <p:nvPr/>
          </p:nvSpPr>
          <p:spPr>
            <a:xfrm>
              <a:off x="3619500" y="2609850"/>
              <a:ext cx="990600" cy="3429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CRM</a:t>
              </a:r>
            </a:p>
          </p:txBody>
        </p:sp>
        <p:sp>
          <p:nvSpPr>
            <p:cNvPr id="17" name="Retângulo: Cantos Arredondados 16">
              <a:extLst>
                <a:ext uri="{FF2B5EF4-FFF2-40B4-BE49-F238E27FC236}">
                  <a16:creationId xmlns:a16="http://schemas.microsoft.com/office/drawing/2014/main" id="{0870ACF1-FCEA-963C-86D9-A79FB88AE54A}"/>
                </a:ext>
              </a:extLst>
            </p:cNvPr>
            <p:cNvSpPr/>
            <p:nvPr/>
          </p:nvSpPr>
          <p:spPr>
            <a:xfrm>
              <a:off x="1809750" y="2514600"/>
              <a:ext cx="990600" cy="3429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ERP</a:t>
              </a:r>
            </a:p>
          </p:txBody>
        </p:sp>
        <p:sp>
          <p:nvSpPr>
            <p:cNvPr id="18" name="Retângulo: Cantos Arredondados 17">
              <a:extLst>
                <a:ext uri="{FF2B5EF4-FFF2-40B4-BE49-F238E27FC236}">
                  <a16:creationId xmlns:a16="http://schemas.microsoft.com/office/drawing/2014/main" id="{2214AE2A-3517-E675-4833-B401CEF8E58E}"/>
                </a:ext>
              </a:extLst>
            </p:cNvPr>
            <p:cNvSpPr/>
            <p:nvPr/>
          </p:nvSpPr>
          <p:spPr>
            <a:xfrm>
              <a:off x="666750" y="3305175"/>
              <a:ext cx="1371600" cy="3429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WhatsApp</a:t>
              </a:r>
            </a:p>
          </p:txBody>
        </p:sp>
        <p:sp>
          <p:nvSpPr>
            <p:cNvPr id="19" name="Retângulo: Cantos Arredondados 18">
              <a:extLst>
                <a:ext uri="{FF2B5EF4-FFF2-40B4-BE49-F238E27FC236}">
                  <a16:creationId xmlns:a16="http://schemas.microsoft.com/office/drawing/2014/main" id="{3532D01B-B511-4944-164E-396C80D96F21}"/>
                </a:ext>
              </a:extLst>
            </p:cNvPr>
            <p:cNvSpPr/>
            <p:nvPr/>
          </p:nvSpPr>
          <p:spPr>
            <a:xfrm>
              <a:off x="666750" y="4162425"/>
              <a:ext cx="1371600" cy="3429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E-mail</a:t>
              </a:r>
            </a:p>
          </p:txBody>
        </p:sp>
        <p:sp>
          <p:nvSpPr>
            <p:cNvPr id="20" name="Retângulo: Cantos Arredondados 19">
              <a:extLst>
                <a:ext uri="{FF2B5EF4-FFF2-40B4-BE49-F238E27FC236}">
                  <a16:creationId xmlns:a16="http://schemas.microsoft.com/office/drawing/2014/main" id="{1810425D-EBCA-B24F-0D25-770FF00CA29F}"/>
                </a:ext>
              </a:extLst>
            </p:cNvPr>
            <p:cNvSpPr/>
            <p:nvPr/>
          </p:nvSpPr>
          <p:spPr>
            <a:xfrm>
              <a:off x="1714500" y="4914900"/>
              <a:ext cx="1181100" cy="3429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Documentos</a:t>
              </a:r>
            </a:p>
          </p:txBody>
        </p:sp>
        <p:sp>
          <p:nvSpPr>
            <p:cNvPr id="21" name="Retângulo: Cantos Arredondados 20">
              <a:extLst>
                <a:ext uri="{FF2B5EF4-FFF2-40B4-BE49-F238E27FC236}">
                  <a16:creationId xmlns:a16="http://schemas.microsoft.com/office/drawing/2014/main" id="{7B5A45ED-AC0A-9410-8B6F-0D085EBCE86F}"/>
                </a:ext>
              </a:extLst>
            </p:cNvPr>
            <p:cNvSpPr/>
            <p:nvPr/>
          </p:nvSpPr>
          <p:spPr>
            <a:xfrm>
              <a:off x="3619500" y="4819650"/>
              <a:ext cx="990600" cy="3429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APIs</a:t>
              </a:r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14E4417A-2696-9D11-B513-4F4830A42AE7}"/>
                </a:ext>
              </a:extLst>
            </p:cNvPr>
            <p:cNvSpPr/>
            <p:nvPr/>
          </p:nvSpPr>
          <p:spPr>
            <a:xfrm>
              <a:off x="2933700" y="3365500"/>
              <a:ext cx="1092200" cy="1092200"/>
            </a:xfrm>
            <a:prstGeom prst="ellipse">
              <a:avLst/>
            </a:prstGeom>
            <a:solidFill>
              <a:srgbClr val="101711"/>
            </a:solidFill>
            <a:ln w="19050" cap="flat" cmpd="sng" algn="ctr">
              <a:solidFill>
                <a:srgbClr val="46EB7E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0957838D-E198-B5DE-D3F0-2DEF6BC5E608}"/>
                </a:ext>
              </a:extLst>
            </p:cNvPr>
            <p:cNvSpPr txBox="1"/>
            <p:nvPr/>
          </p:nvSpPr>
          <p:spPr>
            <a:xfrm>
              <a:off x="2971800" y="3797300"/>
              <a:ext cx="1016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400" b="1">
                  <a:solidFill>
                    <a:srgbClr val="FFFFFF"/>
                  </a:solidFill>
                  <a:latin typeface="Urbanist" panose="020B0A04040200000203" pitchFamily="34" charset="0"/>
                </a:rPr>
                <a:t>Agente</a:t>
              </a:r>
            </a:p>
          </p:txBody>
        </p:sp>
        <p:sp>
          <p:nvSpPr>
            <p:cNvPr id="24" name="Retângulo: Cantos Arredondados 23">
              <a:extLst>
                <a:ext uri="{FF2B5EF4-FFF2-40B4-BE49-F238E27FC236}">
                  <a16:creationId xmlns:a16="http://schemas.microsoft.com/office/drawing/2014/main" id="{37DDF8DF-1916-98BF-1DF7-6E87C094A7D2}"/>
                </a:ext>
              </a:extLst>
            </p:cNvPr>
            <p:cNvSpPr/>
            <p:nvPr/>
          </p:nvSpPr>
          <p:spPr>
            <a:xfrm>
              <a:off x="6134100" y="3213100"/>
              <a:ext cx="2565400" cy="457200"/>
            </a:xfrm>
            <a:prstGeom prst="roundRect">
              <a:avLst>
                <a:gd name="adj" fmla="val 50000"/>
              </a:avLst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/>
            <a:lstStyle/>
            <a:p>
              <a:pPr algn="ctr"/>
              <a:r>
                <a:rPr lang="pt-BR" sz="1250">
                  <a:solidFill>
                    <a:srgbClr val="0B0B0C"/>
                  </a:solidFill>
                  <a:latin typeface="Instrument Sans Medium" pitchFamily="2" charset="0"/>
                </a:rPr>
                <a:t>Trabalho executado</a:t>
              </a:r>
            </a:p>
          </p:txBody>
        </p:sp>
        <p:sp>
          <p:nvSpPr>
            <p:cNvPr id="25" name="Retângulo: Cantos Arredondados 24">
              <a:extLst>
                <a:ext uri="{FF2B5EF4-FFF2-40B4-BE49-F238E27FC236}">
                  <a16:creationId xmlns:a16="http://schemas.microsoft.com/office/drawing/2014/main" id="{905A00AC-33DD-5E9D-ADBF-A09246657AB8}"/>
                </a:ext>
              </a:extLst>
            </p:cNvPr>
            <p:cNvSpPr/>
            <p:nvPr/>
          </p:nvSpPr>
          <p:spPr>
            <a:xfrm>
              <a:off x="6134100" y="4127500"/>
              <a:ext cx="3149600" cy="457200"/>
            </a:xfrm>
            <a:prstGeom prst="roundRect">
              <a:avLst>
                <a:gd name="adj" fmla="val 50000"/>
              </a:avLst>
            </a:prstGeom>
            <a:noFill/>
            <a:ln w="12700" cap="flat" cmpd="sng" algn="ctr">
              <a:solidFill>
                <a:srgbClr val="FFFFFF">
                  <a:alpha val="3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/>
            <a:lstStyle/>
            <a:p>
              <a:pPr algn="ctr"/>
              <a:r>
                <a:rPr lang="pt-BR" sz="1200">
                  <a:solidFill>
                    <a:srgbClr val="E8EAEC"/>
                  </a:solidFill>
                  <a:latin typeface="Instrument Sans Medium" pitchFamily="2" charset="0"/>
                </a:rPr>
                <a:t>Humano quando necessário</a:t>
              </a:r>
            </a:p>
          </p:txBody>
        </p:sp>
      </p:grp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FCB0E1DE-8DC7-2769-E9BA-19C67030D1FC}"/>
              </a:ext>
            </a:extLst>
          </p:cNvPr>
          <p:cNvSpPr txBox="1"/>
          <p:nvPr/>
        </p:nvSpPr>
        <p:spPr>
          <a:xfrm>
            <a:off x="685800" y="58166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400">
                <a:solidFill>
                  <a:srgbClr val="FFFFFF"/>
                </a:solidFill>
                <a:latin typeface="Instrument Sans Medium" pitchFamily="2" charset="0"/>
              </a:rPr>
              <a:t>Não é um chatbot.</a:t>
            </a:r>
            <a:r>
              <a:rPr lang="pt-BR" sz="1400">
                <a:solidFill>
                  <a:srgbClr val="9BA1A6"/>
                </a:solidFill>
                <a:latin typeface="Instrument Sans Medium" pitchFamily="2" charset="0"/>
              </a:rPr>
              <a:t> É software que executa etapas de processos — com escopo, regras e permissões.</a:t>
            </a:r>
          </a:p>
        </p:txBody>
      </p: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AF608D3B-ADF2-AFD4-E6D7-9B4DE93D9ED4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to 28">
            <a:extLst>
              <a:ext uri="{FF2B5EF4-FFF2-40B4-BE49-F238E27FC236}">
                <a16:creationId xmlns:a16="http://schemas.microsoft.com/office/drawing/2014/main" id="{374145E5-F5DF-7233-E71C-B51B38A40292}"/>
              </a:ext>
            </a:extLst>
          </p:cNvPr>
          <p:cNvCxnSpPr/>
          <p:nvPr/>
        </p:nvCxnSpPr>
        <p:spPr>
          <a:xfrm>
            <a:off x="685800" y="6578600"/>
            <a:ext cx="7025054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lipse 29">
            <a:extLst>
              <a:ext uri="{FF2B5EF4-FFF2-40B4-BE49-F238E27FC236}">
                <a16:creationId xmlns:a16="http://schemas.microsoft.com/office/drawing/2014/main" id="{B502789B-92A3-B5A5-FC23-C2C1E58703DD}"/>
              </a:ext>
            </a:extLst>
          </p:cNvPr>
          <p:cNvSpPr/>
          <p:nvPr/>
        </p:nvSpPr>
        <p:spPr>
          <a:xfrm>
            <a:off x="7660054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DA926F65-D494-846C-0E87-ECB57E99A2AE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09 / 13</a:t>
            </a:r>
          </a:p>
        </p:txBody>
      </p:sp>
    </p:spTree>
    <p:extLst>
      <p:ext uri="{BB962C8B-B14F-4D97-AF65-F5344CB8AC3E}">
        <p14:creationId xmlns:p14="http://schemas.microsoft.com/office/powerpoint/2010/main" val="22430145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4C8A6573-AF0D-2515-878C-FDAE1926ACE1}"/>
              </a:ext>
            </a:extLst>
          </p:cNvPr>
          <p:cNvSpPr txBox="1"/>
          <p:nvPr/>
        </p:nvSpPr>
        <p:spPr>
          <a:xfrm>
            <a:off x="685800" y="571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46EB7E"/>
                </a:solidFill>
                <a:latin typeface="Instrument Sans Medium" pitchFamily="2" charset="0"/>
              </a:rPr>
              <a:t>ONDE OS AGENTES ATUAM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2AF1DB1-D25A-12B8-B462-38EEA71709A8}"/>
              </a:ext>
            </a:extLst>
          </p:cNvPr>
          <p:cNvSpPr txBox="1"/>
          <p:nvPr/>
        </p:nvSpPr>
        <p:spPr>
          <a:xfrm>
            <a:off x="685800" y="965200"/>
            <a:ext cx="889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3800" b="1" spc="-110">
                <a:solidFill>
                  <a:srgbClr val="FFFFFF"/>
                </a:solidFill>
                <a:latin typeface="Urbanist" panose="020B0A04040200000203" pitchFamily="34" charset="0"/>
              </a:rPr>
              <a:t>Atendimento, vendas e </a:t>
            </a:r>
            <a:r>
              <a:rPr lang="pt-BR" sz="3800" b="1" spc="-110">
                <a:solidFill>
                  <a:srgbClr val="46EB7E"/>
                </a:solidFill>
                <a:latin typeface="Urbanist" panose="020B0A04040200000203" pitchFamily="34" charset="0"/>
              </a:rPr>
              <a:t>operação.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A3250336-BAC1-342C-4310-EEFE2A19566E}"/>
              </a:ext>
            </a:extLst>
          </p:cNvPr>
          <p:cNvGrpSpPr/>
          <p:nvPr/>
        </p:nvGrpSpPr>
        <p:grpSpPr>
          <a:xfrm>
            <a:off x="679450" y="2476500"/>
            <a:ext cx="3308350" cy="2210832"/>
            <a:chOff x="679450" y="2476500"/>
            <a:chExt cx="3308350" cy="2210832"/>
          </a:xfrm>
        </p:grpSpPr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B3C20364-B38F-5EBF-2CE8-D183C818D610}"/>
                </a:ext>
              </a:extLst>
            </p:cNvPr>
            <p:cNvSpPr txBox="1"/>
            <p:nvPr/>
          </p:nvSpPr>
          <p:spPr>
            <a:xfrm>
              <a:off x="685800" y="2476500"/>
              <a:ext cx="279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b="1" spc="-30">
                  <a:solidFill>
                    <a:srgbClr val="FFFFFF"/>
                  </a:solidFill>
                  <a:latin typeface="Urbanist" panose="020B0A04040200000203" pitchFamily="34" charset="0"/>
                </a:rPr>
                <a:t>Atendimento</a:t>
              </a:r>
            </a:p>
          </p:txBody>
        </p:sp>
        <p:cxnSp>
          <p:nvCxnSpPr>
            <p:cNvPr id="5" name="Conector reto 4">
              <a:extLst>
                <a:ext uri="{FF2B5EF4-FFF2-40B4-BE49-F238E27FC236}">
                  <a16:creationId xmlns:a16="http://schemas.microsoft.com/office/drawing/2014/main" id="{767B44E7-9867-AEC2-7CEF-2F9DA856E49A}"/>
                </a:ext>
              </a:extLst>
            </p:cNvPr>
            <p:cNvCxnSpPr/>
            <p:nvPr/>
          </p:nvCxnSpPr>
          <p:spPr>
            <a:xfrm>
              <a:off x="749300" y="3136900"/>
              <a:ext cx="0" cy="1282700"/>
            </a:xfrm>
            <a:prstGeom prst="line">
              <a:avLst/>
            </a:prstGeom>
            <a:ln w="19050" cap="flat" cmpd="sng" algn="ctr">
              <a:solidFill>
                <a:srgbClr val="FFFFFF">
                  <a:alpha val="1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Elipse 5">
              <a:extLst>
                <a:ext uri="{FF2B5EF4-FFF2-40B4-BE49-F238E27FC236}">
                  <a16:creationId xmlns:a16="http://schemas.microsoft.com/office/drawing/2014/main" id="{7567DEE4-3345-34B5-A39B-8F2BDB636F1F}"/>
                </a:ext>
              </a:extLst>
            </p:cNvPr>
            <p:cNvSpPr/>
            <p:nvPr/>
          </p:nvSpPr>
          <p:spPr>
            <a:xfrm>
              <a:off x="679450" y="30797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43455FA0-559B-D360-3367-9304ACD6D134}"/>
                </a:ext>
              </a:extLst>
            </p:cNvPr>
            <p:cNvSpPr txBox="1"/>
            <p:nvPr/>
          </p:nvSpPr>
          <p:spPr>
            <a:xfrm>
              <a:off x="939800" y="30607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Cliente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C91EA99A-D86B-451C-EE28-6E2A8B7D562C}"/>
                </a:ext>
              </a:extLst>
            </p:cNvPr>
            <p:cNvSpPr/>
            <p:nvPr/>
          </p:nvSpPr>
          <p:spPr>
            <a:xfrm>
              <a:off x="679450" y="34988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99A63786-A2C4-1935-559E-7680AF8379AB}"/>
                </a:ext>
              </a:extLst>
            </p:cNvPr>
            <p:cNvSpPr txBox="1"/>
            <p:nvPr/>
          </p:nvSpPr>
          <p:spPr>
            <a:xfrm>
              <a:off x="939800" y="34798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Agente</a:t>
              </a:r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C85B31E1-6097-E4CC-A8CF-9DCE3C727D6E}"/>
                </a:ext>
              </a:extLst>
            </p:cNvPr>
            <p:cNvSpPr/>
            <p:nvPr/>
          </p:nvSpPr>
          <p:spPr>
            <a:xfrm>
              <a:off x="679450" y="39179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9ACB362D-7BE7-205E-438E-B5CEE26A7E3D}"/>
                </a:ext>
              </a:extLst>
            </p:cNvPr>
            <p:cNvSpPr txBox="1"/>
            <p:nvPr/>
          </p:nvSpPr>
          <p:spPr>
            <a:xfrm>
              <a:off x="939800" y="38989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CRM atualizado</a:t>
              </a:r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DEC01FC4-AA55-AFBC-D87C-59BCA8771E21}"/>
                </a:ext>
              </a:extLst>
            </p:cNvPr>
            <p:cNvSpPr/>
            <p:nvPr/>
          </p:nvSpPr>
          <p:spPr>
            <a:xfrm>
              <a:off x="679450" y="4337050"/>
              <a:ext cx="139700" cy="1397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7EAC4C64-DCD0-7ADE-27A7-F7E4E1197F45}"/>
                </a:ext>
              </a:extLst>
            </p:cNvPr>
            <p:cNvSpPr txBox="1"/>
            <p:nvPr/>
          </p:nvSpPr>
          <p:spPr>
            <a:xfrm>
              <a:off x="939800" y="43180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46EB7E"/>
                  </a:solidFill>
                  <a:latin typeface="Instrument Sans Medium" pitchFamily="2" charset="0"/>
                </a:rPr>
                <a:t>Humano quando necessário</a:t>
              </a:r>
            </a:p>
          </p:txBody>
        </p:sp>
      </p:grp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BC086F5C-5D2A-78E6-5BA1-8F7501CC4F38}"/>
              </a:ext>
            </a:extLst>
          </p:cNvPr>
          <p:cNvGrpSpPr/>
          <p:nvPr/>
        </p:nvGrpSpPr>
        <p:grpSpPr>
          <a:xfrm>
            <a:off x="4667250" y="2476500"/>
            <a:ext cx="3308350" cy="2210832"/>
            <a:chOff x="4667250" y="2476500"/>
            <a:chExt cx="3308350" cy="2210832"/>
          </a:xfrm>
        </p:grpSpPr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79FC4EF4-9B1D-4E99-F7C0-5D30F0899565}"/>
                </a:ext>
              </a:extLst>
            </p:cNvPr>
            <p:cNvSpPr txBox="1"/>
            <p:nvPr/>
          </p:nvSpPr>
          <p:spPr>
            <a:xfrm>
              <a:off x="4673600" y="2476500"/>
              <a:ext cx="279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b="1" spc="-30">
                  <a:solidFill>
                    <a:srgbClr val="FFFFFF"/>
                  </a:solidFill>
                  <a:latin typeface="Urbanist" panose="020B0A04040200000203" pitchFamily="34" charset="0"/>
                </a:rPr>
                <a:t>Vendas</a:t>
              </a:r>
            </a:p>
          </p:txBody>
        </p:sp>
        <p:cxnSp>
          <p:nvCxnSpPr>
            <p:cNvPr id="16" name="Conector reto 15">
              <a:extLst>
                <a:ext uri="{FF2B5EF4-FFF2-40B4-BE49-F238E27FC236}">
                  <a16:creationId xmlns:a16="http://schemas.microsoft.com/office/drawing/2014/main" id="{67E56956-2BE2-944E-3C2E-97ED7708EAD6}"/>
                </a:ext>
              </a:extLst>
            </p:cNvPr>
            <p:cNvCxnSpPr/>
            <p:nvPr/>
          </p:nvCxnSpPr>
          <p:spPr>
            <a:xfrm>
              <a:off x="4737100" y="3136900"/>
              <a:ext cx="0" cy="1282700"/>
            </a:xfrm>
            <a:prstGeom prst="line">
              <a:avLst/>
            </a:prstGeom>
            <a:ln w="19050" cap="flat" cmpd="sng" algn="ctr">
              <a:solidFill>
                <a:srgbClr val="FFFFFF">
                  <a:alpha val="1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Elipse 16">
              <a:extLst>
                <a:ext uri="{FF2B5EF4-FFF2-40B4-BE49-F238E27FC236}">
                  <a16:creationId xmlns:a16="http://schemas.microsoft.com/office/drawing/2014/main" id="{8EF72D14-4955-01DE-00AA-15AB6288BA75}"/>
                </a:ext>
              </a:extLst>
            </p:cNvPr>
            <p:cNvSpPr/>
            <p:nvPr/>
          </p:nvSpPr>
          <p:spPr>
            <a:xfrm>
              <a:off x="4667250" y="30797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054F33E5-366B-A85B-94CA-44B658538113}"/>
                </a:ext>
              </a:extLst>
            </p:cNvPr>
            <p:cNvSpPr txBox="1"/>
            <p:nvPr/>
          </p:nvSpPr>
          <p:spPr>
            <a:xfrm>
              <a:off x="4927600" y="30607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Lead</a:t>
              </a:r>
            </a:p>
          </p:txBody>
        </p: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52A7980F-F527-8D8E-12F6-C0F7E6BED500}"/>
                </a:ext>
              </a:extLst>
            </p:cNvPr>
            <p:cNvSpPr/>
            <p:nvPr/>
          </p:nvSpPr>
          <p:spPr>
            <a:xfrm>
              <a:off x="4667250" y="34988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1423FB91-EE31-7816-1417-FC7D7360A736}"/>
                </a:ext>
              </a:extLst>
            </p:cNvPr>
            <p:cNvSpPr txBox="1"/>
            <p:nvPr/>
          </p:nvSpPr>
          <p:spPr>
            <a:xfrm>
              <a:off x="4927600" y="34798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Qualificação</a:t>
              </a:r>
            </a:p>
          </p:txBody>
        </p: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id="{D964D71A-E3CF-32A7-9E65-7722717A81C2}"/>
                </a:ext>
              </a:extLst>
            </p:cNvPr>
            <p:cNvSpPr/>
            <p:nvPr/>
          </p:nvSpPr>
          <p:spPr>
            <a:xfrm>
              <a:off x="4667250" y="39179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3AF519B4-C19F-5866-4CE5-462E641E0525}"/>
                </a:ext>
              </a:extLst>
            </p:cNvPr>
            <p:cNvSpPr txBox="1"/>
            <p:nvPr/>
          </p:nvSpPr>
          <p:spPr>
            <a:xfrm>
              <a:off x="4927600" y="38989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Follow-up</a:t>
              </a:r>
            </a:p>
          </p:txBody>
        </p:sp>
        <p:sp>
          <p:nvSpPr>
            <p:cNvPr id="23" name="Elipse 22">
              <a:extLst>
                <a:ext uri="{FF2B5EF4-FFF2-40B4-BE49-F238E27FC236}">
                  <a16:creationId xmlns:a16="http://schemas.microsoft.com/office/drawing/2014/main" id="{C6DE06DD-0D07-FC0C-149F-99AF951A57AF}"/>
                </a:ext>
              </a:extLst>
            </p:cNvPr>
            <p:cNvSpPr/>
            <p:nvPr/>
          </p:nvSpPr>
          <p:spPr>
            <a:xfrm>
              <a:off x="4667250" y="4337050"/>
              <a:ext cx="139700" cy="1397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F71BCAC6-CEF6-992E-0B20-599941EC9125}"/>
                </a:ext>
              </a:extLst>
            </p:cNvPr>
            <p:cNvSpPr txBox="1"/>
            <p:nvPr/>
          </p:nvSpPr>
          <p:spPr>
            <a:xfrm>
              <a:off x="4927600" y="43180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46EB7E"/>
                  </a:solidFill>
                  <a:latin typeface="Instrument Sans Medium" pitchFamily="2" charset="0"/>
                </a:rPr>
                <a:t>Vendedor preparado</a:t>
              </a:r>
            </a:p>
          </p:txBody>
        </p:sp>
      </p:grpSp>
      <p:grpSp>
        <p:nvGrpSpPr>
          <p:cNvPr id="36" name="Agrupar 35">
            <a:extLst>
              <a:ext uri="{FF2B5EF4-FFF2-40B4-BE49-F238E27FC236}">
                <a16:creationId xmlns:a16="http://schemas.microsoft.com/office/drawing/2014/main" id="{B8A68976-E9EA-1D51-5AB3-F68F39668B24}"/>
              </a:ext>
            </a:extLst>
          </p:cNvPr>
          <p:cNvGrpSpPr/>
          <p:nvPr/>
        </p:nvGrpSpPr>
        <p:grpSpPr>
          <a:xfrm>
            <a:off x="8274050" y="2476500"/>
            <a:ext cx="3308350" cy="2210832"/>
            <a:chOff x="8274050" y="2476500"/>
            <a:chExt cx="3308350" cy="2210832"/>
          </a:xfrm>
        </p:grpSpPr>
        <p:sp>
          <p:nvSpPr>
            <p:cNvPr id="26" name="CaixaDeTexto 25">
              <a:extLst>
                <a:ext uri="{FF2B5EF4-FFF2-40B4-BE49-F238E27FC236}">
                  <a16:creationId xmlns:a16="http://schemas.microsoft.com/office/drawing/2014/main" id="{BD7866EB-1550-2D5A-B861-92B421EA4737}"/>
                </a:ext>
              </a:extLst>
            </p:cNvPr>
            <p:cNvSpPr txBox="1"/>
            <p:nvPr/>
          </p:nvSpPr>
          <p:spPr>
            <a:xfrm>
              <a:off x="8280400" y="2476500"/>
              <a:ext cx="279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b="1" spc="-30">
                  <a:solidFill>
                    <a:srgbClr val="FFFFFF"/>
                  </a:solidFill>
                  <a:latin typeface="Urbanist" panose="020B0A04040200000203" pitchFamily="34" charset="0"/>
                </a:rPr>
                <a:t>Operação</a:t>
              </a:r>
            </a:p>
          </p:txBody>
        </p:sp>
        <p:cxnSp>
          <p:nvCxnSpPr>
            <p:cNvPr id="27" name="Conector reto 26">
              <a:extLst>
                <a:ext uri="{FF2B5EF4-FFF2-40B4-BE49-F238E27FC236}">
                  <a16:creationId xmlns:a16="http://schemas.microsoft.com/office/drawing/2014/main" id="{73F20A96-40C9-B934-6527-4959C8177348}"/>
                </a:ext>
              </a:extLst>
            </p:cNvPr>
            <p:cNvCxnSpPr/>
            <p:nvPr/>
          </p:nvCxnSpPr>
          <p:spPr>
            <a:xfrm>
              <a:off x="8343900" y="3136900"/>
              <a:ext cx="0" cy="1282700"/>
            </a:xfrm>
            <a:prstGeom prst="line">
              <a:avLst/>
            </a:prstGeom>
            <a:ln w="19050" cap="flat" cmpd="sng" algn="ctr">
              <a:solidFill>
                <a:srgbClr val="FFFFFF">
                  <a:alpha val="1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Elipse 27">
              <a:extLst>
                <a:ext uri="{FF2B5EF4-FFF2-40B4-BE49-F238E27FC236}">
                  <a16:creationId xmlns:a16="http://schemas.microsoft.com/office/drawing/2014/main" id="{5B034FD5-A266-91D6-C468-B19D8DC4CA1B}"/>
                </a:ext>
              </a:extLst>
            </p:cNvPr>
            <p:cNvSpPr/>
            <p:nvPr/>
          </p:nvSpPr>
          <p:spPr>
            <a:xfrm>
              <a:off x="8274050" y="30797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CaixaDeTexto 28">
              <a:extLst>
                <a:ext uri="{FF2B5EF4-FFF2-40B4-BE49-F238E27FC236}">
                  <a16:creationId xmlns:a16="http://schemas.microsoft.com/office/drawing/2014/main" id="{93284CDA-A00A-3794-E79F-AEFD9A2307D7}"/>
                </a:ext>
              </a:extLst>
            </p:cNvPr>
            <p:cNvSpPr txBox="1"/>
            <p:nvPr/>
          </p:nvSpPr>
          <p:spPr>
            <a:xfrm>
              <a:off x="8534400" y="30607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Sistemas + dados</a:t>
              </a:r>
            </a:p>
          </p:txBody>
        </p:sp>
        <p:sp>
          <p:nvSpPr>
            <p:cNvPr id="30" name="Elipse 29">
              <a:extLst>
                <a:ext uri="{FF2B5EF4-FFF2-40B4-BE49-F238E27FC236}">
                  <a16:creationId xmlns:a16="http://schemas.microsoft.com/office/drawing/2014/main" id="{E61B2868-B2C8-3E01-916E-922A4E22EC47}"/>
                </a:ext>
              </a:extLst>
            </p:cNvPr>
            <p:cNvSpPr/>
            <p:nvPr/>
          </p:nvSpPr>
          <p:spPr>
            <a:xfrm>
              <a:off x="8274050" y="34988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CaixaDeTexto 30">
              <a:extLst>
                <a:ext uri="{FF2B5EF4-FFF2-40B4-BE49-F238E27FC236}">
                  <a16:creationId xmlns:a16="http://schemas.microsoft.com/office/drawing/2014/main" id="{A75D0C24-0B38-9321-B2DC-1420B2D2D617}"/>
                </a:ext>
              </a:extLst>
            </p:cNvPr>
            <p:cNvSpPr txBox="1"/>
            <p:nvPr/>
          </p:nvSpPr>
          <p:spPr>
            <a:xfrm>
              <a:off x="8534400" y="34798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Agente</a:t>
              </a:r>
            </a:p>
          </p:txBody>
        </p:sp>
        <p:sp>
          <p:nvSpPr>
            <p:cNvPr id="32" name="Elipse 31">
              <a:extLst>
                <a:ext uri="{FF2B5EF4-FFF2-40B4-BE49-F238E27FC236}">
                  <a16:creationId xmlns:a16="http://schemas.microsoft.com/office/drawing/2014/main" id="{3391C70C-2DF4-E83C-B877-25844F09E83A}"/>
                </a:ext>
              </a:extLst>
            </p:cNvPr>
            <p:cNvSpPr/>
            <p:nvPr/>
          </p:nvSpPr>
          <p:spPr>
            <a:xfrm>
              <a:off x="8274050" y="39179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CaixaDeTexto 32">
              <a:extLst>
                <a:ext uri="{FF2B5EF4-FFF2-40B4-BE49-F238E27FC236}">
                  <a16:creationId xmlns:a16="http://schemas.microsoft.com/office/drawing/2014/main" id="{E8ED1E76-7374-4A93-D27F-E2390C70D1D3}"/>
                </a:ext>
              </a:extLst>
            </p:cNvPr>
            <p:cNvSpPr txBox="1"/>
            <p:nvPr/>
          </p:nvSpPr>
          <p:spPr>
            <a:xfrm>
              <a:off x="8534400" y="38989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Análise</a:t>
              </a:r>
            </a:p>
          </p:txBody>
        </p:sp>
        <p:sp>
          <p:nvSpPr>
            <p:cNvPr id="34" name="Elipse 33">
              <a:extLst>
                <a:ext uri="{FF2B5EF4-FFF2-40B4-BE49-F238E27FC236}">
                  <a16:creationId xmlns:a16="http://schemas.microsoft.com/office/drawing/2014/main" id="{B3E76819-DC7E-7096-9364-C742E505B373}"/>
                </a:ext>
              </a:extLst>
            </p:cNvPr>
            <p:cNvSpPr/>
            <p:nvPr/>
          </p:nvSpPr>
          <p:spPr>
            <a:xfrm>
              <a:off x="8274050" y="4337050"/>
              <a:ext cx="139700" cy="1397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id="{4C64EF75-943C-D608-71D2-832CE0D5814C}"/>
                </a:ext>
              </a:extLst>
            </p:cNvPr>
            <p:cNvSpPr txBox="1"/>
            <p:nvPr/>
          </p:nvSpPr>
          <p:spPr>
            <a:xfrm>
              <a:off x="8534400" y="43180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46EB7E"/>
                  </a:solidFill>
                  <a:latin typeface="Instrument Sans Medium" pitchFamily="2" charset="0"/>
                </a:rPr>
                <a:t>Ação</a:t>
              </a:r>
            </a:p>
          </p:txBody>
        </p:sp>
      </p:grp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415EC4D4-A439-4A75-8B73-0882D78351DA}"/>
              </a:ext>
            </a:extLst>
          </p:cNvPr>
          <p:cNvCxnSpPr/>
          <p:nvPr/>
        </p:nvCxnSpPr>
        <p:spPr>
          <a:xfrm>
            <a:off x="4292600" y="2476500"/>
            <a:ext cx="0" cy="2413000"/>
          </a:xfrm>
          <a:prstGeom prst="line">
            <a:avLst/>
          </a:prstGeom>
          <a:ln w="1270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47059FD3-2487-B590-5B57-D28685C63368}"/>
              </a:ext>
            </a:extLst>
          </p:cNvPr>
          <p:cNvCxnSpPr/>
          <p:nvPr/>
        </p:nvCxnSpPr>
        <p:spPr>
          <a:xfrm>
            <a:off x="7899400" y="2476500"/>
            <a:ext cx="0" cy="2413000"/>
          </a:xfrm>
          <a:prstGeom prst="line">
            <a:avLst/>
          </a:prstGeom>
          <a:ln w="1270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ector reto 38">
            <a:extLst>
              <a:ext uri="{FF2B5EF4-FFF2-40B4-BE49-F238E27FC236}">
                <a16:creationId xmlns:a16="http://schemas.microsoft.com/office/drawing/2014/main" id="{78D1D383-6C1B-8715-F425-136C7F5C4998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E579DA7C-010A-EF4F-A08F-F75F58119A45}"/>
              </a:ext>
            </a:extLst>
          </p:cNvPr>
          <p:cNvCxnSpPr/>
          <p:nvPr/>
        </p:nvCxnSpPr>
        <p:spPr>
          <a:xfrm>
            <a:off x="685800" y="6578600"/>
            <a:ext cx="7805615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Elipse 40">
            <a:extLst>
              <a:ext uri="{FF2B5EF4-FFF2-40B4-BE49-F238E27FC236}">
                <a16:creationId xmlns:a16="http://schemas.microsoft.com/office/drawing/2014/main" id="{46C17D97-73DB-7C61-AA38-C0805C5914D9}"/>
              </a:ext>
            </a:extLst>
          </p:cNvPr>
          <p:cNvSpPr/>
          <p:nvPr/>
        </p:nvSpPr>
        <p:spPr>
          <a:xfrm>
            <a:off x="8440615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6DCF57FE-7CD2-2CDE-A1A6-FD9DB6EC9DA7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10 / 13</a:t>
            </a:r>
          </a:p>
        </p:txBody>
      </p:sp>
    </p:spTree>
    <p:extLst>
      <p:ext uri="{BB962C8B-B14F-4D97-AF65-F5344CB8AC3E}">
        <p14:creationId xmlns:p14="http://schemas.microsoft.com/office/powerpoint/2010/main" val="5981105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469B9CAF-7BEC-BBFC-BABE-30B227A67630}"/>
              </a:ext>
            </a:extLst>
          </p:cNvPr>
          <p:cNvSpPr txBox="1"/>
          <p:nvPr/>
        </p:nvSpPr>
        <p:spPr>
          <a:xfrm>
            <a:off x="685800" y="2413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0F7C47"/>
                </a:solidFill>
                <a:latin typeface="Instrument Sans Medium" pitchFamily="2" charset="0"/>
              </a:rPr>
              <a:t>COMO TRABALHAMOS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7A333DE-4F46-EB8F-8D68-EDEDD9B8B29E}"/>
              </a:ext>
            </a:extLst>
          </p:cNvPr>
          <p:cNvSpPr txBox="1"/>
          <p:nvPr/>
        </p:nvSpPr>
        <p:spPr>
          <a:xfrm>
            <a:off x="685800" y="27305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5400" b="1" spc="-160">
                <a:solidFill>
                  <a:srgbClr val="0B0B0C"/>
                </a:solidFill>
                <a:latin typeface="Urbanist" panose="020B0A04040200000203" pitchFamily="34" charset="0"/>
              </a:rPr>
              <a:t>Da dor ao </a:t>
            </a:r>
            <a:r>
              <a:rPr lang="pt-BR" sz="5400" b="1" spc="-160">
                <a:solidFill>
                  <a:srgbClr val="0F7C47"/>
                </a:solidFill>
                <a:latin typeface="Urbanist" panose="020B0A04040200000203" pitchFamily="34" charset="0"/>
              </a:rPr>
              <a:t>software.</a:t>
            </a:r>
          </a:p>
        </p:txBody>
      </p: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BA92FBCC-F25E-C3D0-765B-5D9B61F0BC07}"/>
              </a:ext>
            </a:extLst>
          </p:cNvPr>
          <p:cNvCxnSpPr/>
          <p:nvPr/>
        </p:nvCxnSpPr>
        <p:spPr>
          <a:xfrm>
            <a:off x="6235700" y="1435100"/>
            <a:ext cx="0" cy="3860800"/>
          </a:xfrm>
          <a:prstGeom prst="line">
            <a:avLst/>
          </a:prstGeom>
          <a:ln w="19050" cap="flat" cmpd="sng" algn="ctr">
            <a:solidFill>
              <a:srgbClr val="0B0B0C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Agrupar 8">
            <a:extLst>
              <a:ext uri="{FF2B5EF4-FFF2-40B4-BE49-F238E27FC236}">
                <a16:creationId xmlns:a16="http://schemas.microsoft.com/office/drawing/2014/main" id="{A8A12CF8-7003-A91D-9700-B70E18D9077A}"/>
              </a:ext>
            </a:extLst>
          </p:cNvPr>
          <p:cNvGrpSpPr/>
          <p:nvPr/>
        </p:nvGrpSpPr>
        <p:grpSpPr>
          <a:xfrm>
            <a:off x="5969000" y="1168400"/>
            <a:ext cx="5334000" cy="712232"/>
            <a:chOff x="5969000" y="1168400"/>
            <a:chExt cx="5334000" cy="712232"/>
          </a:xfrm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FA66261D-6367-1D77-86FA-2E403A829042}"/>
                </a:ext>
              </a:extLst>
            </p:cNvPr>
            <p:cNvSpPr/>
            <p:nvPr/>
          </p:nvSpPr>
          <p:spPr>
            <a:xfrm>
              <a:off x="5969000" y="11684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94A43002-B32C-B2FB-5BAB-747C33EF62D0}"/>
                </a:ext>
              </a:extLst>
            </p:cNvPr>
            <p:cNvSpPr txBox="1"/>
            <p:nvPr/>
          </p:nvSpPr>
          <p:spPr>
            <a:xfrm>
              <a:off x="5969000" y="13335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1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45BCAFEA-9FF2-B435-AC1D-2149B8DCD4BA}"/>
                </a:ext>
              </a:extLst>
            </p:cNvPr>
            <p:cNvSpPr txBox="1"/>
            <p:nvPr/>
          </p:nvSpPr>
          <p:spPr>
            <a:xfrm>
              <a:off x="6731000" y="12192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50" b="1" spc="-20">
                  <a:solidFill>
                    <a:srgbClr val="0B0B0C"/>
                  </a:solidFill>
                  <a:latin typeface="Urbanist" panose="020B0A04040200000203" pitchFamily="34" charset="0"/>
                </a:rPr>
                <a:t>Entender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7C771F5C-E866-E06B-C405-F30779E4776B}"/>
                </a:ext>
              </a:extLst>
            </p:cNvPr>
            <p:cNvSpPr txBox="1"/>
            <p:nvPr/>
          </p:nvSpPr>
          <p:spPr>
            <a:xfrm>
              <a:off x="6731000" y="15113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50">
                  <a:solidFill>
                    <a:srgbClr val="575C61"/>
                  </a:solidFill>
                  <a:latin typeface="Instrument Sans Medium" pitchFamily="2" charset="0"/>
                </a:rPr>
                <a:t>Mapeamos problema, impacto e contexto.</a:t>
              </a:r>
            </a:p>
          </p:txBody>
        </p:sp>
      </p:grp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CFC4FBF6-CAA0-6BBE-EF43-9D4B9ED27814}"/>
              </a:ext>
            </a:extLst>
          </p:cNvPr>
          <p:cNvGrpSpPr/>
          <p:nvPr/>
        </p:nvGrpSpPr>
        <p:grpSpPr>
          <a:xfrm>
            <a:off x="5969000" y="2133600"/>
            <a:ext cx="5334000" cy="712232"/>
            <a:chOff x="5969000" y="2133600"/>
            <a:chExt cx="5334000" cy="712232"/>
          </a:xfrm>
        </p:grpSpPr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A5EB4EAB-BDF6-1C51-B6EF-BA1B06303998}"/>
                </a:ext>
              </a:extLst>
            </p:cNvPr>
            <p:cNvSpPr/>
            <p:nvPr/>
          </p:nvSpPr>
          <p:spPr>
            <a:xfrm>
              <a:off x="5969000" y="21336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98057BAF-4A02-FA13-ADD4-C65A97259B3D}"/>
                </a:ext>
              </a:extLst>
            </p:cNvPr>
            <p:cNvSpPr txBox="1"/>
            <p:nvPr/>
          </p:nvSpPr>
          <p:spPr>
            <a:xfrm>
              <a:off x="5969000" y="22987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2</a:t>
              </a:r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E36EE4CB-C361-7A21-CCBB-B53CD34B83D5}"/>
                </a:ext>
              </a:extLst>
            </p:cNvPr>
            <p:cNvSpPr txBox="1"/>
            <p:nvPr/>
          </p:nvSpPr>
          <p:spPr>
            <a:xfrm>
              <a:off x="6731000" y="21844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50" b="1" spc="-20">
                  <a:solidFill>
                    <a:srgbClr val="0B0B0C"/>
                  </a:solidFill>
                  <a:latin typeface="Urbanist" panose="020B0A04040200000203" pitchFamily="34" charset="0"/>
                </a:rPr>
                <a:t>Desenhar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782EF141-5B8B-A9FC-622B-45A402BCA8AA}"/>
                </a:ext>
              </a:extLst>
            </p:cNvPr>
            <p:cNvSpPr txBox="1"/>
            <p:nvPr/>
          </p:nvSpPr>
          <p:spPr>
            <a:xfrm>
              <a:off x="6731000" y="24765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50">
                  <a:solidFill>
                    <a:srgbClr val="575C61"/>
                  </a:solidFill>
                  <a:latin typeface="Instrument Sans Medium" pitchFamily="2" charset="0"/>
                </a:rPr>
                <a:t>Solução, experiência, arquitetura e integrações.</a:t>
              </a: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4A26FCD3-73DE-A6D3-368C-49B05EA6A524}"/>
              </a:ext>
            </a:extLst>
          </p:cNvPr>
          <p:cNvGrpSpPr/>
          <p:nvPr/>
        </p:nvGrpSpPr>
        <p:grpSpPr>
          <a:xfrm>
            <a:off x="5969000" y="3098800"/>
            <a:ext cx="5334000" cy="712232"/>
            <a:chOff x="5969000" y="3098800"/>
            <a:chExt cx="5334000" cy="712232"/>
          </a:xfrm>
        </p:grpSpPr>
        <p:sp>
          <p:nvSpPr>
            <p:cNvPr id="15" name="Elipse 14">
              <a:extLst>
                <a:ext uri="{FF2B5EF4-FFF2-40B4-BE49-F238E27FC236}">
                  <a16:creationId xmlns:a16="http://schemas.microsoft.com/office/drawing/2014/main" id="{DB36AAFC-7804-2254-CB95-AEB60E2456B6}"/>
                </a:ext>
              </a:extLst>
            </p:cNvPr>
            <p:cNvSpPr/>
            <p:nvPr/>
          </p:nvSpPr>
          <p:spPr>
            <a:xfrm>
              <a:off x="5969000" y="30988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B9BF3DFE-D130-2E59-190F-F388CD3BE436}"/>
                </a:ext>
              </a:extLst>
            </p:cNvPr>
            <p:cNvSpPr txBox="1"/>
            <p:nvPr/>
          </p:nvSpPr>
          <p:spPr>
            <a:xfrm>
              <a:off x="5969000" y="32639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3</a:t>
              </a:r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F514D0FF-A35D-453C-1FA7-01EF684D4F5F}"/>
                </a:ext>
              </a:extLst>
            </p:cNvPr>
            <p:cNvSpPr txBox="1"/>
            <p:nvPr/>
          </p:nvSpPr>
          <p:spPr>
            <a:xfrm>
              <a:off x="6731000" y="31496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50" b="1" spc="-20">
                  <a:solidFill>
                    <a:srgbClr val="0B0B0C"/>
                  </a:solidFill>
                  <a:latin typeface="Urbanist" panose="020B0A04040200000203" pitchFamily="34" charset="0"/>
                </a:rPr>
                <a:t>Construir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147BF19E-806A-574C-5D24-4838D175FD44}"/>
                </a:ext>
              </a:extLst>
            </p:cNvPr>
            <p:cNvSpPr txBox="1"/>
            <p:nvPr/>
          </p:nvSpPr>
          <p:spPr>
            <a:xfrm>
              <a:off x="6731000" y="34417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50">
                  <a:solidFill>
                    <a:srgbClr val="575C61"/>
                  </a:solidFill>
                  <a:latin typeface="Instrument Sans Medium" pitchFamily="2" charset="0"/>
                </a:rPr>
                <a:t>Ciclos curtos, validação contínua.</a:t>
              </a:r>
            </a:p>
          </p:txBody>
        </p:sp>
      </p:grpSp>
      <p:grpSp>
        <p:nvGrpSpPr>
          <p:cNvPr id="24" name="Agrupar 23">
            <a:extLst>
              <a:ext uri="{FF2B5EF4-FFF2-40B4-BE49-F238E27FC236}">
                <a16:creationId xmlns:a16="http://schemas.microsoft.com/office/drawing/2014/main" id="{E1663F9D-85F1-0A8A-B243-012BA5D36662}"/>
              </a:ext>
            </a:extLst>
          </p:cNvPr>
          <p:cNvGrpSpPr/>
          <p:nvPr/>
        </p:nvGrpSpPr>
        <p:grpSpPr>
          <a:xfrm>
            <a:off x="5969000" y="4064000"/>
            <a:ext cx="5334000" cy="712232"/>
            <a:chOff x="5969000" y="4064000"/>
            <a:chExt cx="5334000" cy="712232"/>
          </a:xfrm>
        </p:grpSpPr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251FC496-7B45-2DBA-AFF6-8DF706F7F472}"/>
                </a:ext>
              </a:extLst>
            </p:cNvPr>
            <p:cNvSpPr/>
            <p:nvPr/>
          </p:nvSpPr>
          <p:spPr>
            <a:xfrm>
              <a:off x="5969000" y="40640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5A2E1242-6200-6E42-5E6E-6142326A44C5}"/>
                </a:ext>
              </a:extLst>
            </p:cNvPr>
            <p:cNvSpPr txBox="1"/>
            <p:nvPr/>
          </p:nvSpPr>
          <p:spPr>
            <a:xfrm>
              <a:off x="5969000" y="42291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4</a:t>
              </a:r>
            </a:p>
          </p:txBody>
        </p: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69849EB8-B6CB-859C-3EE3-0EFC0D235E94}"/>
                </a:ext>
              </a:extLst>
            </p:cNvPr>
            <p:cNvSpPr txBox="1"/>
            <p:nvPr/>
          </p:nvSpPr>
          <p:spPr>
            <a:xfrm>
              <a:off x="6731000" y="41148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50" b="1" spc="-20">
                  <a:solidFill>
                    <a:srgbClr val="0B0B0C"/>
                  </a:solidFill>
                  <a:latin typeface="Urbanist" panose="020B0A04040200000203" pitchFamily="34" charset="0"/>
                </a:rPr>
                <a:t>Implantar</a:t>
              </a:r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8A30E311-C0F1-C813-0576-C10CF47A15CD}"/>
                </a:ext>
              </a:extLst>
            </p:cNvPr>
            <p:cNvSpPr txBox="1"/>
            <p:nvPr/>
          </p:nvSpPr>
          <p:spPr>
            <a:xfrm>
              <a:off x="6731000" y="44069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50">
                  <a:solidFill>
                    <a:srgbClr val="575C61"/>
                  </a:solidFill>
                  <a:latin typeface="Instrument Sans Medium" pitchFamily="2" charset="0"/>
                </a:rPr>
                <a:t>Na operação real.</a:t>
              </a:r>
            </a:p>
          </p:txBody>
        </p:sp>
      </p:grpSp>
      <p:grpSp>
        <p:nvGrpSpPr>
          <p:cNvPr id="29" name="Agrupar 28">
            <a:extLst>
              <a:ext uri="{FF2B5EF4-FFF2-40B4-BE49-F238E27FC236}">
                <a16:creationId xmlns:a16="http://schemas.microsoft.com/office/drawing/2014/main" id="{B26CC2A0-7889-D39D-CF99-1E82311A5D39}"/>
              </a:ext>
            </a:extLst>
          </p:cNvPr>
          <p:cNvGrpSpPr/>
          <p:nvPr/>
        </p:nvGrpSpPr>
        <p:grpSpPr>
          <a:xfrm>
            <a:off x="5969000" y="5029200"/>
            <a:ext cx="5334000" cy="712232"/>
            <a:chOff x="5969000" y="5029200"/>
            <a:chExt cx="5334000" cy="712232"/>
          </a:xfrm>
        </p:grpSpPr>
        <p:sp>
          <p:nvSpPr>
            <p:cNvPr id="25" name="Elipse 24">
              <a:extLst>
                <a:ext uri="{FF2B5EF4-FFF2-40B4-BE49-F238E27FC236}">
                  <a16:creationId xmlns:a16="http://schemas.microsoft.com/office/drawing/2014/main" id="{11ED52B3-F6E5-D82C-9C3D-8181B5EA11EA}"/>
                </a:ext>
              </a:extLst>
            </p:cNvPr>
            <p:cNvSpPr/>
            <p:nvPr/>
          </p:nvSpPr>
          <p:spPr>
            <a:xfrm>
              <a:off x="5969000" y="5029200"/>
              <a:ext cx="533400" cy="5334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CaixaDeTexto 25">
              <a:extLst>
                <a:ext uri="{FF2B5EF4-FFF2-40B4-BE49-F238E27FC236}">
                  <a16:creationId xmlns:a16="http://schemas.microsoft.com/office/drawing/2014/main" id="{95671A8E-5CC6-E959-38D2-CD20C4B1C47C}"/>
                </a:ext>
              </a:extLst>
            </p:cNvPr>
            <p:cNvSpPr txBox="1"/>
            <p:nvPr/>
          </p:nvSpPr>
          <p:spPr>
            <a:xfrm>
              <a:off x="5969000" y="51943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5</a:t>
              </a:r>
            </a:p>
          </p:txBody>
        </p:sp>
        <p:sp>
          <p:nvSpPr>
            <p:cNvPr id="27" name="CaixaDeTexto 26">
              <a:extLst>
                <a:ext uri="{FF2B5EF4-FFF2-40B4-BE49-F238E27FC236}">
                  <a16:creationId xmlns:a16="http://schemas.microsoft.com/office/drawing/2014/main" id="{07BE6019-1F8A-37D8-739E-A7E6311BB2A7}"/>
                </a:ext>
              </a:extLst>
            </p:cNvPr>
            <p:cNvSpPr txBox="1"/>
            <p:nvPr/>
          </p:nvSpPr>
          <p:spPr>
            <a:xfrm>
              <a:off x="6731000" y="50800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50" b="1" spc="-20">
                  <a:solidFill>
                    <a:srgbClr val="0B0B0C"/>
                  </a:solidFill>
                  <a:latin typeface="Urbanist" panose="020B0A04040200000203" pitchFamily="34" charset="0"/>
                </a:rPr>
                <a:t>Evoluir</a:t>
              </a:r>
            </a:p>
          </p:txBody>
        </p:sp>
        <p:sp>
          <p:nvSpPr>
            <p:cNvPr id="28" name="CaixaDeTexto 27">
              <a:extLst>
                <a:ext uri="{FF2B5EF4-FFF2-40B4-BE49-F238E27FC236}">
                  <a16:creationId xmlns:a16="http://schemas.microsoft.com/office/drawing/2014/main" id="{5C791626-549C-B084-7220-2397038E0EFD}"/>
                </a:ext>
              </a:extLst>
            </p:cNvPr>
            <p:cNvSpPr txBox="1"/>
            <p:nvPr/>
          </p:nvSpPr>
          <p:spPr>
            <a:xfrm>
              <a:off x="6731000" y="53721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50">
                  <a:solidFill>
                    <a:srgbClr val="575C61"/>
                  </a:solidFill>
                  <a:latin typeface="Instrument Sans Medium" pitchFamily="2" charset="0"/>
                </a:rPr>
                <a:t>Uso, resultados e novas oportunidades.</a:t>
              </a:r>
            </a:p>
          </p:txBody>
        </p:sp>
      </p:grpSp>
      <p:cxnSp>
        <p:nvCxnSpPr>
          <p:cNvPr id="30" name="Conector reto 29">
            <a:extLst>
              <a:ext uri="{FF2B5EF4-FFF2-40B4-BE49-F238E27FC236}">
                <a16:creationId xmlns:a16="http://schemas.microsoft.com/office/drawing/2014/main" id="{B341EBA1-8824-40C3-C287-C7323BA355C4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0B0B0C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4A4E9027-BD33-74CF-3D80-208B377E860D}"/>
              </a:ext>
            </a:extLst>
          </p:cNvPr>
          <p:cNvCxnSpPr/>
          <p:nvPr/>
        </p:nvCxnSpPr>
        <p:spPr>
          <a:xfrm>
            <a:off x="685800" y="6578600"/>
            <a:ext cx="8586177" cy="0"/>
          </a:xfrm>
          <a:prstGeom prst="line">
            <a:avLst/>
          </a:prstGeom>
          <a:ln w="19050" cap="flat" cmpd="sng" algn="ctr">
            <a:solidFill>
              <a:srgbClr val="0F7C4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87915F0F-D501-2F62-60CC-666FBBEB7A68}"/>
              </a:ext>
            </a:extLst>
          </p:cNvPr>
          <p:cNvSpPr/>
          <p:nvPr/>
        </p:nvSpPr>
        <p:spPr>
          <a:xfrm>
            <a:off x="9221177" y="6527800"/>
            <a:ext cx="101600" cy="101600"/>
          </a:xfrm>
          <a:prstGeom prst="ellipse">
            <a:avLst/>
          </a:prstGeom>
          <a:solidFill>
            <a:srgbClr val="0F7C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01C5FBF5-2FED-3BA6-6DE6-54984A519411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575C61"/>
                </a:solidFill>
                <a:latin typeface="Instrument Sans Medium" pitchFamily="2" charset="0"/>
              </a:rPr>
              <a:t>11 / 13</a:t>
            </a:r>
          </a:p>
        </p:txBody>
      </p:sp>
    </p:spTree>
    <p:extLst>
      <p:ext uri="{BB962C8B-B14F-4D97-AF65-F5344CB8AC3E}">
        <p14:creationId xmlns:p14="http://schemas.microsoft.com/office/powerpoint/2010/main" val="9713398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3272711C-6A14-B5D2-707C-479B4B7694D1}"/>
              </a:ext>
            </a:extLst>
          </p:cNvPr>
          <p:cNvSpPr txBox="1"/>
          <p:nvPr/>
        </p:nvSpPr>
        <p:spPr>
          <a:xfrm>
            <a:off x="685800" y="571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46EB7E"/>
                </a:solidFill>
                <a:latin typeface="Instrument Sans Medium" pitchFamily="2" charset="0"/>
              </a:rPr>
              <a:t>PARA QUEM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78D1B18-AB84-F526-C5D3-2229A00A741E}"/>
              </a:ext>
            </a:extLst>
          </p:cNvPr>
          <p:cNvSpPr txBox="1"/>
          <p:nvPr/>
        </p:nvSpPr>
        <p:spPr>
          <a:xfrm>
            <a:off x="685800" y="965200"/>
            <a:ext cx="1082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4300" b="1" spc="-120">
                <a:solidFill>
                  <a:srgbClr val="FFFFFF"/>
                </a:solidFill>
                <a:latin typeface="Urbanist" panose="020B0A04040200000203" pitchFamily="34" charset="0"/>
              </a:rPr>
              <a:t>Para empresas que já têm operação —
e querem chegar ao </a:t>
            </a:r>
            <a:r>
              <a:rPr lang="pt-BR" sz="4300" b="1" spc="-120">
                <a:solidFill>
                  <a:srgbClr val="46EB7E"/>
                </a:solidFill>
                <a:latin typeface="Urbanist" panose="020B0A04040200000203" pitchFamily="34" charset="0"/>
              </a:rPr>
              <a:t>próximo nível.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C1F46CB3-F2E0-9C73-CDA8-FDDDF04E836C}"/>
              </a:ext>
            </a:extLst>
          </p:cNvPr>
          <p:cNvSpPr/>
          <p:nvPr/>
        </p:nvSpPr>
        <p:spPr>
          <a:xfrm>
            <a:off x="685800" y="2946400"/>
            <a:ext cx="2413000" cy="419100"/>
          </a:xfrm>
          <a:prstGeom prst="roundRect">
            <a:avLst>
              <a:gd name="adj" fmla="val 50000"/>
            </a:avLst>
          </a:prstGeom>
          <a:solidFill>
            <a:srgbClr val="131316"/>
          </a:solidFill>
          <a:ln w="12700" cap="flat" cmpd="sng" algn="ctr">
            <a:solidFill>
              <a:srgbClr val="FFFFFF">
                <a:alpha val="2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>
            <a:noAutofit/>
          </a:bodyPr>
          <a:lstStyle/>
          <a:p>
            <a:pPr algn="ctr"/>
            <a:r>
              <a:rPr lang="pt-BR" sz="1250">
                <a:solidFill>
                  <a:srgbClr val="E8EAEC"/>
                </a:solidFill>
                <a:latin typeface="Instrument Sans Medium" pitchFamily="2" charset="0"/>
              </a:rPr>
              <a:t>Processos que não escalam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24E0A395-9A68-66B5-8855-7118530C47A5}"/>
              </a:ext>
            </a:extLst>
          </p:cNvPr>
          <p:cNvSpPr/>
          <p:nvPr/>
        </p:nvSpPr>
        <p:spPr>
          <a:xfrm>
            <a:off x="3238500" y="2946400"/>
            <a:ext cx="2184400" cy="419100"/>
          </a:xfrm>
          <a:prstGeom prst="roundRect">
            <a:avLst>
              <a:gd name="adj" fmla="val 50000"/>
            </a:avLst>
          </a:prstGeom>
          <a:solidFill>
            <a:srgbClr val="131316"/>
          </a:solidFill>
          <a:ln w="12700" cap="flat" cmpd="sng" algn="ctr">
            <a:solidFill>
              <a:srgbClr val="FFFFFF">
                <a:alpha val="2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>
            <a:noAutofit/>
          </a:bodyPr>
          <a:lstStyle/>
          <a:p>
            <a:pPr algn="ctr"/>
            <a:r>
              <a:rPr lang="pt-BR" sz="1250">
                <a:solidFill>
                  <a:srgbClr val="E8EAEC"/>
                </a:solidFill>
                <a:latin typeface="Instrument Sans Medium" pitchFamily="2" charset="0"/>
              </a:rPr>
              <a:t>Sistemas desconectados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A51936F1-250C-1C18-384F-FF1A895DA8C8}"/>
              </a:ext>
            </a:extLst>
          </p:cNvPr>
          <p:cNvSpPr/>
          <p:nvPr/>
        </p:nvSpPr>
        <p:spPr>
          <a:xfrm>
            <a:off x="5562600" y="2946400"/>
            <a:ext cx="1714500" cy="419100"/>
          </a:xfrm>
          <a:prstGeom prst="roundRect">
            <a:avLst>
              <a:gd name="adj" fmla="val 50000"/>
            </a:avLst>
          </a:prstGeom>
          <a:solidFill>
            <a:srgbClr val="131316"/>
          </a:solidFill>
          <a:ln w="12700" cap="flat" cmpd="sng" algn="ctr">
            <a:solidFill>
              <a:srgbClr val="FFFFFF">
                <a:alpha val="2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>
            <a:noAutofit/>
          </a:bodyPr>
          <a:lstStyle/>
          <a:p>
            <a:pPr algn="ctr"/>
            <a:r>
              <a:rPr lang="pt-BR" sz="1250">
                <a:solidFill>
                  <a:srgbClr val="E8EAEC"/>
                </a:solidFill>
                <a:latin typeface="Instrument Sans Medium" pitchFamily="2" charset="0"/>
              </a:rPr>
              <a:t>Dados espalhados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436A0F23-3953-B4CB-1ECC-5820759BBDD0}"/>
              </a:ext>
            </a:extLst>
          </p:cNvPr>
          <p:cNvSpPr/>
          <p:nvPr/>
        </p:nvSpPr>
        <p:spPr>
          <a:xfrm>
            <a:off x="7416800" y="2946400"/>
            <a:ext cx="3327400" cy="419100"/>
          </a:xfrm>
          <a:prstGeom prst="roundRect">
            <a:avLst>
              <a:gd name="adj" fmla="val 50000"/>
            </a:avLst>
          </a:prstGeom>
          <a:solidFill>
            <a:srgbClr val="131316"/>
          </a:solidFill>
          <a:ln w="12700" cap="flat" cmpd="sng" algn="ctr">
            <a:solidFill>
              <a:srgbClr val="FFFFFF">
                <a:alpha val="2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>
            <a:noAutofit/>
          </a:bodyPr>
          <a:lstStyle/>
          <a:p>
            <a:pPr algn="ctr"/>
            <a:r>
              <a:rPr lang="pt-BR" sz="1250">
                <a:solidFill>
                  <a:srgbClr val="E8EAEC"/>
                </a:solidFill>
                <a:latin typeface="Instrument Sans Medium" pitchFamily="2" charset="0"/>
              </a:rPr>
              <a:t>Oportunidades digitais não exploradas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2D58206D-407F-6076-38E6-2B3D11DED7E4}"/>
              </a:ext>
            </a:extLst>
          </p:cNvPr>
          <p:cNvSpPr txBox="1"/>
          <p:nvPr/>
        </p:nvSpPr>
        <p:spPr>
          <a:xfrm>
            <a:off x="685800" y="5461000"/>
            <a:ext cx="812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30000"/>
              </a:lnSpc>
            </a:pPr>
            <a:r>
              <a:rPr lang="pt-BR" sz="1500">
                <a:solidFill>
                  <a:srgbClr val="9BA1A6"/>
                </a:solidFill>
                <a:latin typeface="Instrument Sans Medium" pitchFamily="2" charset="0"/>
              </a:rPr>
              <a:t>Se a empresa já funciona, mas a tecnologia começou a limitar o crescimento, </a:t>
            </a:r>
            <a:r>
              <a:rPr lang="pt-BR" sz="1500">
                <a:solidFill>
                  <a:srgbClr val="46EB7E"/>
                </a:solidFill>
                <a:latin typeface="Instrument Sans Medium" pitchFamily="2" charset="0"/>
              </a:rPr>
              <a:t>provavelmente existe algo que podemos construir.</a:t>
            </a:r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70404BEB-4D8B-4FDF-5CA8-C979017E3919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ECB20E78-3CA2-DE54-D0F6-94E8BF1781C2}"/>
              </a:ext>
            </a:extLst>
          </p:cNvPr>
          <p:cNvCxnSpPr/>
          <p:nvPr/>
        </p:nvCxnSpPr>
        <p:spPr>
          <a:xfrm>
            <a:off x="685800" y="6578600"/>
            <a:ext cx="9366738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5CA78BF9-8851-F8D4-A932-411EE5CA5391}"/>
              </a:ext>
            </a:extLst>
          </p:cNvPr>
          <p:cNvSpPr/>
          <p:nvPr/>
        </p:nvSpPr>
        <p:spPr>
          <a:xfrm>
            <a:off x="10001738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2C13372-F342-E626-59CE-480B3F04D93D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12 / 13</a:t>
            </a:r>
          </a:p>
        </p:txBody>
      </p:sp>
    </p:spTree>
    <p:extLst>
      <p:ext uri="{BB962C8B-B14F-4D97-AF65-F5344CB8AC3E}">
        <p14:creationId xmlns:p14="http://schemas.microsoft.com/office/powerpoint/2010/main" val="39311041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  <p:bldP spid="5" grpId="0" animBg="1"/>
      <p:bldP spid="6" grpId="0" animBg="1"/>
      <p:bldP spid="7" grpId="0" animBg="1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ipse 1">
            <a:extLst>
              <a:ext uri="{FF2B5EF4-FFF2-40B4-BE49-F238E27FC236}">
                <a16:creationId xmlns:a16="http://schemas.microsoft.com/office/drawing/2014/main" id="{8F9BA454-B60C-2BB8-AE8D-85D94278A17D}"/>
              </a:ext>
            </a:extLst>
          </p:cNvPr>
          <p:cNvSpPr/>
          <p:nvPr/>
        </p:nvSpPr>
        <p:spPr>
          <a:xfrm>
            <a:off x="7810500" y="2730500"/>
            <a:ext cx="6273800" cy="6273800"/>
          </a:xfrm>
          <a:prstGeom prst="ellipse">
            <a:avLst/>
          </a:prstGeom>
          <a:solidFill>
            <a:srgbClr val="46EB7E">
              <a:alpha val="6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FF062A9F-8F37-8D69-6ECA-AD44B67E20A4}"/>
              </a:ext>
            </a:extLst>
          </p:cNvPr>
          <p:cNvSpPr/>
          <p:nvPr/>
        </p:nvSpPr>
        <p:spPr>
          <a:xfrm>
            <a:off x="8801100" y="3721100"/>
            <a:ext cx="4292600" cy="4292600"/>
          </a:xfrm>
          <a:prstGeom prst="ellipse">
            <a:avLst/>
          </a:prstGeom>
          <a:solidFill>
            <a:srgbClr val="46EB7E">
              <a:alpha val="7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B3FB4E67-6C48-71D5-5020-63F4EB639B90}"/>
              </a:ext>
            </a:extLst>
          </p:cNvPr>
          <p:cNvSpPr/>
          <p:nvPr/>
        </p:nvSpPr>
        <p:spPr>
          <a:xfrm>
            <a:off x="9715500" y="4635500"/>
            <a:ext cx="2463800" cy="2463800"/>
          </a:xfrm>
          <a:prstGeom prst="ellipse">
            <a:avLst/>
          </a:prstGeom>
          <a:solidFill>
            <a:srgbClr val="46EB7E">
              <a:alpha val="8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7F869BA9-7B51-D30B-1874-1D384E0293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533400"/>
            <a:ext cx="1082566" cy="3048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211BE8AD-F7E3-402E-8D9A-1146FA74F778}"/>
              </a:ext>
            </a:extLst>
          </p:cNvPr>
          <p:cNvSpPr txBox="1"/>
          <p:nvPr/>
        </p:nvSpPr>
        <p:spPr>
          <a:xfrm>
            <a:off x="685800" y="20955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5500" b="1" spc="-160">
                <a:solidFill>
                  <a:srgbClr val="FFFFFF"/>
                </a:solidFill>
                <a:latin typeface="Urbanist" panose="020B0A04040200000203" pitchFamily="34" charset="0"/>
              </a:rPr>
              <a:t>Qual problema da sua empresa valeria a pena </a:t>
            </a:r>
            <a:r>
              <a:rPr lang="pt-BR" sz="5500" b="1" spc="-160">
                <a:solidFill>
                  <a:srgbClr val="46EB7E"/>
                </a:solidFill>
                <a:latin typeface="Urbanist" panose="020B0A04040200000203" pitchFamily="34" charset="0"/>
              </a:rPr>
              <a:t>resolver agora?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1491AD13-282D-D113-1363-1568C8EEE3AC}"/>
              </a:ext>
            </a:extLst>
          </p:cNvPr>
          <p:cNvSpPr/>
          <p:nvPr/>
        </p:nvSpPr>
        <p:spPr>
          <a:xfrm>
            <a:off x="685800" y="4572000"/>
            <a:ext cx="2946400" cy="482600"/>
          </a:xfrm>
          <a:prstGeom prst="roundRect">
            <a:avLst>
              <a:gd name="adj" fmla="val 50000"/>
            </a:avLst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lang="pt-BR" sz="1300">
                <a:solidFill>
                  <a:srgbClr val="0B0B0C"/>
                </a:solidFill>
                <a:latin typeface="Instrument Sans Medium" pitchFamily="2" charset="0"/>
              </a:rPr>
              <a:t>WhatsApp +55 11 94879-3233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8FB57FC7-B4E1-80F1-CEF0-351958F86289}"/>
              </a:ext>
            </a:extLst>
          </p:cNvPr>
          <p:cNvSpPr/>
          <p:nvPr/>
        </p:nvSpPr>
        <p:spPr>
          <a:xfrm>
            <a:off x="3784600" y="4572000"/>
            <a:ext cx="2184400" cy="482600"/>
          </a:xfrm>
          <a:prstGeom prst="roundRect">
            <a:avLst>
              <a:gd name="adj" fmla="val 50000"/>
            </a:avLst>
          </a:prstGeom>
          <a:solidFill>
            <a:srgbClr val="131316"/>
          </a:solidFill>
          <a:ln w="12700" cap="flat" cmpd="sng" algn="ctr">
            <a:solidFill>
              <a:srgbClr val="FFFFFF">
                <a:alpha val="2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>
            <a:noAutofit/>
          </a:bodyPr>
          <a:lstStyle/>
          <a:p>
            <a:pPr algn="ctr"/>
            <a:r>
              <a:rPr lang="pt-BR" sz="1300">
                <a:solidFill>
                  <a:srgbClr val="E8EAEC"/>
                </a:solidFill>
                <a:latin typeface="Instrument Sans Medium" pitchFamily="2" charset="0"/>
              </a:rPr>
              <a:t>www.dreamy.app.br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CE7BD5C-1B70-A56C-9085-CD3803434E9F}"/>
              </a:ext>
            </a:extLst>
          </p:cNvPr>
          <p:cNvSpPr txBox="1"/>
          <p:nvPr/>
        </p:nvSpPr>
        <p:spPr>
          <a:xfrm>
            <a:off x="685800" y="52578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00">
                <a:solidFill>
                  <a:srgbClr val="9BA1A6"/>
                </a:solidFill>
                <a:latin typeface="Instrument Sans Medium" pitchFamily="2" charset="0"/>
              </a:rPr>
              <a:t>Vamos falar sobre o seu negócio.</a:t>
            </a:r>
          </a:p>
        </p:txBody>
      </p: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9DF8E7B9-9954-76CD-8084-53A7333CBA06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C4287E5B-A7FB-ABD2-C9CF-AE97B035C97F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ipse 12">
            <a:extLst>
              <a:ext uri="{FF2B5EF4-FFF2-40B4-BE49-F238E27FC236}">
                <a16:creationId xmlns:a16="http://schemas.microsoft.com/office/drawing/2014/main" id="{0FCF0443-09AD-D3A2-ADAF-2C2CF5E6B5E6}"/>
              </a:ext>
            </a:extLst>
          </p:cNvPr>
          <p:cNvSpPr/>
          <p:nvPr/>
        </p:nvSpPr>
        <p:spPr>
          <a:xfrm>
            <a:off x="10782300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119DD2A-D14F-29CA-ED71-8124E5C4CA98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13 / 13</a:t>
            </a:r>
          </a:p>
        </p:txBody>
      </p:sp>
    </p:spTree>
    <p:extLst>
      <p:ext uri="{BB962C8B-B14F-4D97-AF65-F5344CB8AC3E}">
        <p14:creationId xmlns:p14="http://schemas.microsoft.com/office/powerpoint/2010/main" val="39610801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10" grpId="0"/>
    </p:bld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2278</Words>
  <Application>Microsoft Office PowerPoint</Application>
  <PresentationFormat>Personalizar</PresentationFormat>
  <Paragraphs>180</Paragraphs>
  <Slides>13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9" baseType="lpstr">
      <vt:lpstr>Aptos</vt:lpstr>
      <vt:lpstr>Instrument Sans Medium</vt:lpstr>
      <vt:lpstr>Urbanist</vt:lpstr>
      <vt:lpstr>Arial</vt:lpstr>
      <vt:lpstr>Aptos Display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Dreamy — Apresentação Institucional</dc:title>
  <dc:creator>Dreamy</dc:creator>
  <cp:lastModifiedBy>Luigi Choffe</cp:lastModifiedBy>
  <cp:revision>1</cp:revision>
  <dcterms:created xsi:type="dcterms:W3CDTF">2026-08-25T12:35:29Z</dcterms:created>
  <dcterms:modified xsi:type="dcterms:W3CDTF">2026-08-25T12:35:29Z</dcterms:modified>
</cp:coreProperties>
</file>